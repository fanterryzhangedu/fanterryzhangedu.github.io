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37" r:id="rId4"/>
  </p:sldMasterIdLst>
  <p:notesMasterIdLst>
    <p:notesMasterId r:id="rId19"/>
  </p:notesMasterIdLst>
  <p:handoutMasterIdLst>
    <p:handoutMasterId r:id="rId20"/>
  </p:handoutMasterIdLst>
  <p:sldIdLst>
    <p:sldId id="501" r:id="rId5"/>
    <p:sldId id="506" r:id="rId6"/>
    <p:sldId id="503" r:id="rId7"/>
    <p:sldId id="508" r:id="rId8"/>
    <p:sldId id="509" r:id="rId9"/>
    <p:sldId id="510" r:id="rId10"/>
    <p:sldId id="514" r:id="rId11"/>
    <p:sldId id="511" r:id="rId12"/>
    <p:sldId id="512" r:id="rId13"/>
    <p:sldId id="513" r:id="rId14"/>
    <p:sldId id="515" r:id="rId15"/>
    <p:sldId id="516" r:id="rId16"/>
    <p:sldId id="517" r:id="rId17"/>
    <p:sldId id="505" r:id="rId18"/>
  </p:sldIdLst>
  <p:sldSz cx="12192000" cy="6858000"/>
  <p:notesSz cx="10048875" cy="6918325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D8A"/>
    <a:srgbClr val="FFFFCC"/>
    <a:srgbClr val="FF9900"/>
    <a:srgbClr val="99FF33"/>
    <a:srgbClr val="CC99FF"/>
    <a:srgbClr val="66CC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61" autoAdjust="0"/>
    <p:restoredTop sz="85829" autoAdjust="0"/>
  </p:normalViewPr>
  <p:slideViewPr>
    <p:cSldViewPr>
      <p:cViewPr varScale="1">
        <p:scale>
          <a:sx n="80" d="100"/>
          <a:sy n="80" d="100"/>
        </p:scale>
        <p:origin x="51" y="27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r">
              <a:defRPr sz="1200"/>
            </a:lvl1pPr>
          </a:lstStyle>
          <a:p>
            <a:fld id="{9175845F-7813-4162-8E43-89DCBF023BA5}" type="datetimeFigureOut">
              <a:rPr lang="de-DE" smtClean="0"/>
              <a:pPr/>
              <a:t>20.06.2020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r">
              <a:defRPr sz="1200"/>
            </a:lvl1pPr>
          </a:lstStyle>
          <a:p>
            <a:fld id="{568AD7C4-ADB3-4393-A709-E94E9DB0B9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745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0AF34-6582-494F-851E-89D0463C3413}" type="datetimeFigureOut">
              <a:rPr lang="en-US"/>
              <a:pPr>
                <a:defRPr/>
              </a:pPr>
              <a:t>6/20/2020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9388" y="519113"/>
            <a:ext cx="4610100" cy="2593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66" tIns="46383" rIns="92766" bIns="4638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vert="horz" lIns="92766" tIns="46383" rIns="92766" bIns="4638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1248D3D-B91D-4C0E-B577-B2CAAE2D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14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7C6FC-8A19-4499-834F-1E1BE51A77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7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C567-A94D-4164-ABBC-DF9F7917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73677-284A-4902-A99A-AF6CC4F563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256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0B4BF-13EB-4E4F-B629-35762CF3D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7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07BC-228E-42BF-A52E-D08CB3AE54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3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6E9A5-BAD4-4951-9799-310F8FAA5D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0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734FF-AD61-4132-8FB0-3AF2030CD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1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35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3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F3A33-2478-4672-9A1A-FADE582157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7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3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FE437-9899-4527-9412-255D0DFA23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71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9F34-2E92-490B-B21A-F684C4A3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6D017-EA3A-496B-96E8-2375644DB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2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204BE-ACDD-4E90-AE72-F72AC347A1F4}"/>
              </a:ext>
            </a:extLst>
          </p:cNvPr>
          <p:cNvSpPr/>
          <p:nvPr userDrawn="1"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3B30D6-F55D-4265-91E1-D58A65D048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95641" y="5487615"/>
            <a:ext cx="1066800" cy="108785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E8FF-055F-484B-A051-15BE8829F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10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8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77" r:id="rId2"/>
    <p:sldLayoutId id="2147483939" r:id="rId3"/>
    <p:sldLayoutId id="2147483940" r:id="rId4"/>
    <p:sldLayoutId id="2147483941" r:id="rId5"/>
    <p:sldLayoutId id="2147483943" r:id="rId6"/>
    <p:sldLayoutId id="2147483944" r:id="rId7"/>
    <p:sldLayoutId id="2147483945" r:id="rId8"/>
    <p:sldLayoutId id="2147483946" r:id="rId9"/>
    <p:sldLayoutId id="2147483976" r:id="rId10"/>
  </p:sldLayoutIdLst>
  <p:hf sldNum="0"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wliu015@e.ntu.edu.s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38200" y="1341440"/>
            <a:ext cx="10668000" cy="1655763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Imperceptible Misclassification Attack on Deep</a:t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Learning Accelerator by Glitch Injection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04800" y="3602040"/>
            <a:ext cx="11734800" cy="1655763"/>
          </a:xfrm>
        </p:spPr>
        <p:txBody>
          <a:bodyPr>
            <a:normAutofit/>
          </a:bodyPr>
          <a:lstStyle/>
          <a:p>
            <a:r>
              <a:rPr lang="en-US" altLang="zh-SG" dirty="0" err="1"/>
              <a:t>Wenye</a:t>
            </a:r>
            <a:r>
              <a:rPr lang="en-US" altLang="zh-SG" dirty="0"/>
              <a:t> Liu</a:t>
            </a:r>
            <a:r>
              <a:rPr lang="en-US" altLang="zh-CN" baseline="30000" dirty="0"/>
              <a:t>1</a:t>
            </a:r>
            <a:r>
              <a:rPr lang="en-US" altLang="zh-SG" dirty="0"/>
              <a:t>, Chip-Hong Chang</a:t>
            </a:r>
            <a:r>
              <a:rPr lang="en-US" altLang="zh-CN" baseline="30000" dirty="0"/>
              <a:t>1</a:t>
            </a:r>
            <a:r>
              <a:rPr lang="en-US" altLang="zh-SG" dirty="0"/>
              <a:t>, Fan Zhang</a:t>
            </a:r>
            <a:r>
              <a:rPr lang="en-US" altLang="zh-CN" baseline="30000" dirty="0"/>
              <a:t>2</a:t>
            </a:r>
            <a:r>
              <a:rPr lang="en-US" altLang="zh-SG" dirty="0"/>
              <a:t> and </a:t>
            </a:r>
            <a:r>
              <a:rPr lang="en-US" altLang="zh-SG" dirty="0" err="1"/>
              <a:t>Xiaoxuan</a:t>
            </a:r>
            <a:r>
              <a:rPr lang="en-US" altLang="zh-SG" dirty="0"/>
              <a:t> Lou</a:t>
            </a:r>
            <a:r>
              <a:rPr lang="en-US" altLang="zh-CN" baseline="30000" dirty="0"/>
              <a:t>2</a:t>
            </a:r>
            <a:endParaRPr lang="en-US" altLang="zh-SG" baseline="30000" dirty="0"/>
          </a:p>
          <a:p>
            <a:r>
              <a:rPr lang="en-US" altLang="zh-CN" baseline="30000" dirty="0"/>
              <a:t>1</a:t>
            </a:r>
            <a:r>
              <a:rPr lang="en-US" dirty="0"/>
              <a:t>School of Electrical and Electronic Engineering, Nanyang Technological University, Singapore</a:t>
            </a:r>
          </a:p>
          <a:p>
            <a:r>
              <a:rPr lang="en-US" altLang="zh-CN" baseline="30000" dirty="0"/>
              <a:t>2</a:t>
            </a:r>
            <a:r>
              <a:rPr lang="en-US" altLang="zh-SG" dirty="0"/>
              <a:t>College of Computer Science and Technology, Zhejiang University, China</a:t>
            </a:r>
            <a:endParaRPr 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48689B-D155-4E83-819A-9222EBC16F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5" y="4038605"/>
            <a:ext cx="3713988" cy="3713988"/>
          </a:xfrm>
          <a:prstGeom prst="rect">
            <a:avLst/>
          </a:prstGeom>
        </p:spPr>
      </p:pic>
      <p:pic>
        <p:nvPicPr>
          <p:cNvPr id="3" name="图片 2" descr="图片包含 游戏机, 桌子&#10;&#10;描述已自动生成">
            <a:extLst>
              <a:ext uri="{FF2B5EF4-FFF2-40B4-BE49-F238E27FC236}">
                <a16:creationId xmlns:a16="http://schemas.microsoft.com/office/drawing/2014/main" id="{8FDE870D-1AB4-4352-B8E9-09EEBC2CC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4953001"/>
            <a:ext cx="229865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peaker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21CDA4-A03B-4CBF-9BA3-DFE0F17A611D}"/>
              </a:ext>
            </a:extLst>
          </p:cNvPr>
          <p:cNvSpPr/>
          <p:nvPr/>
        </p:nvSpPr>
        <p:spPr>
          <a:xfrm>
            <a:off x="914400" y="1566952"/>
            <a:ext cx="2057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SG" sz="2800" dirty="0" err="1">
                <a:latin typeface="Arial" panose="020B0604020202020204" pitchFamily="34" charset="0"/>
                <a:cs typeface="Arial" panose="020B0604020202020204" pitchFamily="34" charset="0"/>
              </a:rPr>
              <a:t>Wenye</a:t>
            </a:r>
            <a:r>
              <a:rPr lang="en-US" altLang="zh-SG" sz="2800" dirty="0">
                <a:latin typeface="Arial" panose="020B0604020202020204" pitchFamily="34" charset="0"/>
                <a:cs typeface="Arial" panose="020B0604020202020204" pitchFamily="34" charset="0"/>
              </a:rPr>
              <a:t> Liu</a:t>
            </a:r>
            <a:endParaRPr lang="zh-SG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 descr="穿黑色衣服的男人&#10;&#10;描述已自动生成">
            <a:extLst>
              <a:ext uri="{FF2B5EF4-FFF2-40B4-BE49-F238E27FC236}">
                <a16:creationId xmlns:a16="http://schemas.microsoft.com/office/drawing/2014/main" id="{9FABC0FA-E953-4C7D-B5E7-BE20F4FEBE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78" y="2318485"/>
            <a:ext cx="1587265" cy="22453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FB6F3ED-D224-486C-88F8-1C1E4EC59FE4}"/>
              </a:ext>
            </a:extLst>
          </p:cNvPr>
          <p:cNvSpPr txBox="1"/>
          <p:nvPr/>
        </p:nvSpPr>
        <p:spPr>
          <a:xfrm>
            <a:off x="2971800" y="2318485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zh-SG" sz="2400" dirty="0">
                <a:latin typeface="Arial" panose="020B0604020202020204" pitchFamily="34" charset="0"/>
                <a:cs typeface="Arial" panose="020B0604020202020204" pitchFamily="34" charset="0"/>
              </a:rPr>
              <a:t> currently pursuing a Ph.D. degree with the School of Electrical and Electronic Engineering, Nanyang Technological University, Singapore.</a:t>
            </a:r>
          </a:p>
          <a:p>
            <a:endParaRPr lang="en-US" altLang="zh-SG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SG" sz="2400" dirty="0">
                <a:latin typeface="Arial" panose="020B0604020202020204" pitchFamily="34" charset="0"/>
                <a:cs typeface="Arial" panose="020B0604020202020204" pitchFamily="34" charset="0"/>
              </a:rPr>
              <a:t>My research interests include machine learning accelerator,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hardware security, and </a:t>
            </a:r>
            <a:r>
              <a:rPr lang="en-US" altLang="zh-SG" sz="2400" dirty="0">
                <a:latin typeface="Arial" panose="020B0604020202020204" pitchFamily="34" charset="0"/>
                <a:cs typeface="Arial" panose="020B0604020202020204" pitchFamily="34" charset="0"/>
              </a:rPr>
              <a:t>fault </a:t>
            </a:r>
            <a:r>
              <a:rPr lang="en-US" altLang="zh-SG" sz="2400">
                <a:latin typeface="Arial" panose="020B0604020202020204" pitchFamily="34" charset="0"/>
                <a:cs typeface="Arial" panose="020B0604020202020204" pitchFamily="34" charset="0"/>
              </a:rPr>
              <a:t>injection attack.</a:t>
            </a:r>
            <a:endParaRPr lang="zh-SG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EB2C04-A7BD-46A3-A755-58F0438F791A}"/>
              </a:ext>
            </a:extLst>
          </p:cNvPr>
          <p:cNvSpPr txBox="1"/>
          <p:nvPr/>
        </p:nvSpPr>
        <p:spPr>
          <a:xfrm>
            <a:off x="2698516" y="1566952"/>
            <a:ext cx="393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2800" dirty="0"/>
              <a:t> </a:t>
            </a:r>
            <a:r>
              <a:rPr lang="en-US" altLang="zh-SG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wliu015@e.ntu.edu.sg</a:t>
            </a:r>
            <a:r>
              <a:rPr lang="en-US" altLang="zh-SG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SG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340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FF11B6A-6C62-4A44-AA74-45A335A93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043347"/>
            <a:ext cx="4419600" cy="3187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Edge Intelligence 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AIoT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064" y="198120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Deep learning algorithm on endpoint device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Unlock edge applications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Efficient hardware accelerator</a:t>
            </a:r>
          </a:p>
          <a:p>
            <a:endParaRPr lang="en-US" dirty="0"/>
          </a:p>
          <a:p>
            <a:r>
              <a:rPr lang="en-US" dirty="0"/>
              <a:t>Security and robustness considerations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xisting vulnerabilities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potential attack vectors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AB8A96-F8C3-4F64-B2EF-EE6D58DDD301}"/>
              </a:ext>
            </a:extLst>
          </p:cNvPr>
          <p:cNvSpPr txBox="1"/>
          <p:nvPr/>
        </p:nvSpPr>
        <p:spPr>
          <a:xfrm>
            <a:off x="7450944" y="5213685"/>
            <a:ext cx="394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Zhou et al. Proceedings of the IEEE 2019</a:t>
            </a:r>
            <a:endParaRPr lang="zh-SG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Existing Security flaws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92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 of adversarial examples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Add carefully crafted perturbations on original sample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Subvert correct prediction on well-trained classifier 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Restrictions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All the pixels should be shifted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Any pixel can be altered to </a:t>
            </a:r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arbitrary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value</a:t>
            </a:r>
          </a:p>
          <a:p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DDE3BA-B381-467A-A533-0D9EC455F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2080201"/>
            <a:ext cx="2892604" cy="29178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0731D31-EBAD-41F7-988B-DAAD9245CBFA}"/>
              </a:ext>
            </a:extLst>
          </p:cNvPr>
          <p:cNvSpPr txBox="1"/>
          <p:nvPr/>
        </p:nvSpPr>
        <p:spPr>
          <a:xfrm>
            <a:off x="9193408" y="4998031"/>
            <a:ext cx="2184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600" dirty="0" err="1"/>
              <a:t>Szegedy</a:t>
            </a:r>
            <a:r>
              <a:rPr lang="en-US" altLang="zh-SG" sz="1600" dirty="0"/>
              <a:t> et al. ICLR 2014</a:t>
            </a:r>
            <a:endParaRPr lang="zh-SG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3921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8F913DA-C12F-49B2-B098-805B872B3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060" y="1219200"/>
            <a:ext cx="2642691" cy="18533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9E80D8-9E99-4825-8351-D3C163769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3417639"/>
            <a:ext cx="3107521" cy="17496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Existing Security flaws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92"/>
            <a:ext cx="7656717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parameters interpolation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Saturating last layer’s bias (ICCAD’17)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Fault sneaking attack (DAC’19) 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Leave non-erasable traces in memory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fault attack on edge DNN device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Instruction skip faults by laser beam (CCS’18)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collision on dual-port RAM (FDTC’19)</a:t>
            </a:r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on MCU or small-scale problem</a:t>
            </a:r>
          </a:p>
          <a:p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731D31-EBAD-41F7-988B-DAAD9245CBFA}"/>
              </a:ext>
            </a:extLst>
          </p:cNvPr>
          <p:cNvSpPr txBox="1"/>
          <p:nvPr/>
        </p:nvSpPr>
        <p:spPr>
          <a:xfrm>
            <a:off x="9229200" y="3072592"/>
            <a:ext cx="1908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600" dirty="0"/>
              <a:t>Liu et al. ICCAD 2017</a:t>
            </a:r>
            <a:endParaRPr lang="zh-SG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8B843F-BAF2-4B34-BE90-066D5FDFDDE0}"/>
              </a:ext>
            </a:extLst>
          </p:cNvPr>
          <p:cNvSpPr txBox="1"/>
          <p:nvPr/>
        </p:nvSpPr>
        <p:spPr>
          <a:xfrm>
            <a:off x="9315332" y="5138093"/>
            <a:ext cx="200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600" dirty="0" err="1"/>
              <a:t>Alam</a:t>
            </a:r>
            <a:r>
              <a:rPr lang="en-US" altLang="zh-SG" sz="1600" dirty="0"/>
              <a:t> et al. FDTC 2019</a:t>
            </a:r>
            <a:endParaRPr lang="zh-SG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D356EA-2672-4F06-A47F-F530719EC224}"/>
              </a:ext>
            </a:extLst>
          </p:cNvPr>
          <p:cNvSpPr txBox="1"/>
          <p:nvPr/>
        </p:nvSpPr>
        <p:spPr>
          <a:xfrm>
            <a:off x="834705" y="5556080"/>
            <a:ext cx="8001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introduce a stealthy misclassification attack on DNN accelerator for ImageNet applications </a:t>
            </a:r>
            <a:endParaRPr lang="zh-SG" altLang="en-US" sz="2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07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 DNN Accelerator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9DD0C7-DD6B-4047-AAE5-EC7CD3146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543107"/>
            <a:ext cx="5257800" cy="383337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E8D2DF8-1B9C-400B-A9AE-33A4FA60FF2F}"/>
              </a:ext>
            </a:extLst>
          </p:cNvPr>
          <p:cNvSpPr txBox="1"/>
          <p:nvPr/>
        </p:nvSpPr>
        <p:spPr>
          <a:xfrm>
            <a:off x="1219200" y="2966829"/>
            <a:ext cx="21262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processor and peripherals</a:t>
            </a:r>
            <a:endParaRPr lang="zh-SG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DC58A9-5EEF-4BA7-83BC-A2976EA14292}"/>
              </a:ext>
            </a:extLst>
          </p:cNvPr>
          <p:cNvSpPr txBox="1"/>
          <p:nvPr/>
        </p:nvSpPr>
        <p:spPr>
          <a:xfrm>
            <a:off x="9201021" y="1905000"/>
            <a:ext cx="20003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parallel and energy-efficient PE array</a:t>
            </a:r>
            <a:endParaRPr lang="zh-SG" altLang="en-US" sz="22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17F0A9-B3F5-4C0A-BEDA-9953BEE9AA3C}"/>
              </a:ext>
            </a:extLst>
          </p:cNvPr>
          <p:cNvSpPr txBox="1"/>
          <p:nvPr/>
        </p:nvSpPr>
        <p:spPr>
          <a:xfrm>
            <a:off x="9208641" y="4038600"/>
            <a:ext cx="20003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On-chip buffer and controller</a:t>
            </a:r>
            <a:endParaRPr lang="zh-SG" altLang="en-US" sz="2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135D80-4A43-4A28-B12A-C425A72B7091}"/>
              </a:ext>
            </a:extLst>
          </p:cNvPr>
          <p:cNvSpPr txBox="1"/>
          <p:nvPr/>
        </p:nvSpPr>
        <p:spPr>
          <a:xfrm>
            <a:off x="1905000" y="5574013"/>
            <a:ext cx="769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 array has a separate clock/voltage domain from other modules, which become an exploitable source of vulnerability</a:t>
            </a:r>
          </a:p>
        </p:txBody>
      </p:sp>
    </p:spTree>
    <p:extLst>
      <p:ext uri="{BB962C8B-B14F-4D97-AF65-F5344CB8AC3E}">
        <p14:creationId xmlns:p14="http://schemas.microsoft.com/office/powerpoint/2010/main" val="179124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Threat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1399AB-B4AB-4D6B-872A-4353C21A7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932"/>
            <a:ext cx="9456420" cy="4351338"/>
          </a:xfrm>
        </p:spPr>
        <p:txBody>
          <a:bodyPr>
            <a:normAutofit/>
          </a:bodyPr>
          <a:lstStyle/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Delude a physically deployed deep learning accelerator without leaving trace for detection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Rule out invasive </a:t>
            </a:r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and tamper-evident probing attacks.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low-level implementation details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lack-box and gray-box penetrations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knowledge of DNN model</a:t>
            </a:r>
            <a:endParaRPr lang="en-US" altLang="zh-SG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Know model architecture and image</a:t>
            </a:r>
          </a:p>
        </p:txBody>
      </p:sp>
    </p:spTree>
    <p:extLst>
      <p:ext uri="{BB962C8B-B14F-4D97-AF65-F5344CB8AC3E}">
        <p14:creationId xmlns:p14="http://schemas.microsoft.com/office/powerpoint/2010/main" val="1207530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Imperceptible Misclassification Attack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C184D29-4CDF-427F-BD96-982D84778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3600" y="1592262"/>
                <a:ext cx="61569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Disturb clock signal of the PE array</a:t>
                </a:r>
              </a:p>
              <a:p>
                <a:pPr lvl="1"/>
                <a:r>
                  <a:rPr lang="en-US" altLang="zh-SG" dirty="0">
                    <a:latin typeface="Arial" panose="020B0604020202020204" pitchFamily="34" charset="0"/>
                    <a:cs typeface="Arial" panose="020B0604020202020204" pitchFamily="34" charset="0"/>
                  </a:rPr>
                  <a:t>Violate timing requirement in computation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Corrupt intermediate results  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Leave </a:t>
                </a:r>
                <a:r>
                  <a:rPr lang="en-US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trace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:r>
                  <a:rPr lang="en-US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faults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in the circuit</a:t>
                </a:r>
              </a:p>
              <a:p>
                <a:pPr lvl="1"/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Induce faults on DNN accelerator</a:t>
                </a:r>
              </a:p>
              <a:p>
                <a:pPr lvl="1"/>
                <a:r>
                  <a:rPr lang="en-US" altLang="zh-SG" dirty="0">
                    <a:latin typeface="Arial" panose="020B0604020202020204" pitchFamily="34" charset="0"/>
                    <a:cs typeface="Arial" panose="020B0604020202020204" pitchFamily="34" charset="0"/>
                  </a:rPr>
                  <a:t>Multiplex </a:t>
                </a:r>
                <a:r>
                  <a:rPr lang="en-US" altLang="zh-SG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clk_f_90 </a:t>
                </a:r>
                <a:r>
                  <a:rPr lang="en-US" altLang="zh-SG" dirty="0">
                    <a:latin typeface="Arial" panose="020B0604020202020204" pitchFamily="34" charset="0"/>
                    <a:cs typeface="Arial" panose="020B0604020202020204" pitchFamily="34" charset="0"/>
                  </a:rPr>
                  <a:t>into </a:t>
                </a:r>
                <a:r>
                  <a:rPr lang="en-US" altLang="zh-SG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clk_f</a:t>
                </a:r>
                <a:r>
                  <a:rPr lang="en-US" altLang="zh-SG" dirty="0">
                    <a:latin typeface="Arial" panose="020B0604020202020204" pitchFamily="34" charset="0"/>
                    <a:cs typeface="Arial" panose="020B0604020202020204" pitchFamily="34" charset="0"/>
                  </a:rPr>
                  <a:t> by </a:t>
                </a:r>
                <a:r>
                  <a:rPr lang="en-US" altLang="zh-SG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trigger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altLang="zh-SG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𝑔𝑙𝑖𝑡𝑐h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leads to erroneous data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SG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SG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SG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𝑡𝑟𝑖𝑔𝑔𝑒𝑟</m:t>
                        </m:r>
                      </m:sub>
                    </m:sSub>
                    <m:r>
                      <a:rPr lang="en-US" altLang="zh-SG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→#</m:t>
                    </m:r>
                    <m:r>
                      <a:rPr lang="en-US" altLang="zh-SG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𝐺𝑙𝑖𝑡𝑐h𝑒𝑠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C184D29-4CDF-427F-BD96-982D84778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3600" y="1592262"/>
                <a:ext cx="6156959" cy="4351338"/>
              </a:xfrm>
              <a:blipFill>
                <a:blip r:embed="rId2"/>
                <a:stretch>
                  <a:fillRect l="-1782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C4530-2C97-46F9-8BA2-BD469C747153}"/>
                  </a:ext>
                </a:extLst>
              </p:cNvPr>
              <p:cNvSpPr txBox="1"/>
              <p:nvPr/>
            </p:nvSpPr>
            <p:spPr>
              <a:xfrm>
                <a:off x="1031712" y="1781432"/>
                <a:ext cx="4800600" cy="3978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SG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</a:rPr>
                            <m:t>𝑐𝑙𝑘</m:t>
                          </m:r>
                        </m:sub>
                      </m:sSub>
                      <m:r>
                        <a:rPr lang="en-US" altLang="zh-SG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𝑝𝑐𝑞</m:t>
                          </m:r>
                        </m:sub>
                      </m:sSub>
                      <m:r>
                        <a:rPr lang="en-US" altLang="zh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𝑝𝑑</m:t>
                          </m:r>
                        </m:sub>
                      </m:sSub>
                      <m:r>
                        <a:rPr lang="en-US" altLang="zh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𝑠𝑒𝑡𝑢𝑝</m:t>
                          </m:r>
                        </m:sub>
                      </m:sSub>
                      <m:r>
                        <a:rPr lang="en-US" altLang="zh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SG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𝑠𝑘𝑒𝑤</m:t>
                          </m:r>
                        </m:sub>
                      </m:sSub>
                    </m:oMath>
                  </m:oMathPara>
                </a14:m>
                <a:endParaRPr lang="zh-SG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1C4530-2C97-46F9-8BA2-BD469C747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12" y="1781432"/>
                <a:ext cx="4800600" cy="397866"/>
              </a:xfrm>
              <a:prstGeom prst="rect">
                <a:avLst/>
              </a:prstGeom>
              <a:blipFill>
                <a:blip r:embed="rId3"/>
                <a:stretch>
                  <a:fillRect b="-26154"/>
                </a:stretch>
              </a:blipFill>
            </p:spPr>
            <p:txBody>
              <a:bodyPr/>
              <a:lstStyle/>
              <a:p>
                <a:r>
                  <a:rPr lang="zh-SG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1AFACEB-873F-479E-A8AE-38B5A759F3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590800"/>
            <a:ext cx="4940772" cy="313856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DF02FEC-18C9-4B7B-B69F-3B364C4767E8}"/>
              </a:ext>
            </a:extLst>
          </p:cNvPr>
          <p:cNvSpPr txBox="1"/>
          <p:nvPr/>
        </p:nvSpPr>
        <p:spPr>
          <a:xfrm>
            <a:off x="1031289" y="5799978"/>
            <a:ext cx="4706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200" dirty="0">
                <a:latin typeface="Arial" panose="020B0604020202020204" pitchFamily="34" charset="0"/>
                <a:cs typeface="Arial" panose="020B0604020202020204" pitchFamily="34" charset="0"/>
              </a:rPr>
              <a:t>Timing Diagrams of Glitch Injection into Deep Learning Accelerator</a:t>
            </a:r>
            <a:endParaRPr lang="zh-SG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164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Black Box and Gray Box Attack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184D29-4CDF-427F-BD96-982D8477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611" y="1690692"/>
            <a:ext cx="6156959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Black box setting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Directly apply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clk_mux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PE array 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Image and model 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attack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77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Gray box setting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Induce faults on internal layer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Minimize glitch injections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267A5E-317F-4737-A3D6-1AFDC9B06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4800600" cy="19392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2078FC-7259-4F99-A868-AF446A3E8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1" y="4045517"/>
            <a:ext cx="4952999" cy="19133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1551F71-EAD2-4D66-9B66-CDD37233F322}"/>
              </a:ext>
            </a:extLst>
          </p:cNvPr>
          <p:cNvSpPr txBox="1"/>
          <p:nvPr/>
        </p:nvSpPr>
        <p:spPr>
          <a:xfrm>
            <a:off x="1556904" y="3604110"/>
            <a:ext cx="36679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400" dirty="0">
                <a:latin typeface="Arial" panose="020B0604020202020204" pitchFamily="34" charset="0"/>
                <a:cs typeface="Arial" panose="020B0604020202020204" pitchFamily="34" charset="0"/>
              </a:rPr>
              <a:t>Evaluation platform on Xilinx ZCU102 board</a:t>
            </a:r>
            <a:endParaRPr lang="zh-SG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CCBDA5-55F3-4465-A23C-6B0C7606ABCC}"/>
              </a:ext>
            </a:extLst>
          </p:cNvPr>
          <p:cNvSpPr txBox="1"/>
          <p:nvPr/>
        </p:nvSpPr>
        <p:spPr>
          <a:xfrm>
            <a:off x="1701976" y="5902577"/>
            <a:ext cx="3377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400" dirty="0">
                <a:latin typeface="Arial" panose="020B0604020202020204" pitchFamily="34" charset="0"/>
                <a:cs typeface="Arial" panose="020B0604020202020204" pitchFamily="34" charset="0"/>
              </a:rPr>
              <a:t>Nine ImageNet models under evaluation</a:t>
            </a:r>
            <a:endParaRPr lang="zh-SG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505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of Black Box Attack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184D29-4CDF-427F-BD96-982D8477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0891" y="1748750"/>
            <a:ext cx="6156959" cy="3737649"/>
          </a:xfrm>
        </p:spPr>
        <p:txBody>
          <a:bodyPr>
            <a:normAutofit fontScale="92500" lnSpcReduction="10000"/>
          </a:bodyPr>
          <a:lstStyle/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ImageNet - entire validation set 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50000 images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A set of 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litch Intensity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0.01% - 10%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 98% misclassification on 8 models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40% on VGG16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clear distinctive relationship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BA92D3-E0EE-4CC7-859B-F3A8665DAF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92" y="1561782"/>
            <a:ext cx="5257799" cy="25488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4D6B7B-3054-4A69-8FF9-F486E64009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" y="4168649"/>
            <a:ext cx="5684520" cy="259702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A9CD9E4-1A78-4B59-A3F6-73AA477C3EF4}"/>
              </a:ext>
            </a:extLst>
          </p:cNvPr>
          <p:cNvSpPr txBox="1"/>
          <p:nvPr/>
        </p:nvSpPr>
        <p:spPr>
          <a:xfrm>
            <a:off x="914400" y="1352138"/>
            <a:ext cx="41295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600" dirty="0">
                <a:latin typeface="Arial" panose="020B0604020202020204" pitchFamily="34" charset="0"/>
                <a:cs typeface="Arial" panose="020B0604020202020204" pitchFamily="34" charset="0"/>
              </a:rPr>
              <a:t>Black-box Attack on Nine ImageNet Models</a:t>
            </a:r>
            <a:endParaRPr lang="zh-SG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2E8E4E-F683-47BB-A4E8-33CB9998CD23}"/>
              </a:ext>
            </a:extLst>
          </p:cNvPr>
          <p:cNvSpPr txBox="1"/>
          <p:nvPr/>
        </p:nvSpPr>
        <p:spPr>
          <a:xfrm>
            <a:off x="952500" y="4110590"/>
            <a:ext cx="487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1600" dirty="0">
                <a:latin typeface="Arial" panose="020B0604020202020204" pitchFamily="34" charset="0"/>
                <a:cs typeface="Arial" panose="020B0604020202020204" pitchFamily="34" charset="0"/>
              </a:rPr>
              <a:t>Vulnerability among Model Architectures</a:t>
            </a:r>
            <a:endParaRPr lang="zh-SG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3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of Gray Box Attack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C184D29-4CDF-427F-BD96-982D8477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29787"/>
            <a:ext cx="5562600" cy="1598763"/>
          </a:xfrm>
        </p:spPr>
        <p:txBody>
          <a:bodyPr>
            <a:normAutofit/>
          </a:bodyPr>
          <a:lstStyle/>
          <a:p>
            <a:r>
              <a:rPr lang="en-US" altLang="zh-SG" sz="2600" dirty="0">
                <a:latin typeface="Arial" panose="020B0604020202020204" pitchFamily="34" charset="0"/>
                <a:cs typeface="Arial" panose="020B0604020202020204" pitchFamily="34" charset="0"/>
              </a:rPr>
              <a:t>Glitch injection on selected layer</a:t>
            </a:r>
          </a:p>
          <a:p>
            <a:pPr lvl="1"/>
            <a:r>
              <a:rPr lang="en-US" altLang="zh-SG" sz="2200" dirty="0">
                <a:latin typeface="Arial" panose="020B0604020202020204" pitchFamily="34" charset="0"/>
                <a:cs typeface="Arial" panose="020B0604020202020204" pitchFamily="34" charset="0"/>
              </a:rPr>
              <a:t>IMG44 is highly vulnerable</a:t>
            </a:r>
          </a:p>
          <a:p>
            <a:pPr lvl="1"/>
            <a:r>
              <a:rPr lang="en-US" altLang="zh-SG" sz="2200" dirty="0">
                <a:latin typeface="Arial" panose="020B0604020202020204" pitchFamily="34" charset="0"/>
                <a:cs typeface="Arial" panose="020B0604020202020204" pitchFamily="34" charset="0"/>
              </a:rPr>
              <a:t>IMG154 can only be misclassified on 5 layers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2E8E4E-F683-47BB-A4E8-33CB9998CD23}"/>
              </a:ext>
            </a:extLst>
          </p:cNvPr>
          <p:cNvSpPr txBox="1"/>
          <p:nvPr/>
        </p:nvSpPr>
        <p:spPr>
          <a:xfrm>
            <a:off x="1676400" y="1447800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Effective Attack Pattern on ResNet50 of IMG44 and IMG154</a:t>
            </a:r>
            <a:endParaRPr lang="zh-SG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094674-ACFB-4A20-B19C-7D373E66CE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6400"/>
            <a:ext cx="8458200" cy="3050072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EDEBB32-2B94-4D48-9794-1C87CF3FA3C0}"/>
              </a:ext>
            </a:extLst>
          </p:cNvPr>
          <p:cNvSpPr txBox="1">
            <a:spLocks/>
          </p:cNvSpPr>
          <p:nvPr/>
        </p:nvSpPr>
        <p:spPr>
          <a:xfrm>
            <a:off x="6172200" y="4573436"/>
            <a:ext cx="5791200" cy="1598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SG" sz="2600" dirty="0">
                <a:latin typeface="Arial" panose="020B0604020202020204" pitchFamily="34" charset="0"/>
                <a:cs typeface="Arial" panose="020B0604020202020204" pitchFamily="34" charset="0"/>
              </a:rPr>
              <a:t>Misclassify 256 images</a:t>
            </a:r>
          </a:p>
          <a:p>
            <a:pPr lvl="1"/>
            <a:r>
              <a:rPr lang="en-US" altLang="zh-SG" sz="2200" dirty="0">
                <a:latin typeface="Arial" panose="020B0604020202020204" pitchFamily="34" charset="0"/>
                <a:cs typeface="Arial" panose="020B0604020202020204" pitchFamily="34" charset="0"/>
              </a:rPr>
              <a:t>by glitch injection into one layer</a:t>
            </a:r>
          </a:p>
          <a:p>
            <a:pPr lvl="1"/>
            <a:r>
              <a:rPr lang="en-US" altLang="zh-SG" sz="2200" dirty="0">
                <a:latin typeface="Arial" panose="020B0604020202020204" pitchFamily="34" charset="0"/>
                <a:cs typeface="Arial" panose="020B0604020202020204" pitchFamily="34" charset="0"/>
              </a:rPr>
              <a:t>&lt; 1.7% actual glitch intensity</a:t>
            </a:r>
          </a:p>
          <a:p>
            <a:pPr marL="457177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679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Potential Countermeasures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DA9F04-EDA0-462A-BB03-48850445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932"/>
            <a:ext cx="9456420" cy="4351338"/>
          </a:xfrm>
        </p:spPr>
        <p:txBody>
          <a:bodyPr>
            <a:normAutofit/>
          </a:bodyPr>
          <a:lstStyle/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Improve the robustness of DNN models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Defensive quantization (ICLR’19)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 one single</a:t>
            </a:r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 domain of the accelerator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Reduce energy efficiency</a:t>
            </a:r>
            <a:endParaRPr lang="en-US" altLang="zh-SG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Double DSP usage and 33.7% overhead of LUTs</a:t>
            </a:r>
          </a:p>
        </p:txBody>
      </p:sp>
    </p:spTree>
    <p:extLst>
      <p:ext uri="{BB962C8B-B14F-4D97-AF65-F5344CB8AC3E}">
        <p14:creationId xmlns:p14="http://schemas.microsoft.com/office/powerpoint/2010/main" val="2556552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4DA9F04-EDA0-462A-BB03-488504450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932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Inconspicuous attack on dedicated deep learning accelerator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Perturb clock signal to the PE array infrequently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Leave no sign after the attack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Demonstrate the attack on FPGA platform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&gt; 98% misclassification on 8 models in black box attack</a:t>
            </a:r>
          </a:p>
          <a:p>
            <a:pPr lvl="1"/>
            <a:r>
              <a:rPr lang="en-US" altLang="zh-SG" dirty="0">
                <a:latin typeface="Arial" panose="020B0604020202020204" pitchFamily="34" charset="0"/>
                <a:cs typeface="Arial" panose="020B0604020202020204" pitchFamily="34" charset="0"/>
              </a:rPr>
              <a:t>5.9x less glitch intensity to fool the classifier in gray box attack</a:t>
            </a:r>
          </a:p>
        </p:txBody>
      </p:sp>
    </p:spTree>
    <p:extLst>
      <p:ext uri="{BB962C8B-B14F-4D97-AF65-F5344CB8AC3E}">
        <p14:creationId xmlns:p14="http://schemas.microsoft.com/office/powerpoint/2010/main" val="3989929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AC2020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C529A4D857314092F8987294A43FD3" ma:contentTypeVersion="0" ma:contentTypeDescription="Create a new document." ma:contentTypeScope="" ma:versionID="b3a40a446e339e50bd650e277a113f3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71F2A1-2ACF-4A95-B48F-47B38B713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A855BF4-2A99-441B-9566-850307E4F0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1CAD78-C6F6-407D-A9D5-329355F0770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629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DAC2020</vt:lpstr>
      <vt:lpstr>Imperceptible Misclassification Attack on Deep Learning Accelerator by Glitch Injection</vt:lpstr>
      <vt:lpstr>Speaker</vt:lpstr>
      <vt:lpstr>Edge Intelligence - AIoT</vt:lpstr>
      <vt:lpstr>Existing Security flaws (1)</vt:lpstr>
      <vt:lpstr>Existing Security flaws (2)</vt:lpstr>
      <vt:lpstr>General DNN Accelerator</vt:lpstr>
      <vt:lpstr>Threat Model</vt:lpstr>
      <vt:lpstr>Imperceptible Misclassification Attack</vt:lpstr>
      <vt:lpstr>Black Box and Gray Box Attack</vt:lpstr>
      <vt:lpstr>Results of Black Box Attack</vt:lpstr>
      <vt:lpstr>Results of Gray Box Attack</vt:lpstr>
      <vt:lpstr>Potential Countermeasures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2011-11-23T07:37:04Z</dcterms:created>
  <dcterms:modified xsi:type="dcterms:W3CDTF">2020-06-20T13:47:28Z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0x0101004AC529A4D857314092F8987294A43FD3</vt:lpwstr>
  </property>
</Properties>
</file>