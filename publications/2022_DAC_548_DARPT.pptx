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6" r:id="rId3"/>
    <p:sldId id="506" r:id="rId4"/>
    <p:sldId id="277" r:id="rId5"/>
    <p:sldId id="258" r:id="rId6"/>
    <p:sldId id="276" r:id="rId7"/>
    <p:sldId id="259" r:id="rId8"/>
    <p:sldId id="261" r:id="rId9"/>
    <p:sldId id="262" r:id="rId10"/>
    <p:sldId id="279" r:id="rId11"/>
    <p:sldId id="507" r:id="rId12"/>
    <p:sldId id="263" r:id="rId13"/>
    <p:sldId id="275" r:id="rId14"/>
    <p:sldId id="272" r:id="rId15"/>
    <p:sldId id="267" r:id="rId16"/>
    <p:sldId id="271" r:id="rId17"/>
    <p:sldId id="268" r:id="rId18"/>
    <p:sldId id="269" r:id="rId19"/>
    <p:sldId id="270" r:id="rId20"/>
    <p:sldId id="278" r:id="rId2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72816" autoAdjust="0"/>
  </p:normalViewPr>
  <p:slideViewPr>
    <p:cSldViewPr snapToGrid="0" snapToObjects="1">
      <p:cViewPr varScale="1">
        <p:scale>
          <a:sx n="74" d="100"/>
          <a:sy n="74" d="100"/>
        </p:scale>
        <p:origin x="12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9DF87-3368-4EDC-A8DE-B4AA4D469A2C}" type="datetimeFigureOut">
              <a:rPr lang="zh-CN" altLang="en-US" smtClean="0"/>
              <a:t>2022/6/4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F3997-021D-401E-8D88-F1EAEA7F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51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858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887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311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79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68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770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473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015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751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704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791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And In our evaluation</a:t>
                </a:r>
                <a:r>
                  <a:rPr lang="en-US" altLang="zh-CN" baseline="0" dirty="0" smtClean="0"/>
                  <a:t> part, TVLA and CPA is used for the evaluation of SCA.</a:t>
                </a:r>
              </a:p>
              <a:p>
                <a:endParaRPr lang="en-US" altLang="zh-CN" baseline="0" dirty="0" smtClean="0"/>
              </a:p>
              <a:p>
                <a:r>
                  <a:rPr lang="en-US" altLang="zh-CN" dirty="0" smtClean="0"/>
                  <a:t>Testers utilize Welsh T-tests to detect any possible leakage. The result of this assessment is </a:t>
                </a:r>
                <a:r>
                  <a:rPr lang="zh-CN" altLang="en-US" dirty="0" smtClean="0"/>
                  <a:t>𝑇 </a:t>
                </a:r>
                <a:r>
                  <a:rPr lang="en-US" altLang="zh-CN" dirty="0" smtClean="0"/>
                  <a:t>value, which is computed as follows.</a:t>
                </a:r>
              </a:p>
              <a:p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/>
                  <a:t>Where </a:t>
                </a:r>
                <a:r>
                  <a:rPr lang="en-US" altLang="zh-CN" b="0" i="0" dirty="0" smtClean="0">
                    <a:latin typeface="Cambria Math" panose="02040503050406030204" pitchFamily="18" charset="0"/>
                  </a:rPr>
                  <a:t>𝑋_𝐴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,</a:t>
                </a:r>
                <a:r>
                  <a:rPr lang="en-US" altLang="zh-CN" b="0" i="0" dirty="0" smtClean="0">
                    <a:latin typeface="Cambria Math" panose="02040503050406030204" pitchFamily="18" charset="0"/>
                  </a:rPr>
                  <a:t> 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𝑆_𝐴</a:t>
                </a:r>
                <a:r>
                  <a:rPr lang="en-US" altLang="zh-CN" dirty="0"/>
                  <a:t>, and</a:t>
                </a:r>
                <a:r>
                  <a:rPr lang="en-US" altLang="zh-CN" b="0" i="0" dirty="0" smtClean="0">
                    <a:latin typeface="Cambria Math" panose="02040503050406030204" pitchFamily="18" charset="0"/>
                  </a:rPr>
                  <a:t>𝑁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𝐴</a:t>
                </a:r>
                <a:r>
                  <a:rPr lang="en-US" altLang="zh-CN" dirty="0"/>
                  <a:t> are the mean, standard deviation, and cardinality of group A, respectively. Group A is a set of stationary plaintexts, while group B is a set of varying plaintexts. </a:t>
                </a:r>
                <a:endParaRPr lang="zh-CN" altLang="en-US" dirty="0"/>
              </a:p>
              <a:p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/>
                  <a:t>The test fails if the </a:t>
                </a:r>
                <a:r>
                  <a:rPr lang="zh-CN" altLang="en-US" i="1" dirty="0" smtClean="0"/>
                  <a:t>𝑇 </a:t>
                </a:r>
                <a:r>
                  <a:rPr lang="en-US" altLang="zh-CN" dirty="0" smtClean="0"/>
                  <a:t>value crosses the threshold of[-4.5, 4.5] which shows the algorithm\system is possibly vulnerable to SCA. In our work, we also follow this standard. </a:t>
                </a:r>
                <a:endParaRPr lang="zh-CN" altLang="en-US" dirty="0" smtClean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312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>
                    <a:latin typeface="+mn-lt"/>
                  </a:rPr>
                  <a:t>It is necessary to establish a correlation model between the medium values and the instantaneous power consumption. The Pearson’s Correlation Coefficient is considered an effective way for measuring the relevance.</a:t>
                </a:r>
                <a:endParaRPr lang="zh-CN" altLang="en-US" dirty="0" smtClean="0">
                  <a:latin typeface="+mn-lt"/>
                </a:endParaRPr>
              </a:p>
              <a:p>
                <a:endParaRPr lang="en-US" altLang="zh-CN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 smtClean="0">
                    <a:latin typeface="+mn-lt"/>
                  </a:rPr>
                  <a:t>Where 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and </a:t>
                </a:r>
                <a:r>
                  <a:rPr lang="zh-CN" altLang="en-US" dirty="0">
                    <a:latin typeface="+mn-lt"/>
                  </a:rPr>
                  <a:t>𝑌 </a:t>
                </a:r>
                <a:r>
                  <a:rPr lang="en-US" altLang="zh-CN" dirty="0">
                    <a:latin typeface="+mn-lt"/>
                  </a:rPr>
                  <a:t>are the medium values and instant value of the power consumption, respectively. </a:t>
                </a:r>
                <a:r>
                  <a:rPr lang="zh-CN" altLang="en-US" dirty="0">
                    <a:latin typeface="+mn-lt"/>
                  </a:rPr>
                  <a:t>𝐸</a:t>
                </a:r>
                <a:r>
                  <a:rPr lang="en-US" altLang="zh-CN" dirty="0">
                    <a:latin typeface="+mn-lt"/>
                  </a:rPr>
                  <a:t>[(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− 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𝜇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CN" b="0" i="0" dirty="0" smtClean="0">
                    <a:latin typeface="Cambria Math" panose="02040503050406030204" pitchFamily="18" charset="0"/>
                  </a:rPr>
                  <a:t>𝑋</a:t>
                </a:r>
                <a:r>
                  <a:rPr lang="zh-CN" altLang="en-US" dirty="0">
                    <a:latin typeface="+mn-lt"/>
                  </a:rPr>
                  <a:t> </a:t>
                </a:r>
                <a:r>
                  <a:rPr lang="en-US" altLang="zh-CN" dirty="0">
                    <a:latin typeface="+mn-lt"/>
                  </a:rPr>
                  <a:t>) (</a:t>
                </a:r>
                <a:r>
                  <a:rPr lang="zh-CN" altLang="en-US" dirty="0">
                    <a:latin typeface="+mn-lt"/>
                  </a:rPr>
                  <a:t>𝑌 </a:t>
                </a:r>
                <a:r>
                  <a:rPr lang="en-US" altLang="zh-CN" dirty="0">
                    <a:latin typeface="+mn-lt"/>
                  </a:rPr>
                  <a:t>− 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𝜇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b="0" i="0" dirty="0" smtClean="0">
                    <a:latin typeface="Cambria Math" panose="02040503050406030204" pitchFamily="18" charset="0"/>
                  </a:rPr>
                  <a:t>𝑌</a:t>
                </a:r>
                <a:r>
                  <a:rPr lang="zh-CN" altLang="en-US" dirty="0">
                    <a:latin typeface="+mn-lt"/>
                  </a:rPr>
                  <a:t> </a:t>
                </a:r>
                <a:r>
                  <a:rPr lang="en-US" altLang="zh-CN" dirty="0">
                    <a:latin typeface="+mn-lt"/>
                  </a:rPr>
                  <a:t>)] is the covariance of 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and </a:t>
                </a:r>
                <a:r>
                  <a:rPr lang="zh-CN" altLang="en-US" dirty="0">
                    <a:latin typeface="+mn-lt"/>
                  </a:rPr>
                  <a:t>𝑌</a:t>
                </a:r>
                <a:r>
                  <a:rPr lang="en-US" altLang="zh-CN" dirty="0">
                    <a:latin typeface="+mn-lt"/>
                  </a:rPr>
                  <a:t>, and the denominator is composed of the standard deviation of 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and </a:t>
                </a:r>
                <a:r>
                  <a:rPr lang="zh-CN" altLang="en-US" dirty="0">
                    <a:latin typeface="+mn-lt"/>
                  </a:rPr>
                  <a:t>𝑌</a:t>
                </a:r>
                <a:r>
                  <a:rPr lang="en-US" altLang="zh-CN" dirty="0">
                    <a:latin typeface="+mn-lt"/>
                  </a:rPr>
                  <a:t>.</a:t>
                </a:r>
                <a:endParaRPr lang="zh-CN" altLang="en-US" dirty="0">
                  <a:latin typeface="+mn-lt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776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727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634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977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442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369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347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F3997-021D-401E-8D88-F1EAEA7F981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404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em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19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FE39-1A48-6549-9FA4-F63646706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015" y="2159317"/>
            <a:ext cx="11519731" cy="177260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B0F4C-3D05-D646-96CC-CA05FC019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47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764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3217-91CE-0946-808C-7D572F44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4D3F-2137-7640-ADED-FBA9B39E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30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06BE-4DD0-664B-A108-953F09E9E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E5F4-A58F-BE43-8C59-144872461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3823" y="1825625"/>
            <a:ext cx="5865977" cy="40111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E8D21-6498-5546-A2F1-CB9CE6B7B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60278" cy="40111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45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88B4DC3-784B-354A-B3BC-8754F0B38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988" y="365125"/>
            <a:ext cx="11879262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E5F84BB-B478-4148-81B3-29E1A26CC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3988" y="1825625"/>
            <a:ext cx="11879262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457200" indent="-4572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A7D1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A9A9A9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A7D100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hyperlink" Target="mailto:htshen@zju.edu.c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n.zju.edu.cn/en/fanzha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7"/>
    </mc:Choice>
    <mc:Fallback xmlns="">
      <p:transition spd="slow" advTm="436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35FBF93-2676-4C42-82C7-32312DC7BF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550" y="1742198"/>
            <a:ext cx="11518900" cy="859854"/>
          </a:xfrm>
        </p:spPr>
        <p:txBody>
          <a:bodyPr/>
          <a:lstStyle/>
          <a:p>
            <a:pPr algn="l"/>
            <a:r>
              <a:rPr lang="en-US" altLang="zh-CN" sz="2800" b="1" dirty="0"/>
              <a:t>DARPT: Defense Against Remote Physical Attack </a:t>
            </a:r>
            <a:br>
              <a:rPr lang="en-US" altLang="zh-CN" sz="2800" b="1" dirty="0"/>
            </a:br>
            <a:r>
              <a:rPr lang="en-US" altLang="zh-CN" sz="2800" b="1" dirty="0"/>
              <a:t>Based on TDC in Multi-tenant Scenario</a:t>
            </a:r>
            <a:endParaRPr lang="en-US" altLang="en-US" sz="2800" dirty="0"/>
          </a:p>
        </p:txBody>
      </p:sp>
      <p:sp>
        <p:nvSpPr>
          <p:cNvPr id="7171" name="Subtitle 2">
            <a:extLst>
              <a:ext uri="{FF2B5EF4-FFF2-40B4-BE49-F238E27FC236}">
                <a16:creationId xmlns:a16="http://schemas.microsoft.com/office/drawing/2014/main" id="{16EBA736-24DD-4D4B-B679-1D6956582E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71924" y="2671070"/>
            <a:ext cx="9546268" cy="2760466"/>
          </a:xfrm>
        </p:spPr>
        <p:txBody>
          <a:bodyPr/>
          <a:lstStyle/>
          <a:p>
            <a:pPr algn="l"/>
            <a:r>
              <a:rPr lang="en-US" altLang="zh-CN" sz="1800" b="1" dirty="0"/>
              <a:t>Fan Zhang</a:t>
            </a:r>
            <a:r>
              <a:rPr lang="en-US" altLang="zh-CN" sz="1800" baseline="30000" dirty="0"/>
              <a:t>1,2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Zhiyong</a:t>
            </a:r>
            <a:r>
              <a:rPr lang="en-US" altLang="zh-CN" sz="1800" dirty="0"/>
              <a:t> Wang</a:t>
            </a:r>
            <a:r>
              <a:rPr lang="en-US" altLang="zh-CN" sz="1800" baseline="30000" dirty="0"/>
              <a:t>1,2,3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Haoting</a:t>
            </a:r>
            <a:r>
              <a:rPr lang="en-US" altLang="zh-CN" sz="1800" dirty="0"/>
              <a:t> Shen</a:t>
            </a:r>
            <a:r>
              <a:rPr lang="en-US" altLang="zh-CN" sz="1800" baseline="30000" dirty="0"/>
              <a:t>1,</a:t>
            </a:r>
            <a:r>
              <a:rPr lang="en-US" altLang="zh-CN" sz="1800" dirty="0"/>
              <a:t>*, Bolin Yang</a:t>
            </a:r>
            <a:r>
              <a:rPr lang="en-US" altLang="zh-CN" sz="1800" baseline="30000" dirty="0"/>
              <a:t>1,2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Qianmei</a:t>
            </a:r>
            <a:r>
              <a:rPr lang="en-US" altLang="zh-CN" sz="1800" dirty="0"/>
              <a:t> Wu</a:t>
            </a:r>
            <a:r>
              <a:rPr lang="en-US" altLang="zh-CN" sz="1800" baseline="30000" dirty="0"/>
              <a:t>1</a:t>
            </a:r>
            <a:r>
              <a:rPr lang="en-US" altLang="zh-CN" sz="1800" dirty="0"/>
              <a:t> and </a:t>
            </a:r>
            <a:r>
              <a:rPr lang="en-US" altLang="zh-CN" sz="1800" dirty="0" err="1"/>
              <a:t>Kui</a:t>
            </a:r>
            <a:r>
              <a:rPr lang="en-US" altLang="zh-CN" sz="1800" dirty="0"/>
              <a:t> Ren</a:t>
            </a:r>
            <a:r>
              <a:rPr lang="en-US" altLang="zh-CN" sz="1800" baseline="30000" dirty="0"/>
              <a:t>1</a:t>
            </a:r>
          </a:p>
          <a:p>
            <a:pPr algn="l"/>
            <a:endParaRPr lang="en-US" altLang="zh-CN" sz="1800" baseline="30000" dirty="0"/>
          </a:p>
          <a:p>
            <a:pPr algn="l"/>
            <a:r>
              <a:rPr lang="en-US" altLang="zh-CN" sz="1200" baseline="30000" dirty="0"/>
              <a:t>1 </a:t>
            </a:r>
            <a:r>
              <a:rPr lang="en-US" altLang="zh-CN" sz="1200" dirty="0"/>
              <a:t>School of Cyber Science and Technology, College of Computer Science and Technology, Zhejiang University</a:t>
            </a:r>
          </a:p>
          <a:p>
            <a:pPr algn="l"/>
            <a:r>
              <a:rPr lang="en-US" altLang="zh-CN" sz="1200" baseline="30000" dirty="0"/>
              <a:t>2 </a:t>
            </a:r>
            <a:r>
              <a:rPr lang="en-US" altLang="zh-CN" sz="1200" dirty="0"/>
              <a:t>Alibaba-Zhejiang University Joint Research Institute of Frontier Technologies</a:t>
            </a:r>
            <a:endParaRPr lang="en-US" altLang="zh-CN" sz="1200" i="1" dirty="0"/>
          </a:p>
          <a:p>
            <a:pPr algn="l"/>
            <a:r>
              <a:rPr lang="en-US" altLang="zh-CN" sz="1200" baseline="30000" dirty="0"/>
              <a:t>3</a:t>
            </a:r>
            <a:r>
              <a:rPr lang="en-US" altLang="zh-CN" sz="1200" dirty="0"/>
              <a:t> Key Laboratory of Blockchain and Cyberspace Governance of Zhejiang Province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200" dirty="0"/>
              <a:t>* Corresponding authors: </a:t>
            </a:r>
            <a:r>
              <a:rPr lang="en-US" altLang="zh-CN" sz="1200" dirty="0" err="1"/>
              <a:t>Haoting</a:t>
            </a:r>
            <a:r>
              <a:rPr lang="en-US" altLang="zh-CN" sz="1200" dirty="0"/>
              <a:t> Shen (</a:t>
            </a:r>
            <a:r>
              <a:rPr lang="fr-FR" altLang="zh-CN" sz="1200" dirty="0"/>
              <a:t>Email: </a:t>
            </a:r>
            <a:r>
              <a:rPr lang="fr-FR" altLang="zh-CN" sz="1200" dirty="0">
                <a:hlinkClick r:id="rId4"/>
              </a:rPr>
              <a:t>htshen@zju.edu.cn</a:t>
            </a:r>
            <a:r>
              <a:rPr lang="en-US" altLang="zh-CN" sz="1200" dirty="0"/>
              <a:t>)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dirty="0"/>
              <a:t>This work is partly supported by Alibaba-Zhejiang University Joint Institute of Frontier Technologies.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97D5A2-E934-41BF-BE79-6C5CA39C01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731" r="12693"/>
          <a:stretch/>
        </p:blipFill>
        <p:spPr>
          <a:xfrm>
            <a:off x="10093705" y="1516913"/>
            <a:ext cx="1810513" cy="16281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464" y="1250148"/>
            <a:ext cx="6925056" cy="47460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Fan (Terry) Zhang</a:t>
            </a:r>
          </a:p>
          <a:p>
            <a:pPr marL="0" indent="0">
              <a:buNone/>
            </a:pPr>
            <a:r>
              <a:rPr lang="en-US" altLang="zh-CN" dirty="0"/>
              <a:t>Professor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School of </a:t>
            </a:r>
            <a:r>
              <a:rPr lang="en-US" altLang="zh-CN" dirty="0" err="1"/>
              <a:t>Cyberscience</a:t>
            </a:r>
            <a:r>
              <a:rPr lang="en-US" altLang="zh-CN" dirty="0"/>
              <a:t> and Technology</a:t>
            </a:r>
          </a:p>
          <a:p>
            <a:pPr marL="0" indent="0">
              <a:buNone/>
            </a:pPr>
            <a:r>
              <a:rPr lang="en-US" altLang="zh-CN" dirty="0"/>
              <a:t>College of Computer Science and Technology</a:t>
            </a:r>
          </a:p>
          <a:p>
            <a:pPr marL="0" indent="0">
              <a:buNone/>
            </a:pPr>
            <a:r>
              <a:rPr lang="en-US" altLang="zh-CN" dirty="0"/>
              <a:t>Zhejiang University, China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Research:</a:t>
            </a:r>
          </a:p>
          <a:p>
            <a:pPr lvl="1"/>
            <a:r>
              <a:rPr lang="en-US" altLang="zh-CN" dirty="0"/>
              <a:t>Hardware Security</a:t>
            </a:r>
          </a:p>
          <a:p>
            <a:pPr lvl="1"/>
            <a:r>
              <a:rPr lang="en-US" altLang="zh-CN" dirty="0"/>
              <a:t>AI Security</a:t>
            </a:r>
          </a:p>
          <a:p>
            <a:pPr lvl="1"/>
            <a:r>
              <a:rPr lang="en-US" altLang="zh-CN" dirty="0"/>
              <a:t>Network Security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sz="2400" dirty="0">
                <a:hlinkClick r:id="rId3"/>
              </a:rPr>
              <a:t>https://person.zju.edu.cn/en/fanzhang</a:t>
            </a:r>
            <a:endParaRPr lang="en-US" altLang="zh-CN" sz="2400" dirty="0"/>
          </a:p>
        </p:txBody>
      </p:sp>
      <p:pic>
        <p:nvPicPr>
          <p:cNvPr id="1026" name="Picture 2" descr="http://www.zjuisee.zju.edu.cn/fanzhang/images/zf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450731"/>
            <a:ext cx="2518596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88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9"/>
    </mc:Choice>
    <mc:Fallback xmlns="">
      <p:transition spd="slow" advTm="7669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5294702-387F-470A-B918-54205A9A7975}"/>
              </a:ext>
            </a:extLst>
          </p:cNvPr>
          <p:cNvSpPr/>
          <p:nvPr/>
        </p:nvSpPr>
        <p:spPr>
          <a:xfrm>
            <a:off x="1414528" y="1645831"/>
            <a:ext cx="2272277" cy="14742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4" name="Title 1">
            <a:extLst>
              <a:ext uri="{FF2B5EF4-FFF2-40B4-BE49-F238E27FC236}">
                <a16:creationId xmlns:a16="http://schemas.microsoft.com/office/drawing/2014/main" id="{41450BFB-48E0-274C-BCB0-A36EF354D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8024563" cy="397645"/>
          </a:xfrm>
        </p:spPr>
        <p:txBody>
          <a:bodyPr/>
          <a:lstStyle/>
          <a:p>
            <a:r>
              <a:rPr lang="en-US" altLang="en-US" sz="2800" dirty="0"/>
              <a:t>Background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489DBB-BD0C-4384-BF81-27F3B5454095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8DDFD40-AE64-4CD6-9DD2-7872CB681CD3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D8FFE8B-2507-47A1-963A-7010FD043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Introduction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3E9DFE4-DB81-41C9-9ABA-CC36D1D7A615}"/>
              </a:ext>
            </a:extLst>
          </p:cNvPr>
          <p:cNvSpPr/>
          <p:nvPr/>
        </p:nvSpPr>
        <p:spPr>
          <a:xfrm>
            <a:off x="817847" y="3373699"/>
            <a:ext cx="10314842" cy="624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Timeline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3C7ADC4-F0D6-4613-B7B5-5529B03F76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28" r="5029"/>
          <a:stretch/>
        </p:blipFill>
        <p:spPr>
          <a:xfrm>
            <a:off x="1511759" y="1758821"/>
            <a:ext cx="2077814" cy="129671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62A05C8-CB93-4760-8C56-698C41F38B12}"/>
              </a:ext>
            </a:extLst>
          </p:cNvPr>
          <p:cNvSpPr txBox="1"/>
          <p:nvPr/>
        </p:nvSpPr>
        <p:spPr>
          <a:xfrm>
            <a:off x="1511761" y="3133773"/>
            <a:ext cx="2077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1960-</a:t>
            </a:r>
            <a:r>
              <a:rPr lang="en-US" altLang="zh-CN" sz="1600" i="1" dirty="0"/>
              <a:t>First MOSFET </a:t>
            </a:r>
            <a:endParaRPr lang="zh-CN" altLang="en-US" sz="16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0A5090F-2347-449C-8F35-0BE5AD7DF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771" y="4496533"/>
            <a:ext cx="2638832" cy="85827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D6C0D53-6636-4AF8-9B32-849E4F8F8531}"/>
              </a:ext>
            </a:extLst>
          </p:cNvPr>
          <p:cNvSpPr txBox="1"/>
          <p:nvPr/>
        </p:nvSpPr>
        <p:spPr>
          <a:xfrm>
            <a:off x="1321208" y="4032827"/>
            <a:ext cx="2982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1985-</a:t>
            </a:r>
            <a:r>
              <a:rPr lang="en-US" altLang="zh-CN" sz="1600" i="1" dirty="0"/>
              <a:t>First Commercial</a:t>
            </a:r>
            <a:r>
              <a:rPr lang="en-US" altLang="zh-CN" sz="1600" dirty="0"/>
              <a:t> </a:t>
            </a:r>
            <a:r>
              <a:rPr lang="en-US" altLang="zh-CN" sz="1600" i="1" dirty="0"/>
              <a:t>FPGA 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A10C90-6656-406E-BB54-D0CE4A203B8E}"/>
              </a:ext>
            </a:extLst>
          </p:cNvPr>
          <p:cNvSpPr/>
          <p:nvPr/>
        </p:nvSpPr>
        <p:spPr>
          <a:xfrm>
            <a:off x="885498" y="5597184"/>
            <a:ext cx="414806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Using 2μm process, including 64 logic modules and 85000 transistors, the number of gates does not exceed 1000</a:t>
            </a:r>
            <a:endParaRPr lang="zh-CN" altLang="en-US" sz="14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8F46A2-F445-49EC-B90B-A10841FDFBAF}"/>
              </a:ext>
            </a:extLst>
          </p:cNvPr>
          <p:cNvSpPr/>
          <p:nvPr/>
        </p:nvSpPr>
        <p:spPr>
          <a:xfrm>
            <a:off x="1174362" y="4413098"/>
            <a:ext cx="3197469" cy="10408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A08019-EBAE-478F-9E04-074AF8052A77}"/>
              </a:ext>
            </a:extLst>
          </p:cNvPr>
          <p:cNvSpPr/>
          <p:nvPr/>
        </p:nvSpPr>
        <p:spPr>
          <a:xfrm>
            <a:off x="6117668" y="3188323"/>
            <a:ext cx="25285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2000s</a:t>
            </a:r>
            <a:r>
              <a:rPr lang="en-US" altLang="zh-CN" sz="1600" i="1" dirty="0"/>
              <a:t>-More Companies</a:t>
            </a:r>
            <a:endParaRPr lang="zh-CN" altLang="en-US" sz="1600" i="1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B3B2E04-13AD-41CC-B39C-171A42E80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230" y="1569273"/>
            <a:ext cx="2679637" cy="151159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E05CC883-B3F6-4333-BB05-C6A53A85D020}"/>
              </a:ext>
            </a:extLst>
          </p:cNvPr>
          <p:cNvSpPr/>
          <p:nvPr/>
        </p:nvSpPr>
        <p:spPr>
          <a:xfrm>
            <a:off x="5900230" y="3946624"/>
            <a:ext cx="2852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2010s</a:t>
            </a:r>
            <a:r>
              <a:rPr lang="en-US" altLang="zh-CN" sz="1600" i="1" dirty="0"/>
              <a:t>-Cloud FPGA Service</a:t>
            </a:r>
            <a:endParaRPr lang="zh-CN" altLang="en-US" sz="1600" i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0849CFE-BE5F-403A-8D7B-4E934605A7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230" y="4333681"/>
            <a:ext cx="3025123" cy="1370606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47E0D1B-52D1-44C6-B502-FD12B2BD99BE}"/>
              </a:ext>
            </a:extLst>
          </p:cNvPr>
          <p:cNvSpPr/>
          <p:nvPr/>
        </p:nvSpPr>
        <p:spPr>
          <a:xfrm>
            <a:off x="454993" y="1026197"/>
            <a:ext cx="49027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MOSFETs (metal–oxide–semiconductor field-effect transistor) are one of the most basic elements in an FPGA.</a:t>
            </a:r>
            <a:endParaRPr lang="zh-CN" altLang="en-US" sz="1400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D7B9B48-3E4B-441D-BD4A-EE367F4B4E34}"/>
              </a:ext>
            </a:extLst>
          </p:cNvPr>
          <p:cNvSpPr/>
          <p:nvPr/>
        </p:nvSpPr>
        <p:spPr>
          <a:xfrm>
            <a:off x="5786481" y="1552753"/>
            <a:ext cx="2943361" cy="15866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B3AEFA2-F460-4194-87C3-00DC0765B5F8}"/>
              </a:ext>
            </a:extLst>
          </p:cNvPr>
          <p:cNvSpPr/>
          <p:nvPr/>
        </p:nvSpPr>
        <p:spPr>
          <a:xfrm>
            <a:off x="5607702" y="4325164"/>
            <a:ext cx="3403823" cy="13791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2C911E-7514-4FB3-BF0B-7472557BC2D0}"/>
              </a:ext>
            </a:extLst>
          </p:cNvPr>
          <p:cNvSpPr/>
          <p:nvPr/>
        </p:nvSpPr>
        <p:spPr>
          <a:xfrm>
            <a:off x="5342062" y="5822235"/>
            <a:ext cx="401630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More Services are provided, FPGA-as-a-Service(</a:t>
            </a:r>
            <a:r>
              <a:rPr lang="en-US" altLang="zh-CN" sz="1400" dirty="0" err="1"/>
              <a:t>FaaS</a:t>
            </a:r>
            <a:r>
              <a:rPr lang="en-US" altLang="zh-CN" sz="1400" dirty="0"/>
              <a:t>), Accelerator-as-a-service(</a:t>
            </a:r>
            <a:r>
              <a:rPr lang="en-US" altLang="zh-CN" sz="1400" dirty="0" err="1"/>
              <a:t>AaaS</a:t>
            </a:r>
            <a:r>
              <a:rPr lang="en-US" altLang="zh-CN" sz="1400" dirty="0"/>
              <a:t>) and Machine Learning-as-a-service(</a:t>
            </a:r>
            <a:r>
              <a:rPr lang="en-US" altLang="zh-CN" sz="1400" dirty="0" err="1"/>
              <a:t>MLaaS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3" name="矩形 2"/>
          <p:cNvSpPr/>
          <p:nvPr/>
        </p:nvSpPr>
        <p:spPr>
          <a:xfrm>
            <a:off x="5342062" y="666159"/>
            <a:ext cx="45049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FPGA users are no longer just implementing logic; they need to make FPGA designs conform to system standards. FPGA becomes a system.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042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41450BFB-48E0-274C-BCB0-A36EF354D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8024563" cy="397645"/>
          </a:xfrm>
        </p:spPr>
        <p:txBody>
          <a:bodyPr/>
          <a:lstStyle/>
          <a:p>
            <a:r>
              <a:rPr lang="en-US" altLang="en-US" sz="2800" dirty="0"/>
              <a:t>Security Problems in Cloud FPGAs (remote SCA)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489DBB-BD0C-4384-BF81-27F3B5454095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8DDFD40-AE64-4CD6-9DD2-7872CB681CD3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D8FFE8B-2507-47A1-963A-7010FD043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Introduction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69" y="1419206"/>
            <a:ext cx="5467631" cy="23432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773" y="1419206"/>
            <a:ext cx="4190839" cy="212966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76646" y="3867963"/>
            <a:ext cx="5190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Moini</a:t>
            </a:r>
            <a:r>
              <a:rPr lang="en-US" altLang="zh-CN" sz="1600" dirty="0"/>
              <a:t> </a:t>
            </a:r>
            <a:r>
              <a:rPr lang="en-US" altLang="zh-CN" sz="1600" i="1" dirty="0"/>
              <a:t>et al.</a:t>
            </a:r>
            <a:r>
              <a:rPr lang="zh-CN" altLang="en-US" sz="1600" i="1" dirty="0"/>
              <a:t> </a:t>
            </a:r>
            <a:r>
              <a:rPr lang="en-US" altLang="zh-CN" sz="1600" dirty="0"/>
              <a:t>use TDC as a remote sensor to perform remote SCA and the input of the BNN accelerator is recovered successfully. [2]</a:t>
            </a:r>
            <a:endParaRPr lang="zh-CN" alt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51869" y="3886748"/>
            <a:ext cx="5190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Schellenberg</a:t>
            </a:r>
            <a:r>
              <a:rPr lang="en-US" altLang="zh-CN" sz="1600" dirty="0"/>
              <a:t> </a:t>
            </a:r>
            <a:r>
              <a:rPr lang="en-US" altLang="zh-CN" sz="1600" i="1" dirty="0"/>
              <a:t>et al.</a:t>
            </a:r>
            <a:r>
              <a:rPr lang="zh-CN" altLang="en-US" sz="1600" i="1" dirty="0"/>
              <a:t> </a:t>
            </a:r>
            <a:r>
              <a:rPr lang="en-US" altLang="zh-CN" sz="1600" dirty="0"/>
              <a:t>launched remote SCA based on the on-board sensor, and the key is recovered less than 20k traces. [1]</a:t>
            </a:r>
            <a:endParaRPr lang="zh-CN" altLang="en-US" sz="1600" dirty="0"/>
          </a:p>
        </p:txBody>
      </p:sp>
      <p:sp>
        <p:nvSpPr>
          <p:cNvPr id="14" name="矩形 13"/>
          <p:cNvSpPr/>
          <p:nvPr/>
        </p:nvSpPr>
        <p:spPr>
          <a:xfrm>
            <a:off x="360485" y="5218333"/>
            <a:ext cx="114069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[1] </a:t>
            </a:r>
            <a:r>
              <a:rPr lang="en-US" altLang="zh-CN" sz="1200" dirty="0" err="1"/>
              <a:t>Schellenberg</a:t>
            </a:r>
            <a:r>
              <a:rPr lang="en-US" altLang="zh-CN" sz="1200" dirty="0"/>
              <a:t> et al. 2018. An inside job: Remote power analysis attacks on FPGAs. In </a:t>
            </a:r>
            <a:r>
              <a:rPr lang="en-US" altLang="zh-CN" sz="1200" i="1" dirty="0"/>
              <a:t>2018 Design, Automation &amp; Test in Europe Conference &amp; Exhibition (DATE). </a:t>
            </a:r>
            <a:r>
              <a:rPr lang="en-US" altLang="zh-CN" sz="1200" dirty="0"/>
              <a:t>[2] </a:t>
            </a:r>
            <a:r>
              <a:rPr lang="en-US" altLang="zh-CN" sz="1200" dirty="0" err="1"/>
              <a:t>Moini</a:t>
            </a:r>
            <a:r>
              <a:rPr lang="en-US" altLang="zh-CN" sz="1200" dirty="0"/>
              <a:t> et al. 2021. Remote power side-channel attacks on BNN accelerators in FPGAs. In </a:t>
            </a:r>
            <a:r>
              <a:rPr lang="en-US" altLang="zh-CN" sz="1200" i="1" dirty="0"/>
              <a:t>Design, Automation &amp; Test in Europe (DATE).</a:t>
            </a:r>
            <a:endParaRPr lang="zh-CN" altLang="en-US" sz="1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41450BFB-48E0-274C-BCB0-A36EF354D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8865811" cy="397645"/>
          </a:xfrm>
        </p:spPr>
        <p:txBody>
          <a:bodyPr/>
          <a:lstStyle/>
          <a:p>
            <a:r>
              <a:rPr lang="en-US" altLang="en-US" sz="2800" dirty="0"/>
              <a:t>Security Problems in Cloud FPGAs (remote FA)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489DBB-BD0C-4384-BF81-27F3B5454095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8DDFD40-AE64-4CD6-9DD2-7872CB681CD3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D8FFE8B-2507-47A1-963A-7010FD043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Introduction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18719" y="4359669"/>
            <a:ext cx="5190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Luo </a:t>
            </a:r>
            <a:r>
              <a:rPr lang="en-US" altLang="zh-CN" sz="1600" i="1" dirty="0"/>
              <a:t>et al. </a:t>
            </a:r>
            <a:r>
              <a:rPr lang="en-US" altLang="zh-CN" sz="1600" dirty="0"/>
              <a:t>utilize the RO-PUF structure to launch remote fault attacks against the running DNN accelerator. [4]</a:t>
            </a:r>
            <a:endParaRPr lang="zh-CN" altLang="en-US" sz="1600" i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19" y="1109971"/>
            <a:ext cx="4703193" cy="314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85" y="1113294"/>
            <a:ext cx="5559025" cy="313475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08166" y="4359669"/>
            <a:ext cx="6174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In the condition of multi-tenant, the attacker is enable to injection precise failure to perform Differential Fault Analysis (DFA). [3]</a:t>
            </a:r>
            <a:endParaRPr lang="zh-CN" altLang="en-US" sz="1600" i="1" dirty="0"/>
          </a:p>
        </p:txBody>
      </p:sp>
      <p:sp>
        <p:nvSpPr>
          <p:cNvPr id="12" name="矩形 11"/>
          <p:cNvSpPr/>
          <p:nvPr/>
        </p:nvSpPr>
        <p:spPr>
          <a:xfrm>
            <a:off x="360485" y="5190666"/>
            <a:ext cx="114069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[3] </a:t>
            </a:r>
            <a:r>
              <a:rPr lang="en-US" altLang="zh-CN" sz="1200" dirty="0" err="1"/>
              <a:t>Krautter</a:t>
            </a:r>
            <a:r>
              <a:rPr lang="en-US" altLang="zh-CN" sz="1200" dirty="0"/>
              <a:t> et al. 2018. </a:t>
            </a:r>
            <a:r>
              <a:rPr lang="en-US" altLang="zh-CN" sz="1200" dirty="0" err="1"/>
              <a:t>FPGAhammer</a:t>
            </a:r>
            <a:r>
              <a:rPr lang="en-US" altLang="zh-CN" sz="1200" dirty="0"/>
              <a:t>: Remote voltage fault attacks on shared FPGAs, suitable for DFA on AES. </a:t>
            </a:r>
            <a:r>
              <a:rPr lang="en-US" altLang="zh-CN" sz="1200" i="1" dirty="0"/>
              <a:t>IACR TCHES</a:t>
            </a:r>
            <a:r>
              <a:rPr lang="en-US" altLang="zh-CN" sz="1200" dirty="0"/>
              <a:t> (2018). </a:t>
            </a:r>
          </a:p>
          <a:p>
            <a:r>
              <a:rPr lang="en-US" altLang="zh-CN" sz="1200" dirty="0"/>
              <a:t>[4] Luo et al. 2021. </a:t>
            </a:r>
            <a:r>
              <a:rPr lang="en-US" altLang="zh-CN" sz="1200" dirty="0" err="1"/>
              <a:t>DeepStrike</a:t>
            </a:r>
            <a:r>
              <a:rPr lang="en-US" altLang="zh-CN" sz="1200" dirty="0"/>
              <a:t>: Remotely-Guided Fault Injection Attacks on DNN </a:t>
            </a:r>
            <a:r>
              <a:rPr lang="sv-SE" altLang="zh-CN" sz="1200" dirty="0"/>
              <a:t>Accelerator in Cloud-FPGA. </a:t>
            </a:r>
            <a:r>
              <a:rPr lang="sv-SE" altLang="zh-CN" sz="1200" i="1" dirty="0"/>
              <a:t>arXiv preprint arXiv:2105.09453 </a:t>
            </a:r>
            <a:r>
              <a:rPr lang="sv-SE" altLang="zh-CN" sz="1200" dirty="0"/>
              <a:t>(2021).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4972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2C731-83BF-435F-8CBD-E45C71807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5859"/>
            <a:ext cx="5860278" cy="4011153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A4EFE3-6A9B-4146-9E11-B4B64BA07334}"/>
              </a:ext>
            </a:extLst>
          </p:cNvPr>
          <p:cNvSpPr txBox="1"/>
          <p:nvPr/>
        </p:nvSpPr>
        <p:spPr>
          <a:xfrm>
            <a:off x="7209348" y="4602009"/>
            <a:ext cx="204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Yuan Yao</a:t>
            </a:r>
            <a:r>
              <a:rPr lang="zh-CN" altLang="en-US" dirty="0"/>
              <a:t> </a:t>
            </a:r>
            <a:r>
              <a:rPr lang="en-US" altLang="zh-CN" i="1" dirty="0"/>
              <a:t>et al. </a:t>
            </a:r>
            <a:r>
              <a:rPr lang="en-US" altLang="zh-CN" dirty="0"/>
              <a:t>[6]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38A455-FE1B-47B5-98E2-93F0B8A2FDDF}"/>
              </a:ext>
            </a:extLst>
          </p:cNvPr>
          <p:cNvSpPr txBox="1"/>
          <p:nvPr/>
        </p:nvSpPr>
        <p:spPr>
          <a:xfrm>
            <a:off x="1773727" y="465953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Ravi </a:t>
            </a:r>
            <a:r>
              <a:rPr lang="en-US" altLang="zh-CN" i="1" dirty="0"/>
              <a:t>et al. </a:t>
            </a:r>
            <a:r>
              <a:rPr lang="en-US" altLang="zh-CN" dirty="0"/>
              <a:t>[5]</a:t>
            </a:r>
            <a:endParaRPr lang="zh-CN" altLang="en-US" dirty="0"/>
          </a:p>
        </p:txBody>
      </p:sp>
      <p:sp>
        <p:nvSpPr>
          <p:cNvPr id="18" name="内容占位符 17">
            <a:extLst>
              <a:ext uri="{FF2B5EF4-FFF2-40B4-BE49-F238E27FC236}">
                <a16:creationId xmlns:a16="http://schemas.microsoft.com/office/drawing/2014/main" id="{47E0B122-4B78-44CA-8B5E-320B3DAE8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3823" y="1295859"/>
            <a:ext cx="5865977" cy="2571741"/>
          </a:xfrm>
        </p:spPr>
        <p:txBody>
          <a:bodyPr/>
          <a:lstStyle/>
          <a:p>
            <a:r>
              <a:rPr lang="en-US" altLang="zh-CN" dirty="0"/>
              <a:t>PLL-based Protection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24" name="内容占位符 10">
            <a:extLst>
              <a:ext uri="{FF2B5EF4-FFF2-40B4-BE49-F238E27FC236}">
                <a16:creationId xmlns:a16="http://schemas.microsoft.com/office/drawing/2014/main" id="{971C7AED-CB3C-4490-BC68-FBEE05439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04605" y="1695384"/>
            <a:ext cx="4069433" cy="293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内容占位符 17">
            <a:extLst>
              <a:ext uri="{FF2B5EF4-FFF2-40B4-BE49-F238E27FC236}">
                <a16:creationId xmlns:a16="http://schemas.microsoft.com/office/drawing/2014/main" id="{4D778404-91C9-47BB-ACC1-132C03774F4D}"/>
              </a:ext>
            </a:extLst>
          </p:cNvPr>
          <p:cNvSpPr txBox="1">
            <a:spLocks/>
          </p:cNvSpPr>
          <p:nvPr/>
        </p:nvSpPr>
        <p:spPr bwMode="auto">
          <a:xfrm>
            <a:off x="5850491" y="1292685"/>
            <a:ext cx="5177173" cy="245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9A9A9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RO-based Protection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FD5BDC4-7F9A-4D7B-ACF0-96185DF50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380" y="1857650"/>
            <a:ext cx="5309018" cy="2609422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505BED1C-622A-4210-A698-335FE0779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931" y="1942512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800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EB438DB-D136-4559-957F-DDBDE7325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6216161" cy="397645"/>
          </a:xfrm>
        </p:spPr>
        <p:txBody>
          <a:bodyPr/>
          <a:lstStyle/>
          <a:p>
            <a:r>
              <a:rPr lang="en-US" altLang="en-US" sz="2800" dirty="0"/>
              <a:t>The State of Art Hardware Solutions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4AEA06-FBDF-4935-BA2B-44AF3D68E7C4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8A5B904-4C4A-4786-8E59-5F22818ED923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7C2D197B-5013-4429-A3E7-32595919F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Introduction</a:t>
            </a:r>
          </a:p>
        </p:txBody>
      </p:sp>
      <p:sp>
        <p:nvSpPr>
          <p:cNvPr id="2" name="矩形 1"/>
          <p:cNvSpPr/>
          <p:nvPr/>
        </p:nvSpPr>
        <p:spPr>
          <a:xfrm>
            <a:off x="360485" y="5337205"/>
            <a:ext cx="118051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[5] Ravi </a:t>
            </a:r>
            <a:r>
              <a:rPr lang="en-US" altLang="zh-CN" sz="1200" i="1" dirty="0"/>
              <a:t>et al. </a:t>
            </a:r>
            <a:r>
              <a:rPr lang="en-US" altLang="zh-CN" sz="1200" dirty="0"/>
              <a:t>2018. </a:t>
            </a:r>
            <a:r>
              <a:rPr lang="en-US" altLang="zh-CN" sz="1200" dirty="0" err="1"/>
              <a:t>Ppap</a:t>
            </a:r>
            <a:r>
              <a:rPr lang="en-US" altLang="zh-CN" sz="1200" dirty="0"/>
              <a:t> and </a:t>
            </a:r>
            <a:r>
              <a:rPr lang="en-US" altLang="zh-CN" sz="1200" dirty="0" err="1"/>
              <a:t>ippap</a:t>
            </a:r>
            <a:r>
              <a:rPr lang="en-US" altLang="zh-CN" sz="1200" dirty="0"/>
              <a:t>: PLL-based protection against physical attacks. In </a:t>
            </a:r>
            <a:r>
              <a:rPr lang="en-US" altLang="zh-CN" sz="1200" i="1" dirty="0"/>
              <a:t>2018 IEEE Computer Society Annual Symposium on VLSI (ISVLSI)</a:t>
            </a:r>
            <a:r>
              <a:rPr lang="en-US" altLang="zh-CN" sz="1200" dirty="0"/>
              <a:t>. IEEE, 620–625.</a:t>
            </a:r>
          </a:p>
          <a:p>
            <a:r>
              <a:rPr lang="en-US" altLang="zh-CN" sz="1200" dirty="0"/>
              <a:t>[6] Yao </a:t>
            </a:r>
            <a:r>
              <a:rPr lang="en-US" altLang="zh-CN" sz="1200" i="1" dirty="0"/>
              <a:t>et al</a:t>
            </a:r>
            <a:r>
              <a:rPr lang="en-US" altLang="zh-CN" sz="1200" dirty="0"/>
              <a:t>. 2021. Programmable RO (PRO): A Multipurpose Countermeasure against Side-channel and Fault Injection Attack. </a:t>
            </a:r>
            <a:r>
              <a:rPr lang="en-US" altLang="zh-CN" sz="1200" i="1" dirty="0" err="1"/>
              <a:t>arXiv</a:t>
            </a:r>
            <a:r>
              <a:rPr lang="en-US" altLang="zh-CN" sz="1200" i="1" dirty="0"/>
              <a:t> preprint arXiv:2106.13784</a:t>
            </a:r>
            <a:r>
              <a:rPr lang="en-US" altLang="zh-CN" sz="1200" dirty="0"/>
              <a:t> (2021).</a:t>
            </a:r>
          </a:p>
          <a:p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392" y="3165447"/>
            <a:ext cx="11879262" cy="1630728"/>
          </a:xfrm>
        </p:spPr>
        <p:txBody>
          <a:bodyPr/>
          <a:lstStyle/>
          <a:p>
            <a:r>
              <a:rPr lang="en-US" altLang="en-US" dirty="0"/>
              <a:t>RO structure is forbidden in the Cloud conditions.</a:t>
            </a:r>
          </a:p>
          <a:p>
            <a:r>
              <a:rPr lang="en-US" altLang="en-US" dirty="0"/>
              <a:t>The structure of [5,6] cost extra resources. Low overhead solution is expected.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1FE1859-5F97-4620-B271-962303AA3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8746939" cy="397645"/>
          </a:xfrm>
        </p:spPr>
        <p:txBody>
          <a:bodyPr/>
          <a:lstStyle/>
          <a:p>
            <a:r>
              <a:rPr lang="en-US" altLang="en-US" sz="2800" dirty="0"/>
              <a:t>Some </a:t>
            </a:r>
            <a:r>
              <a:rPr lang="en-US" altLang="zh-CN" sz="2800" dirty="0"/>
              <a:t>U</a:t>
            </a:r>
            <a:r>
              <a:rPr lang="en-US" altLang="en-US" sz="2800" dirty="0"/>
              <a:t>nsolved </a:t>
            </a:r>
            <a:r>
              <a:rPr lang="en-US" altLang="zh-CN" sz="2800" dirty="0"/>
              <a:t>P</a:t>
            </a:r>
            <a:r>
              <a:rPr lang="en-US" altLang="en-US" sz="2800" dirty="0"/>
              <a:t>roblems in Hardware Defense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C42E3-EC9E-40CD-8CCA-6FABD8E767C4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1DE64FA-CE80-49AE-A76F-8A81555ACECA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45630B2D-9653-4BFA-B007-57719BD3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Introduction</a:t>
            </a:r>
          </a:p>
        </p:txBody>
      </p:sp>
      <p:sp>
        <p:nvSpPr>
          <p:cNvPr id="2" name="AutoShape 2" descr="data:image/png;base64,iVBORw0KGgoAAAANSUhEUgAAAHcAAABHCAMAAAAKnSgVAAAArlBMVEX///8lLz7/mQD/lwD/kwD/lQAgKzv/kQAaJjcjLT0SIDIAFCpscHgAACEAFywAECiXmp8ACiULHC/b3N719fbh4uPR0tQAAB27vcDu7u+xs7fCw8apq690eIDo6OlBSFT/rVb/8uf/+/b/7t7/yZiDho0AABldYmswOUZLUVyfoqePkpc6QU7/0KT/qEX/sV7/tWv/w4v/5Mv/nij/1K//vHsAAA3/iQD/3cD/ojUk4j6CAAAHiElEQVRoge1XWYOivBIVISSAgAQX3JeWpl3b9Y7+/z92U0mABO3u6fnaeZp60hDq1HqqqNV0aY07Sb/fH8S92s9Iqz0YrlbD5DOFnXVmRGFAKfWiYJLGxYNeE6Sj3x7A2bClHw7hcFDeaRiRR12Xej6dpBUFuW7Xc23HyMUmUTbOtXVd9u5rrN5PXtmZGzY0JaMILrryX7wMiaowNO6RVxEtr0ghVN7rhPDXTdUXMgJnjqM53OWvSVuGvl1RaHc108HbMEe1meT3HE/ee4On9lJ9IxBXQtUFYZ+X8D/NSCqxCSFSJ11VcMeecNB3J8vlxPapuGcbMn7cuVCpjdgz7jU1XTgKeAgGvohZZGSNUSObeJHrGO4DXBLQbBiLsI2Hb1yF4fX5/wFHCcuCqQ2pzIWa4CVYSzL+2+AB9LI8sq3O2vGiZhX31WsMtJMRV5zH9pVjKAluEJkLWp71+FnATU24pYGOk4zaFdzafX9x4w0qajqDP45RPt3YUArs0C9VDcLyDZ4Ze1JV+hsyCJTY9gM9wWMGYWdgGu0Xb6RuiSVCnta+Ly2eYVdEauxBuoIkfwhhJOmKXSGj4g2OJUtnYpcvf1MmqsnC/gIjJWAF9I3zVhjKu7c7Vu5nf4LLmSGHarpavt6Y2iDmPEHzBPNSsjfij6i74CE1fiG8NPI+iXnNhJI5W6/AB8KrIvgQA8Ndiz+iIBxvcKf2e7g1zrSBLCKoOXiydpXigRgU/NWSvBJmv4U8HiT9ZCDYQ8dN1aiviWAq6Jy8xdvQ8HaR7VUoicWzR19AJyO7GwZB4EVdO0uThobbAbp1iPgD8fUZE/Ug677gOB5ZpXMymrM8CYNR8uH8Td6UqeXYbkA0Hmw58PCVJ7gH85LmBsgW5+FRqTTzjEKIRz4IeONualX4l+sVLAH9Ix5A9GUpbTh7qSqb1FU1RZMH1S2j4hAaRn4UUpfYFdwkKBIMTUU5JyQ0766xb1SmBItL6oekdMeOquNITgGDGmnSabfjTtJscNpQNPXKuoHOFoXbgw7mg48PqDCpKh6km8gtoP0KcMznjRGt1e0hJboHnIJCYAkPCkAUCmSas4OowkfV02m+dfPKedUHklhaKlMLmlPF5R5BB8d+2T08wU1hy8e82E6JSLV+o8fNqU6tdcXfcVcmGAxQeQmU8f2DDj/AZe0wEouRq0ZE7m2V6TGq4PJBAewIIc0bBsrJMVoiGNFnW7dgbG0fE2TqVYqCN4aKywPfbfMVpttSbjEKgUx9PuZjXrpBXzkSy1KFwzkXaUtkh8ey36YqBESFxRdsudsWNWmJ/UVNhfCX9rV7TbFgbZQjWGdJAxo5Ty97l8JZG1jUv9ueNFxyF1SxGOlbSSwXZJWBwDdnMyIqH/J79tD9cpsSe5Onbu5jyRrqfpwv8pFSCNw+B+JFx8UhXwggEmUMmKyqbNziPKSFT640BpkUtLEOHEMS5Ui5180ZT3GN9z4Y6SkWdv4Xbppj5c14wsNcKYG+GB2ENuPxOB5mPszzpViRFdeKrVk1Jt/g1S0XOtN2fWO04rQ7WE3E1CnHs5Q3SaFuFEYR5QvLUrKY+jnWz79OlOqIfWmLWh58WsOU8SImoWRoJ6x+l7XdyhSED0y5Uyn6ZCEYvhKDluRetRAYndx9XcIQvh+Esa3OSjfkeVh77NNRrZaaiL1tq2ciLLarntUSN6h4YkfLR33WSmlA4COUsO/vVFZ2w9/oJsYExNWKtUPgC9zVu7/W6i+ZIsK/5NmnKA0mH21Zvf5oOdlMsnRQTsNqPpg+JndvMnmkcNBsLA03oPakMfyUU54grUeG/pN/8k/+QObH7WG/u+1275fty/wvgc62U4wthEwQZGFzyw63x2ej7pFl1lUx8ax2/IX3L8+EPWDEkKRIYMx83WNkXZ4X8csvi8XYPO3e39+ndSw8B1xmUB3hxbOQX85XtY6uJwDGPMJnbNYt8/B3quyIGa41E79NVDcRvsz+Au6M4Zon6eNsZzErkLV/Zm3PS9z34vCCIe4In7bPCffLBeMD/IA4W4vywREh3loW+nmn5+cpayYTw++FlZdV/nCPRXshXD/8ZEcfJW8If6cmS69+4WwiyScI334Gen691IU7prXlJ5Uwi1u5ywBtnS7X/5br+fmdpU1oxDvRLFer6CJVjjtcsijCeHo4/hn27Hq5MXKSbiC0led7VEeXRy+cNRJn2ObucP1eY7+cLzeEUaHGxAUPz+umXlWKLOqWPj3Y5GKOn4+zr1yfz44MEkaeajqelkBnXLcOH76+wJXBJcAtRu6H8/X4UjGAwV3Pi8t0d7J0SI66U9tyyiL/meXbE64i1/k0QxZzHsSsn0CYYi5iqldfQNZUI4PZLzGKPpHrDqMH0JoR5gMo5YKFL5VULhDePoZT5OVi3oX7t4UF5na+q4cTrrbuQ5lf3y2M/gDUesw78/fz78AK6D36IuB3jlq3xY+Q3fGws+4r/CEmxrf9N7v9U5kfF1OELetR0QKgiaDPbpfzM1aH2XF7md5O0EgWE8TE4m3Ftrb94vrUrRRY4oXRxHa7ANlur1dGI9/n8P8DyL6UWORKSl8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1133475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71" y="1511336"/>
            <a:ext cx="2236679" cy="13626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970" y="1635991"/>
            <a:ext cx="2698889" cy="1244664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5582518" y="1771154"/>
            <a:ext cx="1025951" cy="981877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5582520" y="1771154"/>
            <a:ext cx="943960" cy="974338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右箭头 33"/>
          <p:cNvSpPr/>
          <p:nvPr/>
        </p:nvSpPr>
        <p:spPr>
          <a:xfrm>
            <a:off x="3728634" y="1950333"/>
            <a:ext cx="978408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516368" y="1830709"/>
            <a:ext cx="3803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Loop structure (like RO) is forbidden in AWS EC2 Instance[7]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360485" y="5337205"/>
            <a:ext cx="118051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[7]</a:t>
            </a:r>
            <a:r>
              <a:rPr lang="en-US" altLang="zh-CN" dirty="0"/>
              <a:t>  </a:t>
            </a:r>
            <a:r>
              <a:rPr lang="en-US" altLang="zh-CN" sz="1200" dirty="0"/>
              <a:t>AWS. 2021. Amazon Web Services. Retrieved 2021-10-30 from https://github.com/aws/aws-fpga/blob/master/ERRATA.md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6980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392" y="1040563"/>
            <a:ext cx="8156110" cy="1191895"/>
          </a:xfrm>
        </p:spPr>
        <p:txBody>
          <a:bodyPr/>
          <a:lstStyle/>
          <a:p>
            <a:r>
              <a:rPr lang="en-US" altLang="en-US" dirty="0"/>
              <a:t>Based on the time-to-digital converter (TDC)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D6B7F94-3A4A-42D9-8A67-12687ABDD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6216161" cy="397645"/>
          </a:xfrm>
        </p:spPr>
        <p:txBody>
          <a:bodyPr/>
          <a:lstStyle/>
          <a:p>
            <a:r>
              <a:rPr lang="en-US" altLang="en-US" sz="2800" dirty="0"/>
              <a:t>Our Solution: TDC-based solution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B16949-A1F8-4D5A-AAB1-85DA93B04817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B141D49-8CAE-4C69-B1B9-C40B344F1407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969D1820-1D33-44E0-849A-3404127C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Design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3761" y="4804546"/>
            <a:ext cx="519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Different medium nodes has different phase, which may be utilized for random delay defense.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052" y="1590992"/>
            <a:ext cx="4447032" cy="296090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85" y="2048098"/>
            <a:ext cx="5510701" cy="25038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12518" y="4804546"/>
            <a:ext cx="5199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Through switching the proper outputs of the medium node, the output clock shows partial double frequency.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05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53DD966-EDAA-4FD1-A6D6-CD22AC709C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5" r="3190"/>
          <a:stretch/>
        </p:blipFill>
        <p:spPr>
          <a:xfrm>
            <a:off x="371915" y="1791924"/>
            <a:ext cx="5431536" cy="308518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D6B7F94-3A4A-42D9-8A67-12687ABDD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6216161" cy="397645"/>
          </a:xfrm>
        </p:spPr>
        <p:txBody>
          <a:bodyPr/>
          <a:lstStyle/>
          <a:p>
            <a:r>
              <a:rPr lang="en-US" altLang="en-US" sz="2800" dirty="0"/>
              <a:t>Our Solution: DARPT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B16949-A1F8-4D5A-AAB1-85DA93B04817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B141D49-8CAE-4C69-B1B9-C40B344F1407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969D1820-1D33-44E0-849A-3404127C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Design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EB271EC-FBBE-4BD9-975B-906DDE6B1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451" y="1578080"/>
            <a:ext cx="6062472" cy="3512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9A9A9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SCA defense part:</a:t>
            </a:r>
          </a:p>
          <a:p>
            <a:endParaRPr lang="en-US" altLang="en-US" sz="2400" dirty="0"/>
          </a:p>
          <a:p>
            <a:pPr lvl="1"/>
            <a:r>
              <a:rPr lang="en-US" altLang="en-US" sz="2000" dirty="0"/>
              <a:t>Combined with the PRNG, MUX and the delay line structure.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For each clock cycle, the PRNG will produce one random value, and the MUX would choose one medium output as the </a:t>
            </a:r>
            <a:r>
              <a:rPr lang="en-US" altLang="en-US" sz="2000" i="1" dirty="0" err="1">
                <a:solidFill>
                  <a:srgbClr val="00B0F0"/>
                </a:solidFill>
              </a:rPr>
              <a:t>Output_clk</a:t>
            </a:r>
            <a:r>
              <a:rPr lang="en-US" altLang="en-US" sz="2000" i="1" dirty="0"/>
              <a:t>.</a:t>
            </a:r>
          </a:p>
          <a:p>
            <a:pPr lvl="1"/>
            <a:endParaRPr lang="en-US" altLang="en-US" sz="2000" i="1" dirty="0"/>
          </a:p>
          <a:p>
            <a:pPr lvl="1"/>
            <a:r>
              <a:rPr lang="en-US" altLang="en-US" sz="2000" dirty="0"/>
              <a:t>The </a:t>
            </a:r>
            <a:r>
              <a:rPr lang="en-US" altLang="en-US" sz="2000" i="1" dirty="0" err="1">
                <a:solidFill>
                  <a:srgbClr val="00B0F0"/>
                </a:solidFill>
              </a:rPr>
              <a:t>Output_clk</a:t>
            </a:r>
            <a:r>
              <a:rPr lang="en-US" altLang="en-US" sz="2000" i="1" dirty="0">
                <a:solidFill>
                  <a:srgbClr val="00B0F0"/>
                </a:solidFill>
              </a:rPr>
              <a:t> </a:t>
            </a:r>
            <a:r>
              <a:rPr lang="en-US" altLang="en-US" sz="2000" dirty="0"/>
              <a:t>works as the system clock.</a:t>
            </a:r>
          </a:p>
        </p:txBody>
      </p:sp>
    </p:spTree>
    <p:extLst>
      <p:ext uri="{BB962C8B-B14F-4D97-AF65-F5344CB8AC3E}">
        <p14:creationId xmlns:p14="http://schemas.microsoft.com/office/powerpoint/2010/main" val="422522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53DD966-EDAA-4FD1-A6D6-CD22AC709C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5" r="3190"/>
          <a:stretch/>
        </p:blipFill>
        <p:spPr>
          <a:xfrm>
            <a:off x="360485" y="1783297"/>
            <a:ext cx="5431536" cy="308518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D6B7F94-3A4A-42D9-8A67-12687ABDD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85" y="500574"/>
            <a:ext cx="6216161" cy="397645"/>
          </a:xfrm>
        </p:spPr>
        <p:txBody>
          <a:bodyPr/>
          <a:lstStyle/>
          <a:p>
            <a:r>
              <a:rPr lang="en-US" altLang="en-US" sz="2800" dirty="0"/>
              <a:t>Our Solution: DARPT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B16949-A1F8-4D5A-AAB1-85DA93B04817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B141D49-8CAE-4C69-B1B9-C40B344F1407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969D1820-1D33-44E0-849A-3404127C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Design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EB271EC-FBBE-4BD9-975B-906DDE6B1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021" y="1677936"/>
            <a:ext cx="6062472" cy="3276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9A9A9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FA detection part:</a:t>
            </a:r>
          </a:p>
          <a:p>
            <a:endParaRPr lang="en-US" altLang="en-US" sz="2400" dirty="0"/>
          </a:p>
          <a:p>
            <a:pPr lvl="1"/>
            <a:r>
              <a:rPr lang="en-US" altLang="en-US" sz="2000" dirty="0"/>
              <a:t>Combined with the TDC structure and a Preset-Threshold part.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The TDC should be </a:t>
            </a:r>
            <a:r>
              <a:rPr lang="en-US" altLang="zh-CN" sz="2000" dirty="0"/>
              <a:t>pre-calibrated.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en-US" sz="2000" dirty="0"/>
              <a:t>The </a:t>
            </a:r>
            <a:r>
              <a:rPr lang="en-US" altLang="en-US" sz="2000" i="1" dirty="0">
                <a:solidFill>
                  <a:srgbClr val="FF0000"/>
                </a:solidFill>
              </a:rPr>
              <a:t>Alarm</a:t>
            </a:r>
            <a:r>
              <a:rPr lang="en-US" altLang="en-US" sz="2000" dirty="0"/>
              <a:t> signal is activated when the sample value beyond the preset boundaries.</a:t>
            </a:r>
          </a:p>
        </p:txBody>
      </p:sp>
    </p:spTree>
    <p:extLst>
      <p:ext uri="{BB962C8B-B14F-4D97-AF65-F5344CB8AC3E}">
        <p14:creationId xmlns:p14="http://schemas.microsoft.com/office/powerpoint/2010/main" val="290187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0485" y="1139825"/>
            <a:ext cx="11435274" cy="726643"/>
          </a:xfrm>
        </p:spPr>
        <p:txBody>
          <a:bodyPr/>
          <a:lstStyle/>
          <a:p>
            <a:r>
              <a:rPr lang="en-US" altLang="zh-CN" dirty="0"/>
              <a:t>Test Vector Leakage Assessment</a:t>
            </a:r>
            <a:endParaRPr lang="en-US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6B7F94-3A4A-42D9-8A67-12687ABDD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/>
              <a:t>Evaluation Metrics</a:t>
            </a:r>
            <a:endParaRPr lang="en-US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B16949-A1F8-4D5A-AAB1-85DA93B04817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B141D49-8CAE-4C69-B1B9-C40B344F1407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969D1820-1D33-44E0-849A-3404127C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22" y="2653993"/>
            <a:ext cx="3975297" cy="931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883786" y="3746686"/>
                <a:ext cx="10384568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/>
                  <a:t>,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/>
                  <a:t> are the mean, standard deviation, and cardinality of group A, respectively. Group A is a set of stationary plaintexts, while group B is a set of varying plaintexts.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86" y="3746686"/>
                <a:ext cx="10384568" cy="669992"/>
              </a:xfrm>
              <a:prstGeom prst="rect">
                <a:avLst/>
              </a:prstGeom>
              <a:blipFill>
                <a:blip r:embed="rId4"/>
                <a:stretch>
                  <a:fillRect l="-528" t="-5455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885837" y="1846680"/>
            <a:ext cx="10384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Testers utilize Welsh T-tests to detect any possible leakage. The result of this assessment is </a:t>
            </a:r>
            <a:r>
              <a:rPr lang="zh-CN" altLang="en-US" dirty="0"/>
              <a:t>𝑇 </a:t>
            </a:r>
            <a:r>
              <a:rPr lang="en-US" altLang="zh-CN" dirty="0"/>
              <a:t>value, which is computed as follows.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83786" y="4577660"/>
            <a:ext cx="103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test fails if the </a:t>
            </a:r>
            <a:r>
              <a:rPr lang="zh-CN" altLang="en-US" i="1" dirty="0"/>
              <a:t>𝑇 </a:t>
            </a:r>
            <a:r>
              <a:rPr lang="en-US" altLang="zh-CN" dirty="0"/>
              <a:t>value crosses the threshold of[-4.5, 4.5] which shows the algorithm\system is possibly vulnerable to SCA.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84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6B7F94-3A4A-42D9-8A67-12687ABDD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/>
              <a:t>Evaluation Metrics</a:t>
            </a:r>
            <a:endParaRPr lang="en-US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B16949-A1F8-4D5A-AAB1-85DA93B04817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B141D49-8CAE-4C69-B1B9-C40B344F1407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969D1820-1D33-44E0-849A-3404127C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61" y="1136649"/>
            <a:ext cx="11688254" cy="695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9A9A9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SCA with </a:t>
            </a:r>
            <a:r>
              <a:rPr lang="en-US" altLang="zh-CN" dirty="0"/>
              <a:t>Correlation Power Analysis (CPA)</a:t>
            </a:r>
            <a:endParaRPr lang="en-US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178" y="3073534"/>
            <a:ext cx="5011454" cy="9901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256170" y="4424340"/>
                <a:ext cx="872907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+mn-lt"/>
                  </a:rPr>
                  <a:t>Where 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and </a:t>
                </a:r>
                <a:r>
                  <a:rPr lang="zh-CN" altLang="en-US" dirty="0">
                    <a:latin typeface="+mn-lt"/>
                  </a:rPr>
                  <a:t>𝑌 </a:t>
                </a:r>
                <a:r>
                  <a:rPr lang="en-US" altLang="zh-CN" dirty="0">
                    <a:latin typeface="+mn-lt"/>
                  </a:rPr>
                  <a:t>are the medium values and instant value of the power consumption, respectively. </a:t>
                </a:r>
                <a:r>
                  <a:rPr lang="zh-CN" altLang="en-US" dirty="0">
                    <a:latin typeface="+mn-lt"/>
                  </a:rPr>
                  <a:t>𝐸</a:t>
                </a:r>
                <a:r>
                  <a:rPr lang="en-US" altLang="zh-CN" dirty="0">
                    <a:latin typeface="+mn-lt"/>
                  </a:rPr>
                  <a:t>[(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lt"/>
                  </a:rPr>
                  <a:t> </a:t>
                </a:r>
                <a:r>
                  <a:rPr lang="en-US" altLang="zh-CN" dirty="0">
                    <a:latin typeface="+mn-lt"/>
                  </a:rPr>
                  <a:t>) (</a:t>
                </a:r>
                <a:r>
                  <a:rPr lang="zh-CN" altLang="en-US" dirty="0">
                    <a:latin typeface="+mn-lt"/>
                  </a:rPr>
                  <a:t>𝑌 </a:t>
                </a:r>
                <a:r>
                  <a:rPr lang="en-US" altLang="zh-CN" dirty="0">
                    <a:latin typeface="+mn-lt"/>
                  </a:rPr>
                  <a:t>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lt"/>
                  </a:rPr>
                  <a:t> </a:t>
                </a:r>
                <a:r>
                  <a:rPr lang="en-US" altLang="zh-CN" dirty="0">
                    <a:latin typeface="+mn-lt"/>
                  </a:rPr>
                  <a:t>)] is the covariance of 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and </a:t>
                </a:r>
                <a:r>
                  <a:rPr lang="zh-CN" altLang="en-US" dirty="0">
                    <a:latin typeface="+mn-lt"/>
                  </a:rPr>
                  <a:t>𝑌</a:t>
                </a:r>
                <a:r>
                  <a:rPr lang="en-US" altLang="zh-CN" dirty="0">
                    <a:latin typeface="+mn-lt"/>
                  </a:rPr>
                  <a:t>, and the denominator is composed of the standard deviation of </a:t>
                </a:r>
                <a:r>
                  <a:rPr lang="zh-CN" altLang="en-US" dirty="0">
                    <a:latin typeface="+mn-lt"/>
                  </a:rPr>
                  <a:t>𝑋 </a:t>
                </a:r>
                <a:r>
                  <a:rPr lang="en-US" altLang="zh-CN" dirty="0">
                    <a:latin typeface="+mn-lt"/>
                  </a:rPr>
                  <a:t>and </a:t>
                </a:r>
                <a:r>
                  <a:rPr lang="zh-CN" altLang="en-US" dirty="0">
                    <a:latin typeface="+mn-lt"/>
                  </a:rPr>
                  <a:t>𝑌</a:t>
                </a:r>
                <a:r>
                  <a:rPr lang="en-US" altLang="zh-CN" dirty="0">
                    <a:latin typeface="+mn-lt"/>
                  </a:rPr>
                  <a:t>.</a:t>
                </a:r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170" y="4424340"/>
                <a:ext cx="8729077" cy="923330"/>
              </a:xfrm>
              <a:prstGeom prst="rect">
                <a:avLst/>
              </a:prstGeom>
              <a:blipFill>
                <a:blip r:embed="rId4"/>
                <a:stretch>
                  <a:fillRect l="-559" t="-4636" r="-768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256170" y="1789503"/>
            <a:ext cx="90674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lt"/>
              </a:rPr>
              <a:t>It is necessary to establish a correlation model between the medium values and the instantaneous power consumption. The Pearson’s Correlation Coefficient is considered an effective way for measuring the relevance.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592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681885-3115-4689-B68F-021D0434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The Experiment Setup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13B693-1B3E-4B9C-832B-4B5CEB984FBF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8C61F07-1759-4FC8-8698-3AC975599081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99ED6CC-72E4-408E-99EF-B8FE4BC8A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47676E-0577-45BE-B0DF-D0F6B6BDCA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1910" y="4324565"/>
            <a:ext cx="10706921" cy="1829347"/>
          </a:xfrm>
        </p:spPr>
        <p:txBody>
          <a:bodyPr/>
          <a:lstStyle/>
          <a:p>
            <a:r>
              <a:rPr lang="en-US" altLang="zh-CN" sz="2000" dirty="0"/>
              <a:t>In Fig (a), another TDC is used for performing the SCA. </a:t>
            </a:r>
          </a:p>
          <a:p>
            <a:r>
              <a:rPr lang="en-US" altLang="en-US" sz="2000" dirty="0"/>
              <a:t>In Fig (b), several RO fractions (each contains 512 ROs) are utilized to inject the fault.</a:t>
            </a:r>
          </a:p>
          <a:p>
            <a:r>
              <a:rPr lang="en-US" altLang="zh-CN" sz="2000" dirty="0"/>
              <a:t>The </a:t>
            </a:r>
            <a:r>
              <a:rPr lang="en-US" altLang="zh-CN" sz="2000" dirty="0" smtClean="0"/>
              <a:t>PYNQ-Z2 </a:t>
            </a:r>
            <a:r>
              <a:rPr lang="en-US" altLang="zh-CN" sz="2000" dirty="0"/>
              <a:t>is chosen as the test platform.</a:t>
            </a:r>
            <a:endParaRPr lang="en-US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711" y="933387"/>
            <a:ext cx="8888165" cy="334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1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681885-3115-4689-B68F-021D0434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The SCA Evaluation with TVLA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13B693-1B3E-4B9C-832B-4B5CEB984FBF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8C61F07-1759-4FC8-8698-3AC975599081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99ED6CC-72E4-408E-99EF-B8FE4BC8A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F28CFCE-FD5A-475E-B06C-20B4ABC97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000" y="1161362"/>
            <a:ext cx="8591996" cy="359934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47676E-0577-45BE-B0DF-D0F6B6BDCA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079" y="5023855"/>
            <a:ext cx="10706921" cy="1076475"/>
          </a:xfrm>
        </p:spPr>
        <p:txBody>
          <a:bodyPr/>
          <a:lstStyle/>
          <a:p>
            <a:r>
              <a:rPr lang="en-US" altLang="zh-CN" sz="2000" dirty="0"/>
              <a:t>In the graph with time and trace as abscissas respectively</a:t>
            </a:r>
          </a:p>
          <a:p>
            <a:pPr lvl="1"/>
            <a:r>
              <a:rPr lang="en-US" altLang="zh-CN" sz="1600" dirty="0"/>
              <a:t>The AES core without our defense has obvious information leaks! (the absolute value of T exceeds 4.5) </a:t>
            </a:r>
          </a:p>
          <a:p>
            <a:pPr lvl="1"/>
            <a:r>
              <a:rPr lang="en-US" altLang="zh-CN" sz="1600" dirty="0"/>
              <a:t>And there is no obvious information leakage on the core with DARPT.</a:t>
            </a:r>
            <a:endParaRPr lang="zh-CN" altLang="en-US" sz="1600" dirty="0"/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0263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681885-3115-4689-B68F-021D0434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The SCA Evaluation with SCA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13B693-1B3E-4B9C-832B-4B5CEB984FBF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8C61F07-1759-4FC8-8698-3AC975599081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99ED6CC-72E4-408E-99EF-B8FE4BC8A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C4271E-A73B-43A7-8C62-CF388C351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9" y="905720"/>
            <a:ext cx="6314610" cy="533189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71837" y="1661032"/>
            <a:ext cx="4487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With 10k traces, the key of the AES core without our defense can be easily recovered.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8k traces are enough for a successful CPA on AES core without DARPT.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71837" y="4246355"/>
            <a:ext cx="4487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Measure security with Minimum Traces for Key recovery (MTK) as an indicator, the AES core with the DARPT increased by 100 </a:t>
            </a:r>
            <a:r>
              <a:rPr lang="en-US" altLang="zh-CN" dirty="0" smtClean="0"/>
              <a:t>times (800k) </a:t>
            </a:r>
            <a:r>
              <a:rPr lang="en-US" altLang="zh-CN" dirty="0"/>
              <a:t>compared with the core without any </a:t>
            </a:r>
            <a:r>
              <a:rPr lang="en-US" altLang="zh-CN" dirty="0" smtClean="0"/>
              <a:t>countermeasures (8k).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78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558425"/>
              </p:ext>
            </p:extLst>
          </p:nvPr>
        </p:nvGraphicFramePr>
        <p:xfrm>
          <a:off x="1615804" y="1559254"/>
          <a:ext cx="882833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140">
                  <a:extLst>
                    <a:ext uri="{9D8B030D-6E8A-4147-A177-3AD203B41FA5}">
                      <a16:colId xmlns:a16="http://schemas.microsoft.com/office/drawing/2014/main" val="2082845269"/>
                    </a:ext>
                  </a:extLst>
                </a:gridCol>
                <a:gridCol w="3812198">
                  <a:extLst>
                    <a:ext uri="{9D8B030D-6E8A-4147-A177-3AD203B41FA5}">
                      <a16:colId xmlns:a16="http://schemas.microsoft.com/office/drawing/2014/main" val="3965634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altLang="zh-CN" b="1" baseline="0" dirty="0">
                          <a:solidFill>
                            <a:schemeClr val="tx1"/>
                          </a:solidFill>
                        </a:rPr>
                        <a:t> of enabled RO fractions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Detect value change ratio</a:t>
                      </a:r>
                    </a:p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(compared</a:t>
                      </a:r>
                      <a:r>
                        <a:rPr lang="en-US" altLang="zh-CN" b="1" baseline="0" dirty="0">
                          <a:solidFill>
                            <a:schemeClr val="tx1"/>
                          </a:solidFill>
                        </a:rPr>
                        <a:t> with normal value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)(%)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76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51.82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049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75.30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2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119.03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50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225.91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459.92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00643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CF3EB97A-987A-42BB-84B1-C1DD16E94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The FA Evaluation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55D975-DC4A-481D-9CC1-E39C8474397F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763D222-6CEE-4B6E-B940-E14C69378469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79153B7B-B164-4DEB-AD28-CD4F2B2E5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9275D2-6770-4389-916B-8CDFE6FB9AE4}"/>
              </a:ext>
            </a:extLst>
          </p:cNvPr>
          <p:cNvSpPr txBox="1"/>
          <p:nvPr/>
        </p:nvSpPr>
        <p:spPr>
          <a:xfrm>
            <a:off x="2151857" y="1143789"/>
            <a:ext cx="887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Relationship of RO fractions and Fluctuation of TDC sampling values</a:t>
            </a:r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F1312C-8EE8-4A17-882A-9AA188AF8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4380643"/>
            <a:ext cx="11214589" cy="895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9A9A9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A7D100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The relationship between the number of activated RO fractions and the detected value change ratio is linear. </a:t>
            </a:r>
          </a:p>
        </p:txBody>
      </p:sp>
    </p:spTree>
    <p:extLst>
      <p:ext uri="{BB962C8B-B14F-4D97-AF65-F5344CB8AC3E}">
        <p14:creationId xmlns:p14="http://schemas.microsoft.com/office/powerpoint/2010/main" val="362519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6" y="3535749"/>
            <a:ext cx="12064513" cy="1650555"/>
          </a:xfrm>
        </p:spPr>
        <p:txBody>
          <a:bodyPr/>
          <a:lstStyle/>
          <a:p>
            <a:r>
              <a:rPr lang="en-US" altLang="en-US" sz="2400" dirty="0"/>
              <a:t>Compared with the overhead of [5,8], our design only require the primitives in FPGA.</a:t>
            </a:r>
          </a:p>
          <a:p>
            <a:r>
              <a:rPr lang="en-US" altLang="en-US" sz="2400" dirty="0"/>
              <a:t>Compared with the structure of [6,8], the whole resources for the design are less. (the sum of LUT and FF)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3EE48D-53F4-4FDF-BE29-01F10DDFA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The Overhead Evaluation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9D56E2-2AD1-40DE-8D43-427F640E9B88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C4D7534-2204-4B28-9769-329CE78453CE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517FC76-79AF-47CB-A615-1487E7BF2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Evaluation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621642-C965-49F7-B9A5-63AEAA5B9D53}"/>
              </a:ext>
            </a:extLst>
          </p:cNvPr>
          <p:cNvSpPr txBox="1"/>
          <p:nvPr/>
        </p:nvSpPr>
        <p:spPr>
          <a:xfrm>
            <a:off x="3951821" y="974243"/>
            <a:ext cx="4288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The Overhead Comparisons</a:t>
            </a:r>
            <a:endParaRPr lang="zh-CN" altLang="en-US" sz="24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63730"/>
              </p:ext>
            </p:extLst>
          </p:nvPr>
        </p:nvGraphicFramePr>
        <p:xfrm>
          <a:off x="2031996" y="1435908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2948690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059268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305010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062742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991723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50665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Defense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LUT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FF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BUFG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PLL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BRAM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12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DARPT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321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258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6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[5]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204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266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31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[6]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46648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93296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74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[8]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1197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298278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360485" y="5337205"/>
            <a:ext cx="118051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[5] Ravi </a:t>
            </a:r>
            <a:r>
              <a:rPr lang="en-US" altLang="zh-CN" sz="1200" i="1" dirty="0"/>
              <a:t>et al. </a:t>
            </a:r>
            <a:r>
              <a:rPr lang="en-US" altLang="zh-CN" sz="1200" dirty="0"/>
              <a:t>2018. </a:t>
            </a:r>
            <a:r>
              <a:rPr lang="en-US" altLang="zh-CN" sz="1200" dirty="0" err="1"/>
              <a:t>Ppap</a:t>
            </a:r>
            <a:r>
              <a:rPr lang="en-US" altLang="zh-CN" sz="1200" dirty="0"/>
              <a:t> and </a:t>
            </a:r>
            <a:r>
              <a:rPr lang="en-US" altLang="zh-CN" sz="1200" dirty="0" err="1"/>
              <a:t>ippap</a:t>
            </a:r>
            <a:r>
              <a:rPr lang="en-US" altLang="zh-CN" sz="1200" dirty="0"/>
              <a:t>: PLL-based protection against physical attacks. In </a:t>
            </a:r>
            <a:r>
              <a:rPr lang="en-US" altLang="zh-CN" sz="1200" i="1" dirty="0"/>
              <a:t>2018 IEEE Computer Society Annual Symposium on VLSI (ISVLSI)</a:t>
            </a:r>
            <a:r>
              <a:rPr lang="en-US" altLang="zh-CN" sz="1200" dirty="0"/>
              <a:t>. IEEE, 620–625.</a:t>
            </a:r>
          </a:p>
          <a:p>
            <a:r>
              <a:rPr lang="en-US" altLang="zh-CN" sz="1200" dirty="0"/>
              <a:t>[6] Yao </a:t>
            </a:r>
            <a:r>
              <a:rPr lang="en-US" altLang="zh-CN" sz="1200" i="1" dirty="0"/>
              <a:t>et al</a:t>
            </a:r>
            <a:r>
              <a:rPr lang="en-US" altLang="zh-CN" sz="1200" dirty="0"/>
              <a:t>. 2021. Programmable RO (PRO): A Multipurpose Countermeasure against Side-channel and Fault Injection Attack. </a:t>
            </a:r>
            <a:r>
              <a:rPr lang="en-US" altLang="zh-CN" sz="1200" i="1" dirty="0" err="1"/>
              <a:t>arXiv</a:t>
            </a:r>
            <a:r>
              <a:rPr lang="en-US" altLang="zh-CN" sz="1200" i="1" dirty="0"/>
              <a:t> preprint arXiv:2106.13784</a:t>
            </a:r>
            <a:r>
              <a:rPr lang="en-US" altLang="zh-CN" sz="1200" dirty="0"/>
              <a:t> (2021).</a:t>
            </a:r>
          </a:p>
          <a:p>
            <a:r>
              <a:rPr lang="en-US" altLang="zh-CN" sz="1200" dirty="0"/>
              <a:t>[8] Ruben </a:t>
            </a:r>
            <a:r>
              <a:rPr lang="en-US" altLang="zh-CN" sz="1200" dirty="0" err="1"/>
              <a:t>Lumbiarres</a:t>
            </a:r>
            <a:r>
              <a:rPr lang="en-US" altLang="zh-CN" sz="1200" dirty="0"/>
              <a:t>-Lopez, Mariano Lopez-Garcia, and Enrique Canto-Navarro. 2016. Hardware architecture implemented on FPGA for protecting cryptographic keys against side-channel attacks</a:t>
            </a:r>
            <a:r>
              <a:rPr lang="en-US" altLang="zh-CN" sz="1200" i="1" dirty="0"/>
              <a:t>. IEEE Transactions on Dependable and Secure Computing 15, 5</a:t>
            </a:r>
            <a:r>
              <a:rPr lang="en-US" altLang="zh-CN" sz="1200" dirty="0"/>
              <a:t> (2016), 898–905.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5879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0856" y="1350841"/>
            <a:ext cx="10753696" cy="3071813"/>
          </a:xfrm>
        </p:spPr>
        <p:txBody>
          <a:bodyPr/>
          <a:lstStyle/>
          <a:p>
            <a:r>
              <a:rPr lang="en-US" altLang="zh-CN" dirty="0"/>
              <a:t>We propose a new hardware-based countermeasure to defend against both SCA and FA.</a:t>
            </a:r>
          </a:p>
          <a:p>
            <a:endParaRPr lang="en-US" altLang="zh-CN" dirty="0"/>
          </a:p>
          <a:p>
            <a:r>
              <a:rPr lang="en-US" altLang="zh-CN" dirty="0"/>
              <a:t>Our design can be implemented on FPGA with low overhead.</a:t>
            </a:r>
          </a:p>
          <a:p>
            <a:endParaRPr lang="en-US" altLang="zh-CN" dirty="0"/>
          </a:p>
          <a:p>
            <a:r>
              <a:rPr lang="en-US" altLang="zh-CN" dirty="0"/>
              <a:t>We show that the proposed DARPT against SCA and FA is highly secure.</a:t>
            </a:r>
          </a:p>
          <a:p>
            <a:endParaRPr lang="en-US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8ACAF3-8760-433F-8F97-52EDBF288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500574"/>
            <a:ext cx="6216161" cy="39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The </a:t>
            </a:r>
            <a:r>
              <a:rPr lang="en-US" altLang="zh-CN" sz="2800" dirty="0"/>
              <a:t>C</a:t>
            </a:r>
            <a:r>
              <a:rPr lang="en-US" altLang="en-US" sz="2800" dirty="0"/>
              <a:t>ontributions of </a:t>
            </a:r>
            <a:r>
              <a:rPr lang="en-US" altLang="zh-CN" sz="2800" dirty="0"/>
              <a:t>O</a:t>
            </a:r>
            <a:r>
              <a:rPr lang="en-US" altLang="en-US" sz="2800" dirty="0"/>
              <a:t>ur </a:t>
            </a:r>
            <a:r>
              <a:rPr lang="en-US" altLang="zh-CN" sz="2800" dirty="0"/>
              <a:t>W</a:t>
            </a:r>
            <a:r>
              <a:rPr lang="en-US" altLang="en-US" sz="2800" dirty="0"/>
              <a:t>ork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2CFF8A-9867-4E6A-B009-385E0CAEDF25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FD37969-CE97-4DE2-ADBC-007E331DC51A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5C0943E6-8199-477E-85BF-4139C92C8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5" y="163656"/>
            <a:ext cx="1791372" cy="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8860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D0DB2CA-2149-0840-A056-05C961EB5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64944" y="2877889"/>
            <a:ext cx="11879262" cy="1090607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7200" dirty="0" smtClean="0"/>
              <a:t>Questions?</a:t>
            </a:r>
            <a:endParaRPr lang="en-US" altLang="en-US" sz="7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2CFF8A-9867-4E6A-B009-385E0CAEDF25}"/>
              </a:ext>
            </a:extLst>
          </p:cNvPr>
          <p:cNvSpPr/>
          <p:nvPr/>
        </p:nvSpPr>
        <p:spPr>
          <a:xfrm>
            <a:off x="101111" y="130595"/>
            <a:ext cx="272562" cy="73995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FD37969-CE97-4DE2-ADBC-007E331DC51A}"/>
              </a:ext>
            </a:extLst>
          </p:cNvPr>
          <p:cNvCxnSpPr>
            <a:cxnSpLocks/>
          </p:cNvCxnSpPr>
          <p:nvPr/>
        </p:nvCxnSpPr>
        <p:spPr>
          <a:xfrm flipV="1">
            <a:off x="386861" y="474783"/>
            <a:ext cx="7403123" cy="1102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00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7AAD5"/>
      </a:accent1>
      <a:accent2>
        <a:srgbClr val="FF7C41"/>
      </a:accent2>
      <a:accent3>
        <a:srgbClr val="A7D100"/>
      </a:accent3>
      <a:accent4>
        <a:srgbClr val="FFC000"/>
      </a:accent4>
      <a:accent5>
        <a:srgbClr val="3DA9D5"/>
      </a:accent5>
      <a:accent6>
        <a:srgbClr val="A9A9A9"/>
      </a:accent6>
      <a:hlink>
        <a:srgbClr val="0052FF"/>
      </a:hlink>
      <a:folHlink>
        <a:srgbClr val="FF7C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C_794793-21_2022PPT_5" id="{EF3B9170-A1B5-E948-8455-87732B11B22A}" vid="{4C12E35C-C43C-F244-A886-6230B5C0B96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DAC_2022_PPT</Template>
  <TotalTime>1260</TotalTime>
  <Words>1357</Words>
  <Application>Microsoft Office PowerPoint</Application>
  <PresentationFormat>宽屏</PresentationFormat>
  <Paragraphs>206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黑体</vt:lpstr>
      <vt:lpstr>Arial</vt:lpstr>
      <vt:lpstr>Cambria Math</vt:lpstr>
      <vt:lpstr>Office Theme</vt:lpstr>
      <vt:lpstr>PowerPoint 演示文稿</vt:lpstr>
      <vt:lpstr>DARPT: Defense Against Remote Physical Attack  Based on TDC in Multi-tenant Scenario</vt:lpstr>
      <vt:lpstr>PowerPoint 演示文稿</vt:lpstr>
      <vt:lpstr>Background</vt:lpstr>
      <vt:lpstr>Security Problems in Cloud FPGAs (remote SCA)</vt:lpstr>
      <vt:lpstr>Security Problems in Cloud FPGAs (remote FA)</vt:lpstr>
      <vt:lpstr>The State of Art Hardware Solutions</vt:lpstr>
      <vt:lpstr>Some Unsolved Problems in Hardware Defense</vt:lpstr>
      <vt:lpstr>Our Solution: TDC-based solution</vt:lpstr>
      <vt:lpstr>Our Solution: DARPT</vt:lpstr>
      <vt:lpstr>Our Solution: DARPT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SmithBucklin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Kolak, Alexis</dc:creator>
  <cp:lastModifiedBy>ASUS</cp:lastModifiedBy>
  <cp:revision>545</cp:revision>
  <dcterms:created xsi:type="dcterms:W3CDTF">2022-02-21T17:01:29Z</dcterms:created>
  <dcterms:modified xsi:type="dcterms:W3CDTF">2022-06-03T16:05:53Z</dcterms:modified>
</cp:coreProperties>
</file>