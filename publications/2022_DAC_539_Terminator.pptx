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56" r:id="rId3"/>
    <p:sldId id="509" r:id="rId4"/>
    <p:sldId id="508" r:id="rId5"/>
    <p:sldId id="276" r:id="rId6"/>
    <p:sldId id="259" r:id="rId7"/>
    <p:sldId id="261" r:id="rId8"/>
    <p:sldId id="264" r:id="rId9"/>
    <p:sldId id="280" r:id="rId10"/>
    <p:sldId id="263" r:id="rId11"/>
    <p:sldId id="266" r:id="rId12"/>
    <p:sldId id="268" r:id="rId13"/>
    <p:sldId id="270" r:id="rId14"/>
    <p:sldId id="278" r:id="rId15"/>
    <p:sldId id="271" r:id="rId16"/>
    <p:sldId id="272" r:id="rId17"/>
    <p:sldId id="275" r:id="rId18"/>
    <p:sldId id="277"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83437" autoAdjust="0"/>
  </p:normalViewPr>
  <p:slideViewPr>
    <p:cSldViewPr snapToGrid="0" snapToObjects="1">
      <p:cViewPr varScale="1">
        <p:scale>
          <a:sx n="68" d="100"/>
          <a:sy n="68" d="100"/>
        </p:scale>
        <p:origin x="12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37D1B-0F90-463D-AA72-778DA0C9F252}" type="datetimeFigureOut">
              <a:rPr lang="zh-CN" altLang="en-US" smtClean="0"/>
              <a:t>2022/6/4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81671-9C49-4C06-838D-CE2113FA7B5F}" type="slidenum">
              <a:rPr lang="zh-CN" altLang="en-US" smtClean="0"/>
              <a:t>‹#›</a:t>
            </a:fld>
            <a:endParaRPr lang="zh-CN" altLang="en-US"/>
          </a:p>
        </p:txBody>
      </p:sp>
    </p:spTree>
    <p:extLst>
      <p:ext uri="{BB962C8B-B14F-4D97-AF65-F5344CB8AC3E}">
        <p14:creationId xmlns:p14="http://schemas.microsoft.com/office/powerpoint/2010/main" val="49423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Hello, everyone.</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This is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junge</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xu from Zhejiang university,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china</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on behalf of my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superviser</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doctor fan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zhang</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im</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going to present our work Terminator on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 Practical DVFS Attack on DNN Hardware IP for UAV Object Detection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This work is supported by Alibaba-Zhejiang University Joint Institute of Frontier Technologies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2</a:t>
            </a:fld>
            <a:endParaRPr lang="zh-CN" altLang="en-US"/>
          </a:p>
        </p:txBody>
      </p:sp>
    </p:spTree>
    <p:extLst>
      <p:ext uri="{BB962C8B-B14F-4D97-AF65-F5344CB8AC3E}">
        <p14:creationId xmlns:p14="http://schemas.microsoft.com/office/powerpoint/2010/main" val="746683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Team </a:t>
            </a:r>
            <a:r>
              <a:rPr lang="en-US" altLang="zh-CN" dirty="0" err="1"/>
              <a:t>SkrSkr</a:t>
            </a:r>
            <a:r>
              <a:rPr lang="en-US" altLang="zh-CN" dirty="0"/>
              <a:t> won the </a:t>
            </a:r>
            <a:r>
              <a:rPr lang="en-US" altLang="zh-CN" sz="1200" b="0" i="0" dirty="0">
                <a:effectLst/>
              </a:rPr>
              <a:t>second place in the DAC-SDC 2020 and t</a:t>
            </a:r>
            <a:r>
              <a:rPr lang="en-US" altLang="en-US" sz="1200" dirty="0"/>
              <a:t>he championship in the DAC-SDC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Our work is based on their outstanding </a:t>
            </a:r>
            <a:r>
              <a:rPr lang="en-US" altLang="zh-CN" sz="1800" kern="100" dirty="0">
                <a:effectLst/>
                <a:latin typeface="等线" panose="02010600030101010101" pitchFamily="2" charset="-122"/>
                <a:cs typeface="Times New Roman" panose="02020603050405020304" pitchFamily="18" charset="0"/>
              </a:rPr>
              <a:t>achievements.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0" i="0" dirty="0">
                <a:solidFill>
                  <a:srgbClr val="FF0000"/>
                </a:solidFill>
                <a:effectLst/>
                <a:latin typeface="+mn-lt"/>
              </a:rPr>
              <a:t>Thanks to Dr. </a:t>
            </a:r>
            <a:r>
              <a:rPr lang="en-US" altLang="zh-CN" sz="800" b="0" i="0" dirty="0" err="1">
                <a:solidFill>
                  <a:srgbClr val="FF0000"/>
                </a:solidFill>
                <a:effectLst/>
                <a:latin typeface="+mn-lt"/>
              </a:rPr>
              <a:t>Weixiong</a:t>
            </a:r>
            <a:r>
              <a:rPr lang="en-US" altLang="zh-CN" sz="800" b="0" i="0" dirty="0">
                <a:solidFill>
                  <a:srgbClr val="FF0000"/>
                </a:solidFill>
                <a:effectLst/>
                <a:latin typeface="+mn-lt"/>
              </a:rPr>
              <a:t> Jiang and </a:t>
            </a:r>
            <a:r>
              <a:rPr lang="en-US" altLang="zh-CN" sz="800" dirty="0">
                <a:solidFill>
                  <a:srgbClr val="FF0000"/>
                </a:solidFill>
                <a:latin typeface="+mn-lt"/>
              </a:rPr>
              <a:t>Prof. </a:t>
            </a:r>
            <a:r>
              <a:rPr lang="en-US" altLang="zh-CN" sz="800" dirty="0" err="1">
                <a:solidFill>
                  <a:srgbClr val="FF0000"/>
                </a:solidFill>
                <a:latin typeface="+mn-lt"/>
              </a:rPr>
              <a:t>Yajun</a:t>
            </a:r>
            <a:r>
              <a:rPr lang="en-US" altLang="zh-CN" sz="800" dirty="0">
                <a:solidFill>
                  <a:srgbClr val="FF0000"/>
                </a:solidFill>
                <a:latin typeface="+mn-lt"/>
              </a:rPr>
              <a:t> Ha</a:t>
            </a:r>
            <a:r>
              <a:rPr lang="en-US" altLang="zh-CN" sz="800" b="0" i="0" dirty="0">
                <a:solidFill>
                  <a:srgbClr val="FF0000"/>
                </a:solidFill>
                <a:effectLst/>
                <a:latin typeface="+mn-lt"/>
              </a:rPr>
              <a:t> for assistance and discussion</a:t>
            </a:r>
            <a:endParaRPr lang="zh-CN" altLang="en-US" sz="800" dirty="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800" dirty="0"/>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3</a:t>
            </a:fld>
            <a:endParaRPr lang="zh-CN" altLang="en-US"/>
          </a:p>
        </p:txBody>
      </p:sp>
    </p:spTree>
    <p:extLst>
      <p:ext uri="{BB962C8B-B14F-4D97-AF65-F5344CB8AC3E}">
        <p14:creationId xmlns:p14="http://schemas.microsoft.com/office/powerpoint/2010/main" val="254557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doctor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fanzhang</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is a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professer</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coming from College of Computer Science and Technology, Zhejiang University, China</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His main research areas include Hardware Security</a:t>
            </a:r>
            <a:r>
              <a:rPr lang="en-US" altLang="zh-CN" baseline="0" dirty="0"/>
              <a:t> </a:t>
            </a:r>
            <a:r>
              <a:rPr lang="en-US" altLang="zh-CN" dirty="0"/>
              <a:t>, AI Security</a:t>
            </a:r>
            <a:r>
              <a:rPr lang="en-US" altLang="zh-CN" baseline="0" dirty="0"/>
              <a:t> </a:t>
            </a:r>
            <a:r>
              <a:rPr lang="en-US" altLang="zh-CN" dirty="0"/>
              <a:t>and Network Security.</a:t>
            </a:r>
            <a:endParaRPr lang="zh-CN" altLang="en-US" dirty="0"/>
          </a:p>
        </p:txBody>
      </p:sp>
      <p:sp>
        <p:nvSpPr>
          <p:cNvPr id="4" name="灯片编号占位符 3"/>
          <p:cNvSpPr>
            <a:spLocks noGrp="1"/>
          </p:cNvSpPr>
          <p:nvPr>
            <p:ph type="sldNum" sz="quarter" idx="5"/>
          </p:nvPr>
        </p:nvSpPr>
        <p:spPr/>
        <p:txBody>
          <a:bodyPr/>
          <a:lstStyle/>
          <a:p>
            <a:fld id="{456F3997-021D-401E-8D88-F1EAEA7F9816}" type="slidenum">
              <a:rPr lang="zh-CN" altLang="en-US" smtClean="0"/>
              <a:t>4</a:t>
            </a:fld>
            <a:endParaRPr lang="zh-CN" altLang="en-US"/>
          </a:p>
        </p:txBody>
      </p:sp>
    </p:spTree>
    <p:extLst>
      <p:ext uri="{BB962C8B-B14F-4D97-AF65-F5344CB8AC3E}">
        <p14:creationId xmlns:p14="http://schemas.microsoft.com/office/powerpoint/2010/main" val="703730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Now lets get down to our presentation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Given their high flexibility and energy efficiency, FPGAs have become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one of the most promising edge computing platforms.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Deep learning empowers a great diversity of edge applications on FPGAs, like self-driving car and intelligent home.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Due to the energy and resource constraints on endpoint device, efficient hardware accelerators have been developed in recent years.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However, the raising concerns on its robustness and security have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not been fully summarized and fully addressed, which include Existing vulnerabilities and New attack vectors.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5</a:t>
            </a:fld>
            <a:endParaRPr lang="zh-CN" altLang="en-US"/>
          </a:p>
        </p:txBody>
      </p:sp>
    </p:spTree>
    <p:extLst>
      <p:ext uri="{BB962C8B-B14F-4D97-AF65-F5344CB8AC3E}">
        <p14:creationId xmlns:p14="http://schemas.microsoft.com/office/powerpoint/2010/main" val="1058275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kern="100" dirty="0">
                <a:effectLst/>
                <a:latin typeface="等线" panose="02010600030101010101" pitchFamily="2" charset="-122"/>
                <a:cs typeface="Times New Roman" panose="02020603050405020304" pitchFamily="18" charset="0"/>
              </a:rPr>
              <a:t>In our work, we evaluate our proposed attack on the Skynet accelerator, </a:t>
            </a:r>
          </a:p>
          <a:p>
            <a:r>
              <a:rPr lang="en-US" altLang="zh-CN" sz="1800" kern="100" dirty="0">
                <a:effectLst/>
                <a:latin typeface="等线" panose="02010600030101010101" pitchFamily="2" charset="-122"/>
                <a:cs typeface="Times New Roman" panose="02020603050405020304" pitchFamily="18" charset="0"/>
              </a:rPr>
              <a:t>which won the championship in DAC-SDC 2019. </a:t>
            </a:r>
            <a:r>
              <a:rPr lang="en-US" altLang="zh-CN" sz="1800" kern="100" dirty="0" err="1">
                <a:effectLst/>
                <a:latin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cs typeface="Times New Roman" panose="02020603050405020304" pitchFamily="18" charset="0"/>
              </a:rPr>
              <a:t> delivers 0.716 </a:t>
            </a:r>
            <a:r>
              <a:rPr lang="en-US" altLang="zh-CN" sz="1800" kern="100" dirty="0" err="1">
                <a:effectLst/>
                <a:latin typeface="等线" panose="02010600030101010101" pitchFamily="2" charset="-122"/>
                <a:cs typeface="Times New Roman" panose="02020603050405020304" pitchFamily="18" charset="0"/>
              </a:rPr>
              <a:t>IoU</a:t>
            </a:r>
            <a:r>
              <a:rPr lang="en-US" altLang="zh-CN" sz="1800" kern="100" dirty="0">
                <a:effectLst/>
                <a:latin typeface="等线" panose="02010600030101010101" pitchFamily="2" charset="-122"/>
                <a:cs typeface="Times New Roman" panose="02020603050405020304" pitchFamily="18" charset="0"/>
              </a:rPr>
              <a:t> and 25.05 FPS on an Ultra96-V2.</a:t>
            </a:r>
          </a:p>
          <a:p>
            <a:r>
              <a:rPr lang="en-US" altLang="zh-CN" b="0" i="0" dirty="0" err="1">
                <a:solidFill>
                  <a:srgbClr val="171A1D"/>
                </a:solidFill>
                <a:effectLst/>
                <a:latin typeface="Microsoft YaHei" panose="020B0503020204020204" pitchFamily="34" charset="-122"/>
                <a:ea typeface="Microsoft YaHei" panose="020B0503020204020204" pitchFamily="34" charset="-122"/>
              </a:rPr>
              <a:t>SkyNet</a:t>
            </a:r>
            <a:r>
              <a:rPr lang="en-US" altLang="zh-CN" b="0" i="0" dirty="0">
                <a:solidFill>
                  <a:srgbClr val="171A1D"/>
                </a:solidFill>
                <a:effectLst/>
                <a:latin typeface="Microsoft YaHei" panose="020B0503020204020204" pitchFamily="34" charset="-122"/>
                <a:ea typeface="Microsoft YaHei" panose="020B0503020204020204" pitchFamily="34" charset="-122"/>
              </a:rPr>
              <a:t> is a highly-advanced computer system possessing artificial intelligence in the movie the terminator. And the </a:t>
            </a:r>
            <a:r>
              <a:rPr lang="en-US" altLang="zh-CN" b="0" i="0" dirty="0" err="1">
                <a:solidFill>
                  <a:srgbClr val="171A1D"/>
                </a:solidFill>
                <a:effectLst/>
                <a:latin typeface="Microsoft YaHei" panose="020B0503020204020204" pitchFamily="34" charset="-122"/>
                <a:ea typeface="Microsoft YaHei" panose="020B0503020204020204" pitchFamily="34" charset="-122"/>
              </a:rPr>
              <a:t>SkyNet</a:t>
            </a:r>
            <a:r>
              <a:rPr lang="en-US" altLang="zh-CN" b="0" i="0" dirty="0">
                <a:solidFill>
                  <a:srgbClr val="171A1D"/>
                </a:solidFill>
                <a:effectLst/>
                <a:latin typeface="Microsoft YaHei" panose="020B0503020204020204" pitchFamily="34" charset="-122"/>
                <a:ea typeface="Microsoft YaHei" panose="020B0503020204020204" pitchFamily="34" charset="-122"/>
              </a:rPr>
              <a:t> accelerator Represents the highest level of DNN implementation in FPGA. </a:t>
            </a:r>
            <a:br>
              <a:rPr lang="en-US" altLang="zh-CN" dirty="0"/>
            </a:br>
            <a:r>
              <a:rPr lang="en-US" altLang="zh-CN" b="0" i="0" dirty="0">
                <a:solidFill>
                  <a:srgbClr val="171A1D"/>
                </a:solidFill>
                <a:effectLst/>
                <a:latin typeface="Microsoft YaHei" panose="020B0503020204020204" pitchFamily="34" charset="-122"/>
                <a:ea typeface="Microsoft YaHei" panose="020B0503020204020204" pitchFamily="34" charset="-122"/>
              </a:rPr>
              <a:t>Our attack, like a terminator on the detection accuracy of </a:t>
            </a:r>
            <a:r>
              <a:rPr lang="en-US" altLang="zh-CN" b="0" i="0" dirty="0" err="1">
                <a:solidFill>
                  <a:srgbClr val="171A1D"/>
                </a:solidFill>
                <a:effectLst/>
                <a:latin typeface="Microsoft YaHei" panose="020B0503020204020204" pitchFamily="34" charset="-122"/>
                <a:ea typeface="Microsoft YaHei" panose="020B0503020204020204" pitchFamily="34" charset="-122"/>
              </a:rPr>
              <a:t>SkyNet</a:t>
            </a:r>
            <a:r>
              <a:rPr lang="en-US" altLang="zh-CN" b="0" i="0" dirty="0">
                <a:solidFill>
                  <a:srgbClr val="171A1D"/>
                </a:solidFill>
                <a:effectLst/>
                <a:latin typeface="Microsoft YaHei" panose="020B0503020204020204" pitchFamily="34" charset="-122"/>
                <a:ea typeface="Microsoft YaHei" panose="020B0503020204020204" pitchFamily="34" charset="-122"/>
              </a:rPr>
              <a:t>, aims at inducing temporal faults into the intermediate results of the network.</a:t>
            </a:r>
            <a:endParaRPr lang="en-US" altLang="zh-CN" sz="1800" b="0" i="0" kern="100" dirty="0">
              <a:solidFill>
                <a:srgbClr val="171A1D"/>
              </a:solidFill>
              <a:effectLst/>
              <a:latin typeface="等线" panose="02010600030101010101" pitchFamily="2" charset="-122"/>
              <a:ea typeface="Microsoft YaHei" panose="020B0503020204020204" pitchFamily="34"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Lets take a look on the definition of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set the area of the Ground truth detection box as S1, and the area of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detection box as S2, then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equal to the </a:t>
            </a:r>
            <a:r>
              <a:rPr lang="en-US" altLang="zh-CN" sz="1800" kern="100" dirty="0">
                <a:effectLst/>
                <a:latin typeface="等线" panose="02010600030101010101" pitchFamily="2" charset="-122"/>
                <a:ea typeface="等线" panose="02010600030101010101" pitchFamily="2" charset="-122"/>
                <a:cs typeface="Cambria Math" panose="02040503050406030204" pitchFamily="18" charset="0"/>
              </a:rPr>
              <a:t>intersection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area S3 divided by the union area S1 plus S2 minus S3.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6</a:t>
            </a:fld>
            <a:endParaRPr lang="zh-CN" altLang="en-US"/>
          </a:p>
        </p:txBody>
      </p:sp>
    </p:spTree>
    <p:extLst>
      <p:ext uri="{BB962C8B-B14F-4D97-AF65-F5344CB8AC3E}">
        <p14:creationId xmlns:p14="http://schemas.microsoft.com/office/powerpoint/2010/main" val="1921799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need for better performance and energy-efficiency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drives the development of the DVFS </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mechanism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which is widely deployed on GPU, CPU and FPGA.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It regulates the frequency and voltage of processors to reduce energy consumption according to their real-time computation requirements.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However,  designers of DVFS may do not fully consider the security of it. Out-of-specification voltage and frequency combinations may lead to erroneous results.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7</a:t>
            </a:fld>
            <a:endParaRPr lang="zh-CN" altLang="en-US"/>
          </a:p>
        </p:txBody>
      </p:sp>
    </p:spTree>
    <p:extLst>
      <p:ext uri="{BB962C8B-B14F-4D97-AF65-F5344CB8AC3E}">
        <p14:creationId xmlns:p14="http://schemas.microsoft.com/office/powerpoint/2010/main" val="1523072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Our DVFS framework is implemented with the PMIC and the MMCM.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PMIC controls and monitors the switching regulators to provide different voltage to various components on FPGA,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It can be Accessed via I2C interface. MMCM can generate all the desired clock signals of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accelerators. It can be Accessed via AXI4-Lite interface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8</a:t>
            </a:fld>
            <a:endParaRPr lang="zh-CN" altLang="en-US"/>
          </a:p>
        </p:txBody>
      </p:sp>
    </p:spTree>
    <p:extLst>
      <p:ext uri="{BB962C8B-B14F-4D97-AF65-F5344CB8AC3E}">
        <p14:creationId xmlns:p14="http://schemas.microsoft.com/office/powerpoint/2010/main" val="657827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our Threat model. Black box scenario is considered, including Global fault injection and Local fault injection.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Global fault injection, the attacker has No low-level implementation and DNN model details.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And we Faults into the whole inference procedure, which is an image and model independent attack. For local fault injection,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Due to the consideration of the attack cost and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stealthiness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we induce faults in a short fault injection duration.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9</a:t>
            </a:fld>
            <a:endParaRPr lang="zh-CN" altLang="en-US"/>
          </a:p>
        </p:txBody>
      </p:sp>
    </p:spTree>
    <p:extLst>
      <p:ext uri="{BB962C8B-B14F-4D97-AF65-F5344CB8AC3E}">
        <p14:creationId xmlns:p14="http://schemas.microsoft.com/office/powerpoint/2010/main" val="4085806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kern="100" dirty="0">
                <a:effectLst/>
                <a:latin typeface="等线" panose="02010600030101010101" pitchFamily="2" charset="-122"/>
                <a:cs typeface="Times New Roman" panose="02020603050405020304" pitchFamily="18" charset="0"/>
              </a:rPr>
              <a:t>Under normal operations, the PE array should fulfill the timing Constraints showing here. overclocking or </a:t>
            </a:r>
            <a:r>
              <a:rPr lang="en-US" altLang="zh-CN" sz="1800" kern="100" dirty="0" err="1">
                <a:effectLst/>
                <a:highlight>
                  <a:srgbClr val="FFFF00"/>
                </a:highlight>
                <a:latin typeface="等线" panose="02010600030101010101" pitchFamily="2" charset="-122"/>
                <a:cs typeface="Times New Roman" panose="02020603050405020304" pitchFamily="18" charset="0"/>
              </a:rPr>
              <a:t>undervolting</a:t>
            </a:r>
            <a:r>
              <a:rPr lang="en-US" altLang="zh-CN" sz="1800" kern="100" dirty="0">
                <a:effectLst/>
                <a:latin typeface="等线" panose="02010600030101010101" pitchFamily="2" charset="-122"/>
                <a:cs typeface="Times New Roman" panose="02020603050405020304" pitchFamily="18" charset="0"/>
              </a:rPr>
              <a:t> will result in Intermediate results corruptions. This disturbance will be overwritten by the correct data after each prediction. So no trace or faults will be left in the memory or the circuit to affect another prediction.</a:t>
            </a:r>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10</a:t>
            </a:fld>
            <a:endParaRPr lang="zh-CN" altLang="en-US"/>
          </a:p>
        </p:txBody>
      </p:sp>
    </p:spTree>
    <p:extLst>
      <p:ext uri="{BB962C8B-B14F-4D97-AF65-F5344CB8AC3E}">
        <p14:creationId xmlns:p14="http://schemas.microsoft.com/office/powerpoint/2010/main" val="661903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kern="100" dirty="0">
                <a:effectLst/>
                <a:latin typeface="等线" panose="02010600030101010101" pitchFamily="2" charset="-122"/>
                <a:cs typeface="Times New Roman" panose="02020603050405020304" pitchFamily="18" charset="0"/>
              </a:rPr>
              <a:t>The attack is mounted on Xilinx Ultra96-V2 evaluation board. The </a:t>
            </a:r>
            <a:r>
              <a:rPr lang="en-US" altLang="zh-CN" sz="1800" kern="100" dirty="0" err="1">
                <a:effectLst/>
                <a:latin typeface="等线" panose="02010600030101010101" pitchFamily="2" charset="-122"/>
                <a:cs typeface="Times New Roman" panose="02020603050405020304" pitchFamily="18" charset="0"/>
              </a:rPr>
              <a:t>seup</a:t>
            </a:r>
            <a:r>
              <a:rPr lang="en-US" altLang="zh-CN" sz="1800" kern="100" dirty="0">
                <a:effectLst/>
                <a:latin typeface="等线" panose="02010600030101010101" pitchFamily="2" charset="-122"/>
                <a:cs typeface="Times New Roman" panose="02020603050405020304" pitchFamily="18" charset="0"/>
              </a:rPr>
              <a:t> consists of a </a:t>
            </a:r>
            <a:r>
              <a:rPr lang="en-US" altLang="zh-CN" sz="1800" kern="100" dirty="0" err="1">
                <a:effectLst/>
                <a:latin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cs typeface="Times New Roman" panose="02020603050405020304" pitchFamily="18" charset="0"/>
              </a:rPr>
              <a:t> accelerator, </a:t>
            </a:r>
          </a:p>
          <a:p>
            <a:r>
              <a:rPr lang="en-US" altLang="zh-CN" sz="1800" kern="100" dirty="0">
                <a:effectLst/>
                <a:latin typeface="等线" panose="02010600030101010101" pitchFamily="2" charset="-122"/>
                <a:cs typeface="Times New Roman" panose="02020603050405020304" pitchFamily="18" charset="0"/>
              </a:rPr>
              <a:t>DVS module, DFS module, an ARM processor and some </a:t>
            </a:r>
            <a:r>
              <a:rPr lang="en-US" altLang="zh-CN" sz="1800" kern="100" dirty="0">
                <a:effectLst/>
                <a:highlight>
                  <a:srgbClr val="FFFF00"/>
                </a:highlight>
                <a:latin typeface="等线" panose="02010600030101010101" pitchFamily="2" charset="-122"/>
                <a:cs typeface="Times New Roman" panose="02020603050405020304" pitchFamily="18" charset="0"/>
              </a:rPr>
              <a:t>peripheral</a:t>
            </a:r>
            <a:r>
              <a:rPr lang="en-US" altLang="zh-CN" sz="1800" kern="100" dirty="0">
                <a:effectLst/>
                <a:latin typeface="等线" panose="02010600030101010101" pitchFamily="2" charset="-122"/>
                <a:cs typeface="Times New Roman" panose="02020603050405020304" pitchFamily="18" charset="0"/>
              </a:rPr>
              <a:t> circuits.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baseline="0" dirty="0"/>
              <a:t>The DVS and DFS module are utilized to scale voltage and frequency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a:t>
            </a:r>
            <a:r>
              <a:rPr lang="en-US" altLang="zh-CN" sz="1200" b="0" i="0" u="none" strike="noStrike" baseline="0" dirty="0"/>
              <a:t>The </a:t>
            </a:r>
            <a:r>
              <a:rPr lang="en-US" altLang="zh-CN" sz="1200" b="0" i="0" u="none" strike="noStrike" baseline="0" dirty="0" err="1"/>
              <a:t>SkyNet</a:t>
            </a:r>
            <a:r>
              <a:rPr lang="en-US" altLang="zh-CN" sz="1200" b="0" i="0" u="none" strike="noStrike" baseline="0" dirty="0"/>
              <a:t> is written in high-level synthesis (HLS) C++</a:t>
            </a: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11</a:t>
            </a:fld>
            <a:endParaRPr lang="zh-CN" altLang="en-US"/>
          </a:p>
        </p:txBody>
      </p:sp>
    </p:spTree>
    <p:extLst>
      <p:ext uri="{BB962C8B-B14F-4D97-AF65-F5344CB8AC3E}">
        <p14:creationId xmlns:p14="http://schemas.microsoft.com/office/powerpoint/2010/main" val="2270683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Here is the result of Characterization of Regulator Limits. We evaluate our attack on the public Validation set of DAC-SDC 2019 which has 1000 images. </a:t>
            </a: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We call the combination of voltage and frequency as OPPs. We scan the OPPs by incrementally increase the voltage from</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about 580 millivolt to 1100 millivolt at a certain frequency from 250 megahertz</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to 480 megahertz.  the step size of voltage and frequency is 10millivolt and 5megahertz, respectively. </a:t>
            </a: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The hang-crash boundary Determines the OPPs’ range where the accelerator will not crash or hang. </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12</a:t>
            </a:fld>
            <a:endParaRPr lang="zh-CN" altLang="en-US"/>
          </a:p>
        </p:txBody>
      </p:sp>
    </p:spTree>
    <p:extLst>
      <p:ext uri="{BB962C8B-B14F-4D97-AF65-F5344CB8AC3E}">
        <p14:creationId xmlns:p14="http://schemas.microsoft.com/office/powerpoint/2010/main" val="4276848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result of Global Fault Injection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every frequency from 250 megahertz to 480 megahertz, there is always a voltage threshold below which the average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IoU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will drop from 1.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can find different degree of accuracy loss under different OPPs. And we can achieve more than 98% detection accuracy loss on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Through the Characterization of Regulator Limits, the Global Fault Injection and the subsequent attack can be mounted without hang or crash.</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sz="1800"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13</a:t>
            </a:fld>
            <a:endParaRPr lang="zh-CN" altLang="en-US"/>
          </a:p>
        </p:txBody>
      </p:sp>
    </p:spTree>
    <p:extLst>
      <p:ext uri="{BB962C8B-B14F-4D97-AF65-F5344CB8AC3E}">
        <p14:creationId xmlns:p14="http://schemas.microsoft.com/office/powerpoint/2010/main" val="3534059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better illustrate our DVFS attack, we randomly select 4 images to be detected by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with and without the global fault injection.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cyan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ˈ</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ɪə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  bounding boxes represent the ground truth. The red bounding boxes represent the results generated with the global fault injection.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the blue ones, there is no fault injection. The uncertainty in the red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boxex</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indicates the randomness of</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 induced faults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More than 95% accuracy loss can be achieved on these randomly selected images.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9E81671-9C49-4C06-838D-CE2113FA7B5F}" type="slidenum">
              <a:rPr lang="zh-CN" altLang="en-US" smtClean="0"/>
              <a:t>14</a:t>
            </a:fld>
            <a:endParaRPr lang="zh-CN" altLang="en-US"/>
          </a:p>
        </p:txBody>
      </p:sp>
    </p:spTree>
    <p:extLst>
      <p:ext uri="{BB962C8B-B14F-4D97-AF65-F5344CB8AC3E}">
        <p14:creationId xmlns:p14="http://schemas.microsoft.com/office/powerpoint/2010/main" val="2007461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Local Fault Injection, we estimate each layer’s runtime of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accelerator. we set the fault injection duration to 1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with different fault injection starting time. The result indicates that the first 11 layers of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are easier to be affected by proposed attack.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With 1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duration injection, the attacker can achieve 95.00% fault probabilities and 59.20 % average accuracy loss.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15</a:t>
            </a:fld>
            <a:endParaRPr lang="zh-CN" altLang="en-US"/>
          </a:p>
        </p:txBody>
      </p:sp>
    </p:spTree>
    <p:extLst>
      <p:ext uri="{BB962C8B-B14F-4D97-AF65-F5344CB8AC3E}">
        <p14:creationId xmlns:p14="http://schemas.microsoft.com/office/powerpoint/2010/main" val="48131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Next, we investigate the influence of injection duration. Increasing the duration will not effectively enhance the attack effect when the duration less than or equal to 5ms. Such finding suggests that 1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duration is enough and the best choice to induce effective data corruption. When we doubling the fault injection density, we can achieve 95.45% accuracy loss probability and </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74.44</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accuracy loss.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16</a:t>
            </a:fld>
            <a:endParaRPr lang="zh-CN" altLang="en-US"/>
          </a:p>
        </p:txBody>
      </p:sp>
    </p:spTree>
    <p:extLst>
      <p:ext uri="{BB962C8B-B14F-4D97-AF65-F5344CB8AC3E}">
        <p14:creationId xmlns:p14="http://schemas.microsoft.com/office/powerpoint/2010/main" val="1463150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summary, we present a Stealthy attack on</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 dedicated</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deep learning accelerator by Dynamically scaling voltage and frequency.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And the attacker will Leave no trace after the attack.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Demonstrate our attack targeting at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on our evaluation system for both global and local fault injection in black box scenario.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More than 98% accuracy loss can be achieved in the global fault injection.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local fault injection, 1ms duration can induce effective faults into the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SkyNet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accelerator.    </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Thank you!</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D9E81671-9C49-4C06-838D-CE2113FA7B5F}" type="slidenum">
              <a:rPr lang="zh-CN" altLang="en-US" smtClean="0"/>
              <a:t>17</a:t>
            </a:fld>
            <a:endParaRPr lang="zh-CN" altLang="en-US"/>
          </a:p>
        </p:txBody>
      </p:sp>
    </p:spTree>
    <p:extLst>
      <p:ext uri="{BB962C8B-B14F-4D97-AF65-F5344CB8AC3E}">
        <p14:creationId xmlns:p14="http://schemas.microsoft.com/office/powerpoint/2010/main" val="9207749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hem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198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FE39-1A48-6549-9FA4-F63646706613}"/>
              </a:ext>
            </a:extLst>
          </p:cNvPr>
          <p:cNvSpPr>
            <a:spLocks noGrp="1"/>
          </p:cNvSpPr>
          <p:nvPr>
            <p:ph type="ctrTitle"/>
          </p:nvPr>
        </p:nvSpPr>
        <p:spPr>
          <a:xfrm>
            <a:off x="376015" y="2159317"/>
            <a:ext cx="11519731" cy="177260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1B0F4C-3D05-D646-96CC-CA05FC019D21}"/>
              </a:ext>
            </a:extLst>
          </p:cNvPr>
          <p:cNvSpPr>
            <a:spLocks noGrp="1"/>
          </p:cNvSpPr>
          <p:nvPr>
            <p:ph type="subTitle" idx="1"/>
          </p:nvPr>
        </p:nvSpPr>
        <p:spPr>
          <a:xfrm>
            <a:off x="1524000" y="394747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37643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3217-91CE-0946-808C-7D572F44EB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94D3F-2137-7640-ADED-FBA9B39E714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8302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06BE-4DD0-664B-A108-953F09E9E2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4BE5F4-A58F-BE43-8C59-144872461329}"/>
              </a:ext>
            </a:extLst>
          </p:cNvPr>
          <p:cNvSpPr>
            <a:spLocks noGrp="1"/>
          </p:cNvSpPr>
          <p:nvPr>
            <p:ph sz="half" idx="1"/>
          </p:nvPr>
        </p:nvSpPr>
        <p:spPr>
          <a:xfrm>
            <a:off x="153823" y="1825625"/>
            <a:ext cx="5865977" cy="40111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2E8D21-6498-5546-A2F1-CB9CE6B7B4C0}"/>
              </a:ext>
            </a:extLst>
          </p:cNvPr>
          <p:cNvSpPr>
            <a:spLocks noGrp="1"/>
          </p:cNvSpPr>
          <p:nvPr>
            <p:ph sz="half" idx="2"/>
          </p:nvPr>
        </p:nvSpPr>
        <p:spPr>
          <a:xfrm>
            <a:off x="6172200" y="1825625"/>
            <a:ext cx="5860278" cy="40111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4523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88B4DC3-784B-354A-B3BC-8754F0B3832B}"/>
              </a:ext>
            </a:extLst>
          </p:cNvPr>
          <p:cNvSpPr>
            <a:spLocks noGrp="1" noChangeArrowheads="1"/>
          </p:cNvSpPr>
          <p:nvPr>
            <p:ph type="title"/>
          </p:nvPr>
        </p:nvSpPr>
        <p:spPr bwMode="auto">
          <a:xfrm>
            <a:off x="153988" y="365125"/>
            <a:ext cx="11879262"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E5F84BB-B478-4148-81B3-29E1A26CC02A}"/>
              </a:ext>
            </a:extLst>
          </p:cNvPr>
          <p:cNvSpPr>
            <a:spLocks noGrp="1" noChangeArrowheads="1"/>
          </p:cNvSpPr>
          <p:nvPr>
            <p:ph type="body" idx="1"/>
          </p:nvPr>
        </p:nvSpPr>
        <p:spPr bwMode="auto">
          <a:xfrm>
            <a:off x="153988" y="1825625"/>
            <a:ext cx="11879262"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defRPr>
      </a:lvl9pPr>
    </p:titleStyle>
    <p:body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hyperlink" Target="https://person.zju.edu.cn/en/fanzha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0.png"/><Relationship Id="rId5"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15.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35FBF93-2676-4C42-82C7-32312DC7BF43}"/>
              </a:ext>
            </a:extLst>
          </p:cNvPr>
          <p:cNvSpPr>
            <a:spLocks noGrp="1" noChangeArrowheads="1"/>
          </p:cNvSpPr>
          <p:nvPr>
            <p:ph type="ctrTitle"/>
          </p:nvPr>
        </p:nvSpPr>
        <p:spPr>
          <a:xfrm>
            <a:off x="525528" y="1478269"/>
            <a:ext cx="11518900" cy="1773238"/>
          </a:xfrm>
        </p:spPr>
        <p:txBody>
          <a:bodyPr/>
          <a:lstStyle/>
          <a:p>
            <a:r>
              <a:rPr lang="en-US" altLang="zh-CN" sz="3600" b="0" i="0" u="none" strike="noStrike" baseline="0" dirty="0"/>
              <a:t>Terminator on </a:t>
            </a:r>
            <a:r>
              <a:rPr lang="en-US" altLang="zh-CN" sz="3600" b="0" i="0" u="none" strike="noStrike" baseline="0" dirty="0" err="1"/>
              <a:t>SkyNet</a:t>
            </a:r>
            <a:r>
              <a:rPr lang="en-US" altLang="zh-CN" sz="3600" b="0" i="0" u="none" strike="noStrike" baseline="0" dirty="0"/>
              <a:t>: A Practical DVFS Attack on </a:t>
            </a:r>
            <a:br>
              <a:rPr lang="en-US" altLang="zh-CN" sz="3600" b="0" i="0" u="none" strike="noStrike" baseline="0" dirty="0"/>
            </a:br>
            <a:r>
              <a:rPr lang="en-US" altLang="zh-CN" sz="3600" b="0" i="0" u="none" strike="noStrike" baseline="0" dirty="0"/>
              <a:t>DNN</a:t>
            </a:r>
            <a:r>
              <a:rPr lang="en-US" altLang="zh-CN" sz="3600" dirty="0"/>
              <a:t> </a:t>
            </a:r>
            <a:r>
              <a:rPr lang="en-US" altLang="zh-CN" sz="3600" b="0" i="0" u="none" strike="noStrike" baseline="0" dirty="0"/>
              <a:t>Hardware IP for UAV Object Detection</a:t>
            </a:r>
            <a:endParaRPr lang="en-US" altLang="en-US" sz="3600" dirty="0"/>
          </a:p>
        </p:txBody>
      </p:sp>
      <p:sp>
        <p:nvSpPr>
          <p:cNvPr id="7171" name="Subtitle 2">
            <a:extLst>
              <a:ext uri="{FF2B5EF4-FFF2-40B4-BE49-F238E27FC236}">
                <a16:creationId xmlns:a16="http://schemas.microsoft.com/office/drawing/2014/main" id="{16EBA736-24DD-4D4B-B679-1D6956582E90}"/>
              </a:ext>
            </a:extLst>
          </p:cNvPr>
          <p:cNvSpPr>
            <a:spLocks noGrp="1" noChangeArrowheads="1"/>
          </p:cNvSpPr>
          <p:nvPr>
            <p:ph type="subTitle" idx="1"/>
          </p:nvPr>
        </p:nvSpPr>
        <p:spPr>
          <a:xfrm>
            <a:off x="1563688" y="3515032"/>
            <a:ext cx="9144000" cy="1655762"/>
          </a:xfrm>
        </p:spPr>
        <p:txBody>
          <a:bodyPr/>
          <a:lstStyle/>
          <a:p>
            <a:r>
              <a:rPr lang="en" altLang="zh-CN" sz="2400" dirty="0"/>
              <a:t>J</a:t>
            </a:r>
            <a:r>
              <a:rPr lang="en-US" altLang="zh-CN" sz="2400" dirty="0" err="1"/>
              <a:t>unge</a:t>
            </a:r>
            <a:r>
              <a:rPr lang="en" altLang="zh-CN" sz="2400" dirty="0"/>
              <a:t> Xu,</a:t>
            </a:r>
            <a:r>
              <a:rPr lang="zh-CN" altLang="en-US" sz="2400" dirty="0"/>
              <a:t> </a:t>
            </a:r>
            <a:r>
              <a:rPr lang="en" altLang="zh-CN" sz="2400" dirty="0"/>
              <a:t>Bohan Xuan, Anlin Liu</a:t>
            </a:r>
            <a:r>
              <a:rPr lang="en-US" altLang="zh-CN" sz="2400" dirty="0"/>
              <a:t>,</a:t>
            </a:r>
            <a:r>
              <a:rPr lang="en" altLang="zh-CN" sz="2400" dirty="0"/>
              <a:t> </a:t>
            </a:r>
          </a:p>
          <a:p>
            <a:r>
              <a:rPr lang="en" altLang="zh-CN" sz="2400" dirty="0"/>
              <a:t>Mo Sun, </a:t>
            </a:r>
            <a:r>
              <a:rPr lang="en" altLang="zh-CN" sz="2400" b="1" i="1" u="sng" dirty="0"/>
              <a:t>Fan Zhang </a:t>
            </a:r>
            <a:r>
              <a:rPr lang="en-US" altLang="zh-CN" sz="2400" dirty="0"/>
              <a:t>and</a:t>
            </a:r>
            <a:r>
              <a:rPr lang="en" altLang="zh-CN" sz="2400" dirty="0"/>
              <a:t>  Kui Ren</a:t>
            </a:r>
          </a:p>
        </p:txBody>
      </p:sp>
      <p:pic>
        <p:nvPicPr>
          <p:cNvPr id="4" name="图片 3">
            <a:extLst>
              <a:ext uri="{FF2B5EF4-FFF2-40B4-BE49-F238E27FC236}">
                <a16:creationId xmlns:a16="http://schemas.microsoft.com/office/drawing/2014/main" id="{EC433587-3D72-42DA-AFF1-DFB595B66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209" y="5237539"/>
            <a:ext cx="3797300" cy="763550"/>
          </a:xfrm>
          <a:prstGeom prst="rect">
            <a:avLst/>
          </a:prstGeom>
        </p:spPr>
      </p:pic>
      <p:sp>
        <p:nvSpPr>
          <p:cNvPr id="5" name="矩形 4">
            <a:extLst>
              <a:ext uri="{FF2B5EF4-FFF2-40B4-BE49-F238E27FC236}">
                <a16:creationId xmlns:a16="http://schemas.microsoft.com/office/drawing/2014/main" id="{07A6BC46-B503-A53E-ED76-D5BC9049141A}"/>
              </a:ext>
            </a:extLst>
          </p:cNvPr>
          <p:cNvSpPr/>
          <p:nvPr/>
        </p:nvSpPr>
        <p:spPr>
          <a:xfrm>
            <a:off x="4116129" y="4494918"/>
            <a:ext cx="9144000" cy="461665"/>
          </a:xfrm>
          <a:prstGeom prst="rect">
            <a:avLst/>
          </a:prstGeom>
        </p:spPr>
        <p:txBody>
          <a:bodyPr wrap="square">
            <a:spAutoFit/>
          </a:bodyPr>
          <a:lstStyle/>
          <a:p>
            <a:r>
              <a:rPr lang="en-US" altLang="zh-CN" sz="3200" baseline="30000" dirty="0"/>
              <a:t> </a:t>
            </a:r>
            <a:r>
              <a:rPr lang="en" altLang="zh-CN" sz="2400" dirty="0"/>
              <a:t>Zhejiang University, China</a:t>
            </a:r>
          </a:p>
        </p:txBody>
      </p:sp>
      <p:sp>
        <p:nvSpPr>
          <p:cNvPr id="6" name="矩形 5">
            <a:extLst>
              <a:ext uri="{FF2B5EF4-FFF2-40B4-BE49-F238E27FC236}">
                <a16:creationId xmlns:a16="http://schemas.microsoft.com/office/drawing/2014/main" id="{B05ED326-C218-3E39-B613-55FE661FCC8C}"/>
              </a:ext>
            </a:extLst>
          </p:cNvPr>
          <p:cNvSpPr/>
          <p:nvPr/>
        </p:nvSpPr>
        <p:spPr>
          <a:xfrm>
            <a:off x="4116129" y="5286924"/>
            <a:ext cx="6157335" cy="913070"/>
          </a:xfrm>
          <a:prstGeom prst="rect">
            <a:avLst/>
          </a:prstGeom>
        </p:spPr>
        <p:txBody>
          <a:bodyPr wrap="square">
            <a:spAutoFit/>
          </a:bodyPr>
          <a:lstStyle/>
          <a:p>
            <a:r>
              <a:rPr lang="en-US" altLang="zh-CN" sz="3200" baseline="30000" dirty="0"/>
              <a:t>This work is partly supported by Alibaba-Zhejiang University Joint Institute of Frontier Technologies</a:t>
            </a:r>
            <a:endParaRPr lang="en" altLang="zh-C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a:extLst>
              <a:ext uri="{FF2B5EF4-FFF2-40B4-BE49-F238E27FC236}">
                <a16:creationId xmlns:a16="http://schemas.microsoft.com/office/drawing/2014/main" id="{BD0DB2CA-2149-0840-A056-05C961EB592F}"/>
              </a:ext>
            </a:extLst>
          </p:cNvPr>
          <p:cNvSpPr>
            <a:spLocks noGrp="1" noChangeArrowheads="1"/>
          </p:cNvSpPr>
          <p:nvPr>
            <p:ph idx="1"/>
          </p:nvPr>
        </p:nvSpPr>
        <p:spPr>
          <a:xfrm>
            <a:off x="124797" y="2187416"/>
            <a:ext cx="6498473" cy="3071813"/>
          </a:xfrm>
        </p:spPr>
        <p:txBody>
          <a:bodyPr/>
          <a:lstStyle/>
          <a:p>
            <a:r>
              <a:rPr lang="en-US" altLang="zh-CN" sz="2400" b="0" i="0" dirty="0">
                <a:effectLst/>
              </a:rPr>
              <a:t>The second place in the DAC-SDC 2020</a:t>
            </a:r>
            <a:endParaRPr lang="zh-CN" altLang="en-US" sz="2400" dirty="0"/>
          </a:p>
          <a:p>
            <a:pPr marL="457200" lvl="1" indent="0">
              <a:lnSpc>
                <a:spcPct val="100000"/>
              </a:lnSpc>
              <a:buNone/>
            </a:pPr>
            <a:endParaRPr lang="en-US" altLang="en-US" sz="2000" dirty="0"/>
          </a:p>
          <a:p>
            <a:r>
              <a:rPr lang="en-US" altLang="en-US" sz="2400" dirty="0"/>
              <a:t>The championship in the DAC-SDC 2021</a:t>
            </a:r>
            <a:endParaRPr lang="en-US" altLang="en-US" sz="1200" dirty="0"/>
          </a:p>
        </p:txBody>
      </p:sp>
      <p:pic>
        <p:nvPicPr>
          <p:cNvPr id="6" name="图片 5">
            <a:extLst>
              <a:ext uri="{FF2B5EF4-FFF2-40B4-BE49-F238E27FC236}">
                <a16:creationId xmlns:a16="http://schemas.microsoft.com/office/drawing/2014/main" id="{75EE85CD-3B23-5370-E97E-D1356C1FD006}"/>
              </a:ext>
            </a:extLst>
          </p:cNvPr>
          <p:cNvPicPr>
            <a:picLocks noChangeAspect="1"/>
          </p:cNvPicPr>
          <p:nvPr/>
        </p:nvPicPr>
        <p:blipFill>
          <a:blip r:embed="rId3"/>
          <a:stretch>
            <a:fillRect/>
          </a:stretch>
        </p:blipFill>
        <p:spPr>
          <a:xfrm>
            <a:off x="6762044" y="1624172"/>
            <a:ext cx="1893094" cy="2524125"/>
          </a:xfrm>
          <a:prstGeom prst="rect">
            <a:avLst/>
          </a:prstGeom>
        </p:spPr>
      </p:pic>
      <p:pic>
        <p:nvPicPr>
          <p:cNvPr id="9" name="图片 8">
            <a:extLst>
              <a:ext uri="{FF2B5EF4-FFF2-40B4-BE49-F238E27FC236}">
                <a16:creationId xmlns:a16="http://schemas.microsoft.com/office/drawing/2014/main" id="{79649133-C009-8DFF-461B-25B75F789F59}"/>
              </a:ext>
            </a:extLst>
          </p:cNvPr>
          <p:cNvPicPr>
            <a:picLocks noChangeAspect="1"/>
          </p:cNvPicPr>
          <p:nvPr/>
        </p:nvPicPr>
        <p:blipFill rotWithShape="1">
          <a:blip r:embed="rId4"/>
          <a:srcRect l="12217" t="7263" r="8536" b="4842"/>
          <a:stretch/>
        </p:blipFill>
        <p:spPr>
          <a:xfrm>
            <a:off x="9223197" y="1624172"/>
            <a:ext cx="2324101" cy="2456459"/>
          </a:xfrm>
          <a:prstGeom prst="rect">
            <a:avLst/>
          </a:prstGeom>
        </p:spPr>
      </p:pic>
      <p:sp>
        <p:nvSpPr>
          <p:cNvPr id="10" name="文本框 9">
            <a:extLst>
              <a:ext uri="{FF2B5EF4-FFF2-40B4-BE49-F238E27FC236}">
                <a16:creationId xmlns:a16="http://schemas.microsoft.com/office/drawing/2014/main" id="{3837779D-DEBB-9FEE-9331-DCDCB38331F6}"/>
              </a:ext>
            </a:extLst>
          </p:cNvPr>
          <p:cNvSpPr txBox="1"/>
          <p:nvPr/>
        </p:nvSpPr>
        <p:spPr>
          <a:xfrm>
            <a:off x="6907300" y="4411306"/>
            <a:ext cx="1747838" cy="369332"/>
          </a:xfrm>
          <a:prstGeom prst="rect">
            <a:avLst/>
          </a:prstGeom>
          <a:noFill/>
        </p:spPr>
        <p:txBody>
          <a:bodyPr wrap="square">
            <a:spAutoFit/>
          </a:bodyPr>
          <a:lstStyle/>
          <a:p>
            <a:r>
              <a:rPr lang="en-US" altLang="zh-CN" sz="1800" dirty="0">
                <a:latin typeface="+mn-lt"/>
              </a:rPr>
              <a:t>Prof. </a:t>
            </a:r>
            <a:r>
              <a:rPr lang="en-US" altLang="zh-CN" sz="1800" dirty="0" err="1">
                <a:latin typeface="+mn-lt"/>
              </a:rPr>
              <a:t>Yajun</a:t>
            </a:r>
            <a:r>
              <a:rPr lang="en-US" altLang="zh-CN" sz="1800" dirty="0">
                <a:latin typeface="+mn-lt"/>
              </a:rPr>
              <a:t> Ha</a:t>
            </a:r>
            <a:r>
              <a:rPr lang="en-US" altLang="zh-CN" sz="1800" b="0" i="0" dirty="0">
                <a:effectLst/>
                <a:latin typeface="+mn-lt"/>
              </a:rPr>
              <a:t> </a:t>
            </a:r>
            <a:endParaRPr lang="zh-CN" altLang="en-US" dirty="0"/>
          </a:p>
        </p:txBody>
      </p:sp>
      <p:sp>
        <p:nvSpPr>
          <p:cNvPr id="11" name="文本框 10">
            <a:extLst>
              <a:ext uri="{FF2B5EF4-FFF2-40B4-BE49-F238E27FC236}">
                <a16:creationId xmlns:a16="http://schemas.microsoft.com/office/drawing/2014/main" id="{E77815B9-F8A8-C744-0643-D0BF54C2769A}"/>
              </a:ext>
            </a:extLst>
          </p:cNvPr>
          <p:cNvSpPr txBox="1"/>
          <p:nvPr/>
        </p:nvSpPr>
        <p:spPr>
          <a:xfrm>
            <a:off x="9325592" y="4411306"/>
            <a:ext cx="2412735" cy="369332"/>
          </a:xfrm>
          <a:prstGeom prst="rect">
            <a:avLst/>
          </a:prstGeom>
          <a:noFill/>
        </p:spPr>
        <p:txBody>
          <a:bodyPr wrap="square">
            <a:spAutoFit/>
          </a:bodyPr>
          <a:lstStyle/>
          <a:p>
            <a:r>
              <a:rPr lang="en-US" altLang="zh-CN" sz="1800" b="0" i="0" dirty="0">
                <a:effectLst/>
                <a:latin typeface="+mn-lt"/>
              </a:rPr>
              <a:t>Dr. </a:t>
            </a:r>
            <a:r>
              <a:rPr lang="en-US" altLang="zh-CN" sz="1800" b="0" i="0" dirty="0" err="1">
                <a:effectLst/>
                <a:latin typeface="+mn-lt"/>
              </a:rPr>
              <a:t>Weixiong</a:t>
            </a:r>
            <a:r>
              <a:rPr lang="en-US" altLang="zh-CN" sz="1800" b="0" i="0" dirty="0">
                <a:effectLst/>
                <a:latin typeface="+mn-lt"/>
              </a:rPr>
              <a:t> Jiang </a:t>
            </a:r>
            <a:endParaRPr lang="zh-CN" altLang="en-US" dirty="0"/>
          </a:p>
        </p:txBody>
      </p:sp>
      <p:sp>
        <p:nvSpPr>
          <p:cNvPr id="12" name="文本框 11">
            <a:extLst>
              <a:ext uri="{FF2B5EF4-FFF2-40B4-BE49-F238E27FC236}">
                <a16:creationId xmlns:a16="http://schemas.microsoft.com/office/drawing/2014/main" id="{76BEC83D-02D7-0C9A-0FB3-79F81E2A4AF4}"/>
              </a:ext>
            </a:extLst>
          </p:cNvPr>
          <p:cNvSpPr txBox="1"/>
          <p:nvPr/>
        </p:nvSpPr>
        <p:spPr>
          <a:xfrm>
            <a:off x="623887" y="4036859"/>
            <a:ext cx="5788201" cy="707886"/>
          </a:xfrm>
          <a:prstGeom prst="rect">
            <a:avLst/>
          </a:prstGeom>
          <a:noFill/>
        </p:spPr>
        <p:txBody>
          <a:bodyPr wrap="square">
            <a:spAutoFit/>
          </a:bodyPr>
          <a:lstStyle/>
          <a:p>
            <a:r>
              <a:rPr lang="en-US" altLang="zh-CN" sz="2000" b="0" i="0" dirty="0">
                <a:solidFill>
                  <a:srgbClr val="FF0000"/>
                </a:solidFill>
                <a:effectLst/>
                <a:latin typeface="+mn-lt"/>
              </a:rPr>
              <a:t>Special thanks to Dr. </a:t>
            </a:r>
            <a:r>
              <a:rPr lang="en-US" altLang="zh-CN" sz="2000" b="0" i="0" dirty="0" err="1">
                <a:solidFill>
                  <a:srgbClr val="FF0000"/>
                </a:solidFill>
                <a:effectLst/>
                <a:latin typeface="+mn-lt"/>
              </a:rPr>
              <a:t>Weixiong</a:t>
            </a:r>
            <a:r>
              <a:rPr lang="en-US" altLang="zh-CN" sz="2000" b="0" i="0" dirty="0">
                <a:solidFill>
                  <a:srgbClr val="FF0000"/>
                </a:solidFill>
                <a:effectLst/>
                <a:latin typeface="+mn-lt"/>
              </a:rPr>
              <a:t> Jiang and </a:t>
            </a:r>
            <a:r>
              <a:rPr lang="en-US" altLang="zh-CN" sz="2000" dirty="0">
                <a:solidFill>
                  <a:srgbClr val="FF0000"/>
                </a:solidFill>
                <a:latin typeface="+mn-lt"/>
              </a:rPr>
              <a:t>Prof. </a:t>
            </a:r>
            <a:r>
              <a:rPr lang="en-US" altLang="zh-CN" sz="2000" dirty="0" err="1">
                <a:solidFill>
                  <a:srgbClr val="FF0000"/>
                </a:solidFill>
                <a:latin typeface="+mn-lt"/>
              </a:rPr>
              <a:t>Yajun</a:t>
            </a:r>
            <a:r>
              <a:rPr lang="en-US" altLang="zh-CN" sz="2000" dirty="0">
                <a:solidFill>
                  <a:srgbClr val="FF0000"/>
                </a:solidFill>
                <a:latin typeface="+mn-lt"/>
              </a:rPr>
              <a:t> Ha</a:t>
            </a:r>
            <a:r>
              <a:rPr lang="en-US" altLang="zh-CN" sz="2000" b="0" i="0" dirty="0">
                <a:solidFill>
                  <a:srgbClr val="FF0000"/>
                </a:solidFill>
                <a:effectLst/>
                <a:latin typeface="+mn-lt"/>
              </a:rPr>
              <a:t> for assistance and discussion</a:t>
            </a:r>
            <a:endParaRPr lang="zh-CN" altLang="en-US" sz="2000" dirty="0">
              <a:solidFill>
                <a:srgbClr val="FF0000"/>
              </a:solidFill>
              <a:latin typeface="+mn-lt"/>
            </a:endParaRPr>
          </a:p>
        </p:txBody>
      </p:sp>
      <p:sp>
        <p:nvSpPr>
          <p:cNvPr id="16" name="文本框 15">
            <a:extLst>
              <a:ext uri="{FF2B5EF4-FFF2-40B4-BE49-F238E27FC236}">
                <a16:creationId xmlns:a16="http://schemas.microsoft.com/office/drawing/2014/main" id="{6B478FCC-0FC6-6C9A-1883-7131112C2752}"/>
              </a:ext>
            </a:extLst>
          </p:cNvPr>
          <p:cNvSpPr txBox="1"/>
          <p:nvPr/>
        </p:nvSpPr>
        <p:spPr>
          <a:xfrm>
            <a:off x="623887" y="734613"/>
            <a:ext cx="6096000" cy="584775"/>
          </a:xfrm>
          <a:prstGeom prst="rect">
            <a:avLst/>
          </a:prstGeom>
          <a:noFill/>
        </p:spPr>
        <p:txBody>
          <a:bodyPr wrap="square">
            <a:spAutoFit/>
          </a:bodyPr>
          <a:lstStyle/>
          <a:p>
            <a:pPr algn="just"/>
            <a:r>
              <a:rPr lang="en-US" altLang="zh-CN" sz="3200" b="1" kern="100" dirty="0">
                <a:effectLst/>
                <a:latin typeface="+mj-lt"/>
                <a:ea typeface="等线" panose="02010600030101010101" pitchFamily="2" charset="-122"/>
                <a:cs typeface="Times New Roman" panose="02020603050405020304" pitchFamily="18" charset="0"/>
              </a:rPr>
              <a:t>Team </a:t>
            </a:r>
            <a:r>
              <a:rPr lang="en-US" altLang="zh-CN" sz="3200" b="1" kern="100" dirty="0" err="1">
                <a:effectLst/>
                <a:latin typeface="+mj-lt"/>
                <a:ea typeface="等线" panose="02010600030101010101" pitchFamily="2" charset="-122"/>
                <a:cs typeface="Times New Roman" panose="02020603050405020304" pitchFamily="18" charset="0"/>
              </a:rPr>
              <a:t>SkrSkr</a:t>
            </a:r>
            <a:endParaRPr lang="zh-CN" altLang="zh-CN" sz="3200" b="1" kern="100" dirty="0">
              <a:effectLst/>
              <a:latin typeface="+mj-lt"/>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91188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4464" y="1250148"/>
            <a:ext cx="6925056" cy="4746099"/>
          </a:xfrm>
        </p:spPr>
        <p:txBody>
          <a:bodyPr>
            <a:normAutofit fontScale="85000" lnSpcReduction="20000"/>
          </a:bodyPr>
          <a:lstStyle/>
          <a:p>
            <a:pPr marL="0" indent="0">
              <a:buNone/>
            </a:pPr>
            <a:r>
              <a:rPr lang="en-US" altLang="zh-CN" dirty="0"/>
              <a:t>Fan (Terry) Zhang</a:t>
            </a:r>
          </a:p>
          <a:p>
            <a:pPr marL="0" indent="0">
              <a:buNone/>
            </a:pPr>
            <a:r>
              <a:rPr lang="en-US" altLang="zh-CN" dirty="0"/>
              <a:t>Professor</a:t>
            </a:r>
          </a:p>
          <a:p>
            <a:pPr marL="0" indent="0">
              <a:buNone/>
            </a:pPr>
            <a:endParaRPr lang="en-US" altLang="zh-CN" dirty="0"/>
          </a:p>
          <a:p>
            <a:pPr marL="0" indent="0">
              <a:buNone/>
            </a:pPr>
            <a:r>
              <a:rPr lang="en-US" altLang="zh-CN" dirty="0"/>
              <a:t>School of </a:t>
            </a:r>
            <a:r>
              <a:rPr lang="en-US" altLang="zh-CN" dirty="0" err="1"/>
              <a:t>Cyberscience</a:t>
            </a:r>
            <a:r>
              <a:rPr lang="en-US" altLang="zh-CN" dirty="0"/>
              <a:t> and Technology</a:t>
            </a:r>
          </a:p>
          <a:p>
            <a:pPr marL="0" indent="0">
              <a:buNone/>
            </a:pPr>
            <a:r>
              <a:rPr lang="en-US" altLang="zh-CN" dirty="0"/>
              <a:t>College of Computer Science and Technology</a:t>
            </a:r>
          </a:p>
          <a:p>
            <a:pPr marL="0" indent="0">
              <a:buNone/>
            </a:pPr>
            <a:r>
              <a:rPr lang="en-US" altLang="zh-CN" dirty="0"/>
              <a:t>Zhejiang University, China</a:t>
            </a:r>
          </a:p>
          <a:p>
            <a:pPr marL="0" indent="0">
              <a:buNone/>
            </a:pPr>
            <a:endParaRPr lang="en-US" altLang="zh-CN" dirty="0"/>
          </a:p>
          <a:p>
            <a:pPr marL="0" indent="0">
              <a:buNone/>
            </a:pPr>
            <a:r>
              <a:rPr lang="en-US" altLang="zh-CN" dirty="0"/>
              <a:t>Research:</a:t>
            </a:r>
          </a:p>
          <a:p>
            <a:pPr lvl="1"/>
            <a:r>
              <a:rPr lang="en-US" altLang="zh-CN" dirty="0"/>
              <a:t>Hardware Security</a:t>
            </a:r>
          </a:p>
          <a:p>
            <a:pPr lvl="1"/>
            <a:r>
              <a:rPr lang="en-US" altLang="zh-CN" dirty="0"/>
              <a:t>AI Security</a:t>
            </a:r>
          </a:p>
          <a:p>
            <a:pPr lvl="1"/>
            <a:r>
              <a:rPr lang="en-US" altLang="zh-CN" dirty="0"/>
              <a:t>Network Security</a:t>
            </a:r>
          </a:p>
          <a:p>
            <a:pPr lvl="1"/>
            <a:endParaRPr lang="en-US" altLang="zh-CN" dirty="0"/>
          </a:p>
          <a:p>
            <a:pPr marL="0" indent="0">
              <a:buNone/>
            </a:pPr>
            <a:r>
              <a:rPr lang="en-US" altLang="zh-CN" sz="2400" dirty="0">
                <a:hlinkClick r:id="rId3"/>
              </a:rPr>
              <a:t>https://person.zju.edu.cn/en/fanzhang</a:t>
            </a:r>
            <a:endParaRPr lang="en-US" altLang="zh-CN" sz="2400" dirty="0"/>
          </a:p>
        </p:txBody>
      </p:sp>
      <p:pic>
        <p:nvPicPr>
          <p:cNvPr id="1026" name="Picture 2" descr="http://www.zjuisee.zju.edu.cn/fanzhang/images/zf.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1450731"/>
            <a:ext cx="2518596" cy="33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421657"/>
      </p:ext>
    </p:extLst>
  </p:cSld>
  <p:clrMapOvr>
    <a:masterClrMapping/>
  </p:clrMapOvr>
  <mc:AlternateContent xmlns:mc="http://schemas.openxmlformats.org/markup-compatibility/2006" xmlns:p14="http://schemas.microsoft.com/office/powerpoint/2010/main">
    <mc:Choice Requires="p14">
      <p:transition spd="slow" p14:dur="2000" advTm="7669"/>
    </mc:Choice>
    <mc:Fallback xmlns="">
      <p:transition spd="slow" advTm="766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11E6F4B-7CFD-10ED-C211-BE5261A40C2B}"/>
              </a:ext>
            </a:extLst>
          </p:cNvPr>
          <p:cNvPicPr>
            <a:picLocks noChangeAspect="1"/>
          </p:cNvPicPr>
          <p:nvPr/>
        </p:nvPicPr>
        <p:blipFill>
          <a:blip r:embed="rId3"/>
          <a:stretch>
            <a:fillRect/>
          </a:stretch>
        </p:blipFill>
        <p:spPr>
          <a:xfrm>
            <a:off x="7301042" y="1598458"/>
            <a:ext cx="4419600" cy="3187015"/>
          </a:xfrm>
          <a:prstGeom prst="rect">
            <a:avLst/>
          </a:prstGeom>
        </p:spPr>
      </p:pic>
      <p:sp>
        <p:nvSpPr>
          <p:cNvPr id="8" name="文本框 7">
            <a:extLst>
              <a:ext uri="{FF2B5EF4-FFF2-40B4-BE49-F238E27FC236}">
                <a16:creationId xmlns:a16="http://schemas.microsoft.com/office/drawing/2014/main" id="{38C00C8B-A75E-6313-E9B7-B577C4379458}"/>
              </a:ext>
            </a:extLst>
          </p:cNvPr>
          <p:cNvSpPr txBox="1"/>
          <p:nvPr/>
        </p:nvSpPr>
        <p:spPr>
          <a:xfrm>
            <a:off x="7535846" y="5036266"/>
            <a:ext cx="3949992" cy="369332"/>
          </a:xfrm>
          <a:prstGeom prst="rect">
            <a:avLst/>
          </a:prstGeom>
          <a:noFill/>
        </p:spPr>
        <p:txBody>
          <a:bodyPr wrap="none" rtlCol="0">
            <a:spAutoFit/>
          </a:bodyPr>
          <a:lstStyle/>
          <a:p>
            <a:r>
              <a:rPr lang="en-US" altLang="zh-SG" dirty="0"/>
              <a:t>Zhou et al. Proceedings of the IEEE 2019</a:t>
            </a:r>
            <a:endParaRPr lang="zh-SG" altLang="en-US" dirty="0"/>
          </a:p>
        </p:txBody>
      </p:sp>
      <p:sp>
        <p:nvSpPr>
          <p:cNvPr id="8194" name="Title 1">
            <a:extLst>
              <a:ext uri="{FF2B5EF4-FFF2-40B4-BE49-F238E27FC236}">
                <a16:creationId xmlns:a16="http://schemas.microsoft.com/office/drawing/2014/main" id="{41450BFB-48E0-274C-BCB0-A36EF354D7FA}"/>
              </a:ext>
            </a:extLst>
          </p:cNvPr>
          <p:cNvSpPr>
            <a:spLocks noGrp="1" noChangeArrowheads="1"/>
          </p:cNvSpPr>
          <p:nvPr>
            <p:ph type="title"/>
          </p:nvPr>
        </p:nvSpPr>
        <p:spPr>
          <a:xfrm>
            <a:off x="676631" y="583453"/>
            <a:ext cx="11879262" cy="530614"/>
          </a:xfrm>
        </p:spPr>
        <p:txBody>
          <a:bodyPr/>
          <a:lstStyle/>
          <a:p>
            <a:r>
              <a:rPr lang="en-US" altLang="zh-CN" sz="3200" b="1" i="0" u="none" strike="noStrike" baseline="0" dirty="0">
                <a:ea typeface="仿宋" panose="02010609060101010101" pitchFamily="49" charset="-122"/>
              </a:rPr>
              <a:t>FPGAs in </a:t>
            </a:r>
            <a:r>
              <a:rPr lang="en-US" altLang="zh-CN" sz="3200" b="1" i="0" u="none" strike="noStrike" baseline="0" dirty="0" err="1">
                <a:ea typeface="仿宋" panose="02010609060101010101" pitchFamily="49" charset="-122"/>
              </a:rPr>
              <a:t>AIoT</a:t>
            </a:r>
            <a:endParaRPr lang="en-US" altLang="en-US" sz="3200" b="1" dirty="0"/>
          </a:p>
        </p:txBody>
      </p:sp>
      <p:sp>
        <p:nvSpPr>
          <p:cNvPr id="8195" name="Content Placeholder 2">
            <a:extLst>
              <a:ext uri="{FF2B5EF4-FFF2-40B4-BE49-F238E27FC236}">
                <a16:creationId xmlns:a16="http://schemas.microsoft.com/office/drawing/2014/main" id="{BD0DB2CA-2149-0840-A056-05C961EB592F}"/>
              </a:ext>
            </a:extLst>
          </p:cNvPr>
          <p:cNvSpPr>
            <a:spLocks noGrp="1" noChangeArrowheads="1"/>
          </p:cNvSpPr>
          <p:nvPr>
            <p:ph idx="1"/>
          </p:nvPr>
        </p:nvSpPr>
        <p:spPr>
          <a:xfrm>
            <a:off x="471358" y="1452402"/>
            <a:ext cx="11879262" cy="3071813"/>
          </a:xfrm>
        </p:spPr>
        <p:txBody>
          <a:bodyPr/>
          <a:lstStyle/>
          <a:p>
            <a:pPr algn="l">
              <a:lnSpc>
                <a:spcPct val="100000"/>
              </a:lnSpc>
            </a:pPr>
            <a:r>
              <a:rPr lang="en-US" altLang="en-US" dirty="0"/>
              <a:t>Promising edge computing platforms</a:t>
            </a:r>
          </a:p>
          <a:p>
            <a:pPr lvl="1">
              <a:lnSpc>
                <a:spcPct val="100000"/>
              </a:lnSpc>
            </a:pPr>
            <a:r>
              <a:rPr lang="en-US" altLang="en-US" dirty="0"/>
              <a:t>A great diversity of edge </a:t>
            </a:r>
            <a:r>
              <a:rPr lang="en-US" altLang="en-US" dirty="0">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ntelligence </a:t>
            </a:r>
            <a:r>
              <a:rPr lang="en-US" altLang="en-US" dirty="0"/>
              <a:t>applications</a:t>
            </a:r>
          </a:p>
          <a:p>
            <a:pPr lvl="1">
              <a:lnSpc>
                <a:spcPct val="100000"/>
              </a:lnSpc>
            </a:pPr>
            <a:r>
              <a:rPr lang="en-US" altLang="zh-SG" dirty="0">
                <a:latin typeface="Arial" panose="020B0604020202020204" pitchFamily="34" charset="0"/>
                <a:cs typeface="Arial" panose="020B0604020202020204" pitchFamily="34" charset="0"/>
              </a:rPr>
              <a:t>Efficient hardware accelerator</a:t>
            </a:r>
          </a:p>
          <a:p>
            <a:pPr lvl="1">
              <a:lnSpc>
                <a:spcPct val="100000"/>
              </a:lnSpc>
            </a:pPr>
            <a:endParaRPr lang="en-US" altLang="en-US" dirty="0"/>
          </a:p>
          <a:p>
            <a:r>
              <a:rPr lang="en-US" altLang="zh-CN" dirty="0"/>
              <a:t>Security and robustness considerations</a:t>
            </a:r>
          </a:p>
          <a:p>
            <a:pPr lvl="1"/>
            <a:r>
              <a:rPr lang="en-US" altLang="zh-CN" dirty="0">
                <a:latin typeface="Arial" panose="020B0604020202020204" pitchFamily="34" charset="0"/>
                <a:cs typeface="Arial" panose="020B0604020202020204" pitchFamily="34" charset="0"/>
              </a:rPr>
              <a:t>Existing vulnerabilities</a:t>
            </a:r>
          </a:p>
          <a:p>
            <a:pPr lvl="1"/>
            <a:r>
              <a:rPr lang="en-US" altLang="en-US" dirty="0"/>
              <a:t>New attack vectors</a:t>
            </a:r>
          </a:p>
          <a:p>
            <a:pPr lvl="1">
              <a:lnSpc>
                <a:spcPct val="100000"/>
              </a:lnSpc>
            </a:pPr>
            <a:endParaRPr lang="en-US" altLang="en-US" sz="1400" dirty="0"/>
          </a:p>
        </p:txBody>
      </p:sp>
    </p:spTree>
    <p:extLst>
      <p:ext uri="{BB962C8B-B14F-4D97-AF65-F5344CB8AC3E}">
        <p14:creationId xmlns:p14="http://schemas.microsoft.com/office/powerpoint/2010/main" val="2534375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471358" y="615054"/>
            <a:ext cx="11879262" cy="530614"/>
          </a:xfrm>
        </p:spPr>
        <p:txBody>
          <a:bodyPr/>
          <a:lstStyle/>
          <a:p>
            <a:r>
              <a:rPr lang="en-US" altLang="zh-CN" sz="3200" b="1" i="0" u="none" strike="noStrike" baseline="0" dirty="0" err="1"/>
              <a:t>SkyNet</a:t>
            </a:r>
            <a:r>
              <a:rPr lang="en-US" altLang="zh-CN" sz="3200" b="1" i="0" u="none" strike="noStrike" baseline="0" dirty="0"/>
              <a:t> Accelerator</a:t>
            </a:r>
            <a:endParaRPr lang="en-US" altLang="en-US" sz="3200" b="1"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B786B13-6350-95EB-EFDC-65C3A4E3FD41}"/>
                  </a:ext>
                </a:extLst>
              </p:cNvPr>
              <p:cNvSpPr>
                <a:spLocks noGrp="1" noChangeArrowheads="1"/>
              </p:cNvSpPr>
              <p:nvPr>
                <p:ph idx="1"/>
              </p:nvPr>
            </p:nvSpPr>
            <p:spPr>
              <a:xfrm>
                <a:off x="387383" y="2005061"/>
                <a:ext cx="6591915" cy="3071813"/>
              </a:xfrm>
            </p:spPr>
            <p:txBody>
              <a:bodyPr/>
              <a:lstStyle/>
              <a:p>
                <a:pPr algn="l">
                  <a:lnSpc>
                    <a:spcPct val="100000"/>
                  </a:lnSpc>
                </a:pPr>
                <a:r>
                  <a:rPr lang="en-US" altLang="en-US" dirty="0"/>
                  <a:t>The championship in DAC-SDC 2019 </a:t>
                </a:r>
              </a:p>
              <a:p>
                <a:pPr algn="l">
                  <a:lnSpc>
                    <a:spcPct val="100000"/>
                  </a:lnSpc>
                </a:pPr>
                <a:r>
                  <a:rPr lang="en-US" altLang="zh-CN" b="0" i="0" u="none" strike="noStrike" baseline="0" dirty="0"/>
                  <a:t>Delivers 0.716 </a:t>
                </a:r>
                <a:r>
                  <a:rPr lang="en-US" altLang="zh-CN" b="0" i="0" u="none" strike="noStrike" baseline="0" dirty="0" err="1"/>
                  <a:t>IoU</a:t>
                </a:r>
                <a:r>
                  <a:rPr lang="en-US" altLang="zh-CN" b="0" i="0" u="none" strike="noStrike" baseline="0" dirty="0"/>
                  <a:t> and 25.05 FPS on Ultra96-V2</a:t>
                </a:r>
              </a:p>
              <a:p>
                <a:pPr algn="l">
                  <a:lnSpc>
                    <a:spcPct val="100000"/>
                  </a:lnSpc>
                </a:pPr>
                <a:r>
                  <a:rPr lang="en-US" altLang="zh-CN" dirty="0"/>
                  <a:t>Represents the highest level of DNN implementation</a:t>
                </a:r>
              </a:p>
              <a:p>
                <a:pPr>
                  <a:lnSpc>
                    <a:spcPct val="100000"/>
                  </a:lnSpc>
                </a:pPr>
                <a:r>
                  <a:rPr lang="en-US" altLang="zh-CN" dirty="0"/>
                  <a:t>IoU = </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3</m:t>
                            </m:r>
                          </m:sub>
                        </m:sSub>
                      </m:den>
                    </m:f>
                  </m:oMath>
                </a14:m>
                <a:endParaRPr lang="en-US" altLang="zh-CN" dirty="0"/>
              </a:p>
              <a:p>
                <a:pPr algn="l">
                  <a:lnSpc>
                    <a:spcPct val="100000"/>
                  </a:lnSpc>
                </a:pPr>
                <a:endParaRPr lang="en-US" altLang="en-US" dirty="0"/>
              </a:p>
            </p:txBody>
          </p:sp>
        </mc:Choice>
        <mc:Fallback xmlns="">
          <p:sp>
            <p:nvSpPr>
              <p:cNvPr id="8" name="Content Placeholder 2">
                <a:extLst>
                  <a:ext uri="{FF2B5EF4-FFF2-40B4-BE49-F238E27FC236}">
                    <a16:creationId xmlns:a16="http://schemas.microsoft.com/office/drawing/2014/main" id="{8B786B13-6350-95EB-EFDC-65C3A4E3FD41}"/>
                  </a:ext>
                </a:extLst>
              </p:cNvPr>
              <p:cNvSpPr>
                <a:spLocks noGrp="1" noRot="1" noChangeAspect="1" noMove="1" noResize="1" noEditPoints="1" noAdjustHandles="1" noChangeArrowheads="1" noChangeShapeType="1" noTextEdit="1"/>
              </p:cNvSpPr>
              <p:nvPr>
                <p:ph idx="1"/>
              </p:nvPr>
            </p:nvSpPr>
            <p:spPr>
              <a:xfrm>
                <a:off x="387383" y="2005061"/>
                <a:ext cx="6591915" cy="3071813"/>
              </a:xfrm>
              <a:blipFill>
                <a:blip r:embed="rId4"/>
                <a:stretch>
                  <a:fillRect l="-1665" t="-2183" r="-2590" b="-6944"/>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27535AA3-DC23-3845-72B3-5679E32E88F6}"/>
              </a:ext>
            </a:extLst>
          </p:cNvPr>
          <p:cNvPicPr>
            <a:picLocks noChangeAspect="1"/>
          </p:cNvPicPr>
          <p:nvPr/>
        </p:nvPicPr>
        <p:blipFill>
          <a:blip r:embed="rId5"/>
          <a:stretch>
            <a:fillRect/>
          </a:stretch>
        </p:blipFill>
        <p:spPr>
          <a:xfrm>
            <a:off x="5754088" y="5148539"/>
            <a:ext cx="2937991" cy="1116028"/>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95FB88C-2209-72C5-DF7D-ECB87E763D74}"/>
                  </a:ext>
                </a:extLst>
              </p:cNvPr>
              <p:cNvSpPr txBox="1"/>
              <p:nvPr/>
            </p:nvSpPr>
            <p:spPr>
              <a:xfrm>
                <a:off x="3977771" y="4744415"/>
                <a:ext cx="3245312" cy="369332"/>
              </a:xfrm>
              <a:prstGeom prst="rect">
                <a:avLst/>
              </a:prstGeom>
              <a:noFill/>
            </p:spPr>
            <p:txBody>
              <a:bodyPr wrap="none" rtlCol="0">
                <a:spAutoFit/>
              </a:bodyPr>
              <a:lstStyle/>
              <a:p>
                <a:r>
                  <a:rPr lang="en-US" altLang="zh-CN" dirty="0">
                    <a:solidFill>
                      <a:srgbClr val="457DF7"/>
                    </a:solidFill>
                  </a:rPr>
                  <a:t>Ground truth detection box </a:t>
                </a:r>
                <a14:m>
                  <m:oMath xmlns:m="http://schemas.openxmlformats.org/officeDocument/2006/math">
                    <m:sSub>
                      <m:sSubPr>
                        <m:ctrlPr>
                          <a:rPr lang="en-US" altLang="zh-CN" i="1" dirty="0">
                            <a:solidFill>
                              <a:srgbClr val="457DF7"/>
                            </a:solidFill>
                            <a:latin typeface="Cambria Math" panose="02040503050406030204" pitchFamily="18" charset="0"/>
                          </a:rPr>
                        </m:ctrlPr>
                      </m:sSubPr>
                      <m:e>
                        <m:r>
                          <a:rPr lang="en-US" altLang="zh-CN" i="1" dirty="0">
                            <a:solidFill>
                              <a:srgbClr val="457DF7"/>
                            </a:solidFill>
                            <a:latin typeface="Cambria Math" panose="02040503050406030204" pitchFamily="18" charset="0"/>
                          </a:rPr>
                          <m:t> </m:t>
                        </m:r>
                        <m:r>
                          <a:rPr lang="en-US" altLang="zh-CN" i="1" dirty="0">
                            <a:solidFill>
                              <a:srgbClr val="457DF7"/>
                            </a:solidFill>
                            <a:latin typeface="Cambria Math" panose="02040503050406030204" pitchFamily="18" charset="0"/>
                          </a:rPr>
                          <m:t>𝑆</m:t>
                        </m:r>
                      </m:e>
                      <m:sub>
                        <m:r>
                          <a:rPr lang="en-US" altLang="zh-CN" i="1" dirty="0">
                            <a:solidFill>
                              <a:srgbClr val="457DF7"/>
                            </a:solidFill>
                            <a:latin typeface="Cambria Math" panose="02040503050406030204" pitchFamily="18" charset="0"/>
                          </a:rPr>
                          <m:t>1</m:t>
                        </m:r>
                      </m:sub>
                    </m:sSub>
                  </m:oMath>
                </a14:m>
                <a:endParaRPr lang="zh-CN" altLang="en-US" dirty="0">
                  <a:solidFill>
                    <a:srgbClr val="457DF7"/>
                  </a:solidFill>
                </a:endParaRPr>
              </a:p>
            </p:txBody>
          </p:sp>
        </mc:Choice>
        <mc:Fallback xmlns="">
          <p:sp>
            <p:nvSpPr>
              <p:cNvPr id="17" name="文本框 16">
                <a:extLst>
                  <a:ext uri="{FF2B5EF4-FFF2-40B4-BE49-F238E27FC236}">
                    <a16:creationId xmlns:a16="http://schemas.microsoft.com/office/drawing/2014/main" id="{895FB88C-2209-72C5-DF7D-ECB87E763D74}"/>
                  </a:ext>
                </a:extLst>
              </p:cNvPr>
              <p:cNvSpPr txBox="1">
                <a:spLocks noRot="1" noChangeAspect="1" noMove="1" noResize="1" noEditPoints="1" noAdjustHandles="1" noChangeArrowheads="1" noChangeShapeType="1" noTextEdit="1"/>
              </p:cNvSpPr>
              <p:nvPr/>
            </p:nvSpPr>
            <p:spPr>
              <a:xfrm>
                <a:off x="3977771" y="4744415"/>
                <a:ext cx="3245312" cy="369332"/>
              </a:xfrm>
              <a:prstGeom prst="rect">
                <a:avLst/>
              </a:prstGeom>
              <a:blipFill>
                <a:blip r:embed="rId6"/>
                <a:stretch>
                  <a:fillRect l="-1692"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C4ACD63-7C8B-D1DD-69C5-50AC4ABF86AA}"/>
                  </a:ext>
                </a:extLst>
              </p:cNvPr>
              <p:cNvSpPr txBox="1"/>
              <p:nvPr/>
            </p:nvSpPr>
            <p:spPr>
              <a:xfrm>
                <a:off x="6152284" y="4190848"/>
                <a:ext cx="2907527" cy="400110"/>
              </a:xfrm>
              <a:prstGeom prst="rect">
                <a:avLst/>
              </a:prstGeom>
              <a:noFill/>
            </p:spPr>
            <p:txBody>
              <a:bodyPr wrap="none" rtlCol="0">
                <a:spAutoFit/>
              </a:bodyPr>
              <a:lstStyle/>
              <a:p>
                <a:r>
                  <a:rPr lang="en-US" altLang="zh-CN" sz="2000" dirty="0">
                    <a:solidFill>
                      <a:srgbClr val="D9432F"/>
                    </a:solidFill>
                  </a:rPr>
                  <a:t>SkyNet detection box</a:t>
                </a:r>
                <a14:m>
                  <m:oMath xmlns:m="http://schemas.openxmlformats.org/officeDocument/2006/math">
                    <m:r>
                      <a:rPr lang="en-US" altLang="zh-CN" sz="2000" b="0" i="0" dirty="0" smtClean="0">
                        <a:solidFill>
                          <a:srgbClr val="D9432F"/>
                        </a:solidFill>
                        <a:latin typeface="Cambria Math" panose="02040503050406030204" pitchFamily="18" charset="0"/>
                      </a:rPr>
                      <m:t> </m:t>
                    </m:r>
                    <m:sSub>
                      <m:sSubPr>
                        <m:ctrlPr>
                          <a:rPr lang="en-US" altLang="zh-CN" sz="2000" b="0" i="1" dirty="0" smtClean="0">
                            <a:solidFill>
                              <a:srgbClr val="D9432F"/>
                            </a:solidFill>
                            <a:latin typeface="Cambria Math" panose="02040503050406030204" pitchFamily="18" charset="0"/>
                          </a:rPr>
                        </m:ctrlPr>
                      </m:sSubPr>
                      <m:e>
                        <m:r>
                          <a:rPr lang="en-US" altLang="zh-CN" sz="2000" i="1" dirty="0" smtClean="0">
                            <a:solidFill>
                              <a:srgbClr val="D9432F"/>
                            </a:solidFill>
                            <a:latin typeface="Cambria Math" panose="02040503050406030204" pitchFamily="18" charset="0"/>
                          </a:rPr>
                          <m:t>𝑆</m:t>
                        </m:r>
                      </m:e>
                      <m:sub>
                        <m:r>
                          <a:rPr lang="en-US" altLang="zh-CN" sz="2000" b="0" i="1" dirty="0" smtClean="0">
                            <a:solidFill>
                              <a:srgbClr val="D9432F"/>
                            </a:solidFill>
                            <a:latin typeface="Cambria Math" panose="02040503050406030204" pitchFamily="18" charset="0"/>
                          </a:rPr>
                          <m:t>2</m:t>
                        </m:r>
                      </m:sub>
                    </m:sSub>
                  </m:oMath>
                </a14:m>
                <a:endParaRPr lang="zh-CN" altLang="en-US" sz="2000" dirty="0">
                  <a:solidFill>
                    <a:srgbClr val="D9432F"/>
                  </a:solidFill>
                </a:endParaRPr>
              </a:p>
            </p:txBody>
          </p:sp>
        </mc:Choice>
        <mc:Fallback xmlns="">
          <p:sp>
            <p:nvSpPr>
              <p:cNvPr id="18" name="文本框 17">
                <a:extLst>
                  <a:ext uri="{FF2B5EF4-FFF2-40B4-BE49-F238E27FC236}">
                    <a16:creationId xmlns:a16="http://schemas.microsoft.com/office/drawing/2014/main" id="{6C4ACD63-7C8B-D1DD-69C5-50AC4ABF86AA}"/>
                  </a:ext>
                </a:extLst>
              </p:cNvPr>
              <p:cNvSpPr txBox="1">
                <a:spLocks noRot="1" noChangeAspect="1" noMove="1" noResize="1" noEditPoints="1" noAdjustHandles="1" noChangeArrowheads="1" noChangeShapeType="1" noTextEdit="1"/>
              </p:cNvSpPr>
              <p:nvPr/>
            </p:nvSpPr>
            <p:spPr>
              <a:xfrm>
                <a:off x="6152284" y="4190848"/>
                <a:ext cx="2907527" cy="400110"/>
              </a:xfrm>
              <a:prstGeom prst="rect">
                <a:avLst/>
              </a:prstGeom>
              <a:blipFill>
                <a:blip r:embed="rId7"/>
                <a:stretch>
                  <a:fillRect l="-2096" t="-6061" b="-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C8390FCC-DD55-3228-CD18-92222240239E}"/>
                  </a:ext>
                </a:extLst>
              </p:cNvPr>
              <p:cNvSpPr/>
              <p:nvPr/>
            </p:nvSpPr>
            <p:spPr>
              <a:xfrm>
                <a:off x="8146951" y="4676764"/>
                <a:ext cx="196932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dirty="0" smtClean="0">
                              <a:solidFill>
                                <a:srgbClr val="FFC000"/>
                              </a:solidFill>
                              <a:latin typeface="Cambria Math" panose="02040503050406030204" pitchFamily="18" charset="0"/>
                            </a:rPr>
                          </m:ctrlPr>
                        </m:sSubPr>
                        <m:e>
                          <m:r>
                            <a:rPr lang="en-US" altLang="zh-CN" sz="2000" i="1" dirty="0">
                              <a:solidFill>
                                <a:srgbClr val="FFC000"/>
                              </a:solidFill>
                              <a:latin typeface="Cambria Math" panose="02040503050406030204" pitchFamily="18" charset="0"/>
                            </a:rPr>
                            <m:t>𝑖𝑛𝑡𝑒𝑟𝑠𝑒𝑐𝑡𝑖𝑜𝑛</m:t>
                          </m:r>
                          <m:r>
                            <a:rPr lang="en-US" altLang="zh-CN" sz="2000" b="0" i="1" dirty="0" smtClean="0">
                              <a:solidFill>
                                <a:srgbClr val="FFC000"/>
                              </a:solidFill>
                              <a:latin typeface="Cambria Math" panose="02040503050406030204" pitchFamily="18" charset="0"/>
                            </a:rPr>
                            <m:t> </m:t>
                          </m:r>
                          <m:r>
                            <a:rPr lang="en-US" altLang="zh-CN" sz="2000" i="1" dirty="0">
                              <a:solidFill>
                                <a:srgbClr val="FFC000"/>
                              </a:solidFill>
                              <a:latin typeface="Cambria Math" panose="02040503050406030204" pitchFamily="18" charset="0"/>
                            </a:rPr>
                            <m:t>𝑆</m:t>
                          </m:r>
                        </m:e>
                        <m:sub>
                          <m:r>
                            <a:rPr lang="en-US" altLang="zh-CN" sz="2000" b="0" i="1" dirty="0" smtClean="0">
                              <a:solidFill>
                                <a:srgbClr val="FFC000"/>
                              </a:solidFill>
                              <a:latin typeface="Cambria Math" panose="02040503050406030204" pitchFamily="18" charset="0"/>
                            </a:rPr>
                            <m:t>3</m:t>
                          </m:r>
                        </m:sub>
                      </m:sSub>
                    </m:oMath>
                  </m:oMathPara>
                </a14:m>
                <a:endParaRPr lang="zh-CN" altLang="en-US" sz="2400" dirty="0">
                  <a:solidFill>
                    <a:srgbClr val="FFC000"/>
                  </a:solidFill>
                </a:endParaRPr>
              </a:p>
            </p:txBody>
          </p:sp>
        </mc:Choice>
        <mc:Fallback xmlns="">
          <p:sp>
            <p:nvSpPr>
              <p:cNvPr id="19" name="矩形 18">
                <a:extLst>
                  <a:ext uri="{FF2B5EF4-FFF2-40B4-BE49-F238E27FC236}">
                    <a16:creationId xmlns:a16="http://schemas.microsoft.com/office/drawing/2014/main" id="{C8390FCC-DD55-3228-CD18-92222240239E}"/>
                  </a:ext>
                </a:extLst>
              </p:cNvPr>
              <p:cNvSpPr>
                <a:spLocks noRot="1" noChangeAspect="1" noMove="1" noResize="1" noEditPoints="1" noAdjustHandles="1" noChangeArrowheads="1" noChangeShapeType="1" noTextEdit="1"/>
              </p:cNvSpPr>
              <p:nvPr/>
            </p:nvSpPr>
            <p:spPr>
              <a:xfrm>
                <a:off x="8146951" y="4676764"/>
                <a:ext cx="1969321" cy="400110"/>
              </a:xfrm>
              <a:prstGeom prst="rect">
                <a:avLst/>
              </a:prstGeom>
              <a:blipFill>
                <a:blip r:embed="rId8"/>
                <a:stretch>
                  <a:fillRect b="-303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F63E714D-8DA4-4D94-7604-0118131CFAA8}"/>
              </a:ext>
            </a:extLst>
          </p:cNvPr>
          <p:cNvPicPr>
            <a:picLocks noChangeAspect="1"/>
          </p:cNvPicPr>
          <p:nvPr/>
        </p:nvPicPr>
        <p:blipFill>
          <a:blip r:embed="rId9"/>
          <a:stretch>
            <a:fillRect/>
          </a:stretch>
        </p:blipFill>
        <p:spPr>
          <a:xfrm>
            <a:off x="7407287" y="1275384"/>
            <a:ext cx="3971912" cy="27501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471358" y="639535"/>
            <a:ext cx="11879262" cy="530614"/>
          </a:xfrm>
        </p:spPr>
        <p:txBody>
          <a:bodyPr/>
          <a:lstStyle/>
          <a:p>
            <a:r>
              <a:rPr lang="en-US" altLang="zh-CN" sz="3200" b="1" i="0" u="none" strike="noStrike" baseline="0" dirty="0"/>
              <a:t>Dynamic Voltage and Frequency Scaling (DVFS)</a:t>
            </a:r>
            <a:endParaRPr lang="en-US" altLang="en-US" sz="3200" b="1" dirty="0"/>
          </a:p>
        </p:txBody>
      </p:sp>
      <p:sp>
        <p:nvSpPr>
          <p:cNvPr id="8" name="Content Placeholder 2">
            <a:extLst>
              <a:ext uri="{FF2B5EF4-FFF2-40B4-BE49-F238E27FC236}">
                <a16:creationId xmlns:a16="http://schemas.microsoft.com/office/drawing/2014/main" id="{8B786B13-6350-95EB-EFDC-65C3A4E3FD41}"/>
              </a:ext>
            </a:extLst>
          </p:cNvPr>
          <p:cNvSpPr>
            <a:spLocks noGrp="1" noChangeArrowheads="1"/>
          </p:cNvSpPr>
          <p:nvPr>
            <p:ph idx="1"/>
          </p:nvPr>
        </p:nvSpPr>
        <p:spPr>
          <a:xfrm>
            <a:off x="471358" y="1452402"/>
            <a:ext cx="10837344" cy="3071813"/>
          </a:xfrm>
        </p:spPr>
        <p:txBody>
          <a:bodyPr/>
          <a:lstStyle/>
          <a:p>
            <a:pPr algn="l">
              <a:lnSpc>
                <a:spcPct val="100000"/>
              </a:lnSpc>
            </a:pPr>
            <a:r>
              <a:rPr lang="en-US" altLang="zh-CN" dirty="0">
                <a:latin typeface="Arial" panose="020B0604020202020204" pitchFamily="34" charset="0"/>
                <a:cs typeface="Arial" panose="020B0604020202020204" pitchFamily="34" charset="0"/>
              </a:rPr>
              <a:t>W</a:t>
            </a:r>
            <a:r>
              <a:rPr lang="en-US" altLang="zh-CN" b="0" i="0" u="none" strike="noStrike" baseline="0" dirty="0">
                <a:latin typeface="Arial" panose="020B0604020202020204" pitchFamily="34" charset="0"/>
                <a:cs typeface="Arial" panose="020B0604020202020204" pitchFamily="34" charset="0"/>
              </a:rPr>
              <a:t>idely deployed on GPU, CPU and FPGA</a:t>
            </a:r>
          </a:p>
          <a:p>
            <a:pPr lvl="1">
              <a:lnSpc>
                <a:spcPct val="100000"/>
              </a:lnSpc>
            </a:pPr>
            <a:r>
              <a:rPr lang="en-US" altLang="en-US" dirty="0">
                <a:latin typeface="Arial" panose="020B0604020202020204" pitchFamily="34" charset="0"/>
                <a:cs typeface="Arial" panose="020B0604020202020204" pitchFamily="34" charset="0"/>
              </a:rPr>
              <a:t>Regulates frequency and voltage </a:t>
            </a:r>
          </a:p>
          <a:p>
            <a:pPr lvl="1">
              <a:lnSpc>
                <a:spcPct val="100000"/>
              </a:lnSpc>
            </a:pPr>
            <a:r>
              <a:rPr lang="en-US" altLang="en-US" dirty="0">
                <a:latin typeface="Arial" panose="020B0604020202020204" pitchFamily="34" charset="0"/>
                <a:cs typeface="Arial" panose="020B0604020202020204" pitchFamily="34" charset="0"/>
              </a:rPr>
              <a:t>Real time scheduling</a:t>
            </a:r>
          </a:p>
          <a:p>
            <a:pPr lvl="1">
              <a:lnSpc>
                <a:spcPct val="100000"/>
              </a:lnSpc>
            </a:pPr>
            <a:r>
              <a:rPr lang="en-US" altLang="zh-CN" dirty="0">
                <a:latin typeface="Arial" panose="020B0604020202020204" pitchFamily="34" charset="0"/>
                <a:cs typeface="Arial" panose="020B0604020202020204" pitchFamily="34" charset="0"/>
              </a:rPr>
              <a:t>Reduces power consumption</a:t>
            </a:r>
          </a:p>
          <a:p>
            <a:pPr>
              <a:lnSpc>
                <a:spcPct val="100000"/>
              </a:lnSpc>
            </a:pPr>
            <a:r>
              <a:rPr lang="en-US" altLang="en-US" dirty="0">
                <a:latin typeface="Arial" panose="020B0604020202020204" pitchFamily="34" charset="0"/>
                <a:cs typeface="Arial" panose="020B0604020202020204" pitchFamily="34" charset="0"/>
              </a:rPr>
              <a:t>Security </a:t>
            </a:r>
            <a:r>
              <a:rPr lang="en-US" altLang="zh-CN" dirty="0">
                <a:latin typeface="Arial" panose="020B0604020202020204" pitchFamily="34" charset="0"/>
                <a:cs typeface="Arial" panose="020B0604020202020204" pitchFamily="34" charset="0"/>
              </a:rPr>
              <a:t>considerations</a:t>
            </a:r>
            <a:endParaRPr lang="en-US" altLang="en-US" dirty="0">
              <a:latin typeface="Arial" panose="020B0604020202020204" pitchFamily="34" charset="0"/>
              <a:cs typeface="Arial" panose="020B0604020202020204" pitchFamily="34" charset="0"/>
            </a:endParaRPr>
          </a:p>
          <a:p>
            <a:pPr lvl="1">
              <a:lnSpc>
                <a:spcPct val="100000"/>
              </a:lnSpc>
            </a:pPr>
            <a:r>
              <a:rPr lang="en-US" altLang="en-US" dirty="0">
                <a:latin typeface="Arial" panose="020B0604020202020204" pitchFamily="34" charset="0"/>
                <a:cs typeface="Arial" panose="020B0604020202020204" pitchFamily="34" charset="0"/>
              </a:rPr>
              <a:t>Out-of-specification voltage and frequency combinations</a:t>
            </a:r>
          </a:p>
        </p:txBody>
      </p:sp>
      <p:pic>
        <p:nvPicPr>
          <p:cNvPr id="9" name="图片 8">
            <a:extLst>
              <a:ext uri="{FF2B5EF4-FFF2-40B4-BE49-F238E27FC236}">
                <a16:creationId xmlns:a16="http://schemas.microsoft.com/office/drawing/2014/main" id="{08302A4D-C128-CDF8-9FBA-C332910AE0AD}"/>
              </a:ext>
            </a:extLst>
          </p:cNvPr>
          <p:cNvPicPr>
            <a:picLocks noChangeAspect="1"/>
          </p:cNvPicPr>
          <p:nvPr/>
        </p:nvPicPr>
        <p:blipFill rotWithShape="1">
          <a:blip r:embed="rId3">
            <a:extLst>
              <a:ext uri="{28A0092B-C50C-407E-A947-70E740481C1C}">
                <a14:useLocalDpi xmlns:a14="http://schemas.microsoft.com/office/drawing/2010/main" val="0"/>
              </a:ext>
            </a:extLst>
          </a:blip>
          <a:srcRect l="28750" t="24445" r="36701" b="30000"/>
          <a:stretch/>
        </p:blipFill>
        <p:spPr>
          <a:xfrm>
            <a:off x="1836749" y="4527194"/>
            <a:ext cx="1297436" cy="1283077"/>
          </a:xfrm>
          <a:prstGeom prst="rect">
            <a:avLst/>
          </a:prstGeom>
        </p:spPr>
      </p:pic>
      <p:sp>
        <p:nvSpPr>
          <p:cNvPr id="10" name="文本框 9">
            <a:extLst>
              <a:ext uri="{FF2B5EF4-FFF2-40B4-BE49-F238E27FC236}">
                <a16:creationId xmlns:a16="http://schemas.microsoft.com/office/drawing/2014/main" id="{872A7EAD-1D16-FA8A-F882-259EC46C5907}"/>
              </a:ext>
            </a:extLst>
          </p:cNvPr>
          <p:cNvSpPr txBox="1"/>
          <p:nvPr/>
        </p:nvSpPr>
        <p:spPr>
          <a:xfrm>
            <a:off x="2042293" y="5002716"/>
            <a:ext cx="1403604" cy="400110"/>
          </a:xfrm>
          <a:prstGeom prst="rect">
            <a:avLst/>
          </a:prstGeom>
          <a:noFill/>
        </p:spPr>
        <p:txBody>
          <a:bodyPr wrap="square" rtlCol="0">
            <a:spAutoFit/>
          </a:bodyPr>
          <a:lstStyle/>
          <a:p>
            <a:r>
              <a:rPr lang="en-US" altLang="zh-CN" sz="2000" dirty="0">
                <a:solidFill>
                  <a:srgbClr val="005BBB"/>
                </a:solidFill>
                <a:latin typeface="Arial" panose="020B0604020202020204" pitchFamily="34" charset="0"/>
                <a:cs typeface="Arial" panose="020B0604020202020204" pitchFamily="34" charset="0"/>
              </a:rPr>
              <a:t>DVFS</a:t>
            </a:r>
            <a:endParaRPr lang="zh-CN" altLang="en-US" sz="2000" dirty="0">
              <a:solidFill>
                <a:srgbClr val="005BBB"/>
              </a:solidFill>
              <a:latin typeface="Arial" panose="020B0604020202020204" pitchFamily="34" charset="0"/>
              <a:cs typeface="Arial" panose="020B0604020202020204" pitchFamily="34" charset="0"/>
            </a:endParaRPr>
          </a:p>
        </p:txBody>
      </p:sp>
      <p:pic>
        <p:nvPicPr>
          <p:cNvPr id="19" name="Picture 3">
            <a:extLst>
              <a:ext uri="{FF2B5EF4-FFF2-40B4-BE49-F238E27FC236}">
                <a16:creationId xmlns:a16="http://schemas.microsoft.com/office/drawing/2014/main" id="{513AE490-7996-88A8-90D4-21FB11C7BFE0}"/>
              </a:ext>
            </a:extLst>
          </p:cNvPr>
          <p:cNvPicPr>
            <a:picLocks noChangeAspect="1" noChangeArrowheads="1"/>
          </p:cNvPicPr>
          <p:nvPr/>
        </p:nvPicPr>
        <p:blipFill>
          <a:blip r:embed="rId4"/>
          <a:srcRect/>
          <a:stretch>
            <a:fillRect/>
          </a:stretch>
        </p:blipFill>
        <p:spPr bwMode="auto">
          <a:xfrm rot="2697410" flipH="1">
            <a:off x="3271694" y="4934626"/>
            <a:ext cx="366651" cy="350427"/>
          </a:xfrm>
          <a:prstGeom prst="rect">
            <a:avLst/>
          </a:prstGeom>
          <a:noFill/>
        </p:spPr>
      </p:pic>
      <p:pic>
        <p:nvPicPr>
          <p:cNvPr id="22" name="Picture 3">
            <a:extLst>
              <a:ext uri="{FF2B5EF4-FFF2-40B4-BE49-F238E27FC236}">
                <a16:creationId xmlns:a16="http://schemas.microsoft.com/office/drawing/2014/main" id="{AE92A584-B606-E07C-9B5D-DFC607850134}"/>
              </a:ext>
            </a:extLst>
          </p:cNvPr>
          <p:cNvPicPr>
            <a:picLocks noChangeAspect="1" noChangeArrowheads="1"/>
          </p:cNvPicPr>
          <p:nvPr/>
        </p:nvPicPr>
        <p:blipFill>
          <a:blip r:embed="rId4"/>
          <a:srcRect/>
          <a:stretch>
            <a:fillRect/>
          </a:stretch>
        </p:blipFill>
        <p:spPr bwMode="auto">
          <a:xfrm rot="2697410" flipH="1">
            <a:off x="6431787" y="4903046"/>
            <a:ext cx="405087" cy="387162"/>
          </a:xfrm>
          <a:prstGeom prst="rect">
            <a:avLst/>
          </a:prstGeom>
          <a:noFill/>
        </p:spPr>
      </p:pic>
      <p:pic>
        <p:nvPicPr>
          <p:cNvPr id="3" name="图片 2">
            <a:extLst>
              <a:ext uri="{FF2B5EF4-FFF2-40B4-BE49-F238E27FC236}">
                <a16:creationId xmlns:a16="http://schemas.microsoft.com/office/drawing/2014/main" id="{CA15A283-2E4B-E02F-2865-1768A95439EC}"/>
              </a:ext>
            </a:extLst>
          </p:cNvPr>
          <p:cNvPicPr>
            <a:picLocks noChangeAspect="1"/>
          </p:cNvPicPr>
          <p:nvPr/>
        </p:nvPicPr>
        <p:blipFill rotWithShape="1">
          <a:blip r:embed="rId5"/>
          <a:srcRect l="1608" t="12363" r="30557"/>
          <a:stretch/>
        </p:blipFill>
        <p:spPr>
          <a:xfrm>
            <a:off x="6999960" y="4516235"/>
            <a:ext cx="1663068" cy="1208543"/>
          </a:xfrm>
          <a:prstGeom prst="rect">
            <a:avLst/>
          </a:prstGeom>
        </p:spPr>
      </p:pic>
      <p:pic>
        <p:nvPicPr>
          <p:cNvPr id="4" name="图片 3">
            <a:extLst>
              <a:ext uri="{FF2B5EF4-FFF2-40B4-BE49-F238E27FC236}">
                <a16:creationId xmlns:a16="http://schemas.microsoft.com/office/drawing/2014/main" id="{371DA70A-D1B5-86D9-8529-A3D2FEFCCF3C}"/>
              </a:ext>
            </a:extLst>
          </p:cNvPr>
          <p:cNvPicPr>
            <a:picLocks noChangeAspect="1"/>
          </p:cNvPicPr>
          <p:nvPr/>
        </p:nvPicPr>
        <p:blipFill rotWithShape="1">
          <a:blip r:embed="rId6"/>
          <a:srcRect l="1561" b="3034"/>
          <a:stretch/>
        </p:blipFill>
        <p:spPr>
          <a:xfrm>
            <a:off x="3958084" y="4527194"/>
            <a:ext cx="2224464" cy="1208543"/>
          </a:xfrm>
          <a:prstGeom prst="rect">
            <a:avLst/>
          </a:prstGeom>
        </p:spPr>
      </p:pic>
      <p:sp>
        <p:nvSpPr>
          <p:cNvPr id="15" name="文本框 14">
            <a:extLst>
              <a:ext uri="{FF2B5EF4-FFF2-40B4-BE49-F238E27FC236}">
                <a16:creationId xmlns:a16="http://schemas.microsoft.com/office/drawing/2014/main" id="{62AC527E-A846-9924-61F1-F91AF551B4A5}"/>
              </a:ext>
            </a:extLst>
          </p:cNvPr>
          <p:cNvSpPr txBox="1"/>
          <p:nvPr/>
        </p:nvSpPr>
        <p:spPr>
          <a:xfrm>
            <a:off x="3789087" y="5956855"/>
            <a:ext cx="2621902" cy="523220"/>
          </a:xfrm>
          <a:prstGeom prst="rect">
            <a:avLst/>
          </a:prstGeom>
          <a:noFill/>
        </p:spPr>
        <p:txBody>
          <a:bodyPr wrap="square" anchor="t">
            <a:spAutoFit/>
          </a:bodyPr>
          <a:lstStyle/>
          <a:p>
            <a:pPr algn="ctr"/>
            <a:r>
              <a:rPr lang="en-US" altLang="zh-SG" sz="1400" dirty="0"/>
              <a:t>Majid et al. Design Automation Conference 2020</a:t>
            </a:r>
            <a:endParaRPr lang="zh-SG" altLang="en-US" sz="1400" dirty="0"/>
          </a:p>
        </p:txBody>
      </p:sp>
    </p:spTree>
    <p:extLst>
      <p:ext uri="{BB962C8B-B14F-4D97-AF65-F5344CB8AC3E}">
        <p14:creationId xmlns:p14="http://schemas.microsoft.com/office/powerpoint/2010/main" val="246671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704623" y="589405"/>
            <a:ext cx="11879262" cy="530614"/>
          </a:xfrm>
        </p:spPr>
        <p:txBody>
          <a:bodyPr/>
          <a:lstStyle/>
          <a:p>
            <a:r>
              <a:rPr lang="en-US" altLang="zh-CN" sz="3200" b="1" i="0" u="none" strike="noStrike" baseline="0" dirty="0"/>
              <a:t>DVFS Framework</a:t>
            </a:r>
            <a:endParaRPr lang="en-US" altLang="en-US" sz="3200" b="1" dirty="0"/>
          </a:p>
        </p:txBody>
      </p:sp>
      <p:sp>
        <p:nvSpPr>
          <p:cNvPr id="8" name="Content Placeholder 2">
            <a:extLst>
              <a:ext uri="{FF2B5EF4-FFF2-40B4-BE49-F238E27FC236}">
                <a16:creationId xmlns:a16="http://schemas.microsoft.com/office/drawing/2014/main" id="{8B786B13-6350-95EB-EFDC-65C3A4E3FD41}"/>
              </a:ext>
            </a:extLst>
          </p:cNvPr>
          <p:cNvSpPr>
            <a:spLocks noGrp="1" noChangeArrowheads="1"/>
          </p:cNvSpPr>
          <p:nvPr>
            <p:ph idx="1"/>
          </p:nvPr>
        </p:nvSpPr>
        <p:spPr>
          <a:xfrm>
            <a:off x="4990603" y="1485403"/>
            <a:ext cx="7230649" cy="3071813"/>
          </a:xfrm>
        </p:spPr>
        <p:txBody>
          <a:bodyPr/>
          <a:lstStyle/>
          <a:p>
            <a:pPr>
              <a:lnSpc>
                <a:spcPct val="150000"/>
              </a:lnSpc>
            </a:pPr>
            <a:r>
              <a:rPr lang="en-US" altLang="zh-CN" sz="2800" i="0" u="none" strike="noStrike" baseline="0" dirty="0"/>
              <a:t>Dynamic voltage and frequency scaling</a:t>
            </a:r>
          </a:p>
          <a:p>
            <a:pPr lvl="1">
              <a:lnSpc>
                <a:spcPct val="150000"/>
              </a:lnSpc>
            </a:pPr>
            <a:r>
              <a:rPr lang="en-US" altLang="zh-CN" sz="2400" i="0" u="none" strike="noStrike" baseline="0" dirty="0"/>
              <a:t>Dynamic voltage scaling (DVS)</a:t>
            </a:r>
          </a:p>
          <a:p>
            <a:pPr lvl="2">
              <a:lnSpc>
                <a:spcPct val="150000"/>
              </a:lnSpc>
            </a:pPr>
            <a:r>
              <a:rPr lang="en-US" altLang="zh-CN" i="0" u="none" strike="noStrike" baseline="0" dirty="0"/>
              <a:t>P</a:t>
            </a:r>
            <a:r>
              <a:rPr lang="en-US" altLang="zh-CN" dirty="0"/>
              <a:t>ower management IC (PMIC)</a:t>
            </a:r>
          </a:p>
          <a:p>
            <a:pPr lvl="2">
              <a:lnSpc>
                <a:spcPct val="150000"/>
              </a:lnSpc>
            </a:pPr>
            <a:r>
              <a:rPr lang="en-US" altLang="zh-CN" dirty="0"/>
              <a:t>A</a:t>
            </a:r>
            <a:r>
              <a:rPr lang="en-US" altLang="zh-CN" i="0" u="none" strike="noStrike" baseline="0" dirty="0"/>
              <a:t>ccessed via I2C interface</a:t>
            </a:r>
          </a:p>
          <a:p>
            <a:pPr lvl="1">
              <a:lnSpc>
                <a:spcPct val="150000"/>
              </a:lnSpc>
            </a:pPr>
            <a:r>
              <a:rPr lang="en-US" altLang="zh-CN" sz="2400" i="0" u="none" strike="noStrike" baseline="0" dirty="0"/>
              <a:t>Dynamic frequency scaling (DFS)</a:t>
            </a:r>
            <a:endParaRPr lang="en-US" altLang="zh-CN" i="0" u="none" strike="noStrike" baseline="0" dirty="0"/>
          </a:p>
          <a:p>
            <a:pPr lvl="2">
              <a:lnSpc>
                <a:spcPct val="150000"/>
              </a:lnSpc>
            </a:pPr>
            <a:r>
              <a:rPr lang="en-US" altLang="zh-CN" i="0" u="none" strike="noStrike" baseline="0" dirty="0"/>
              <a:t>Mixed-Mode Clock Manager (MMCM)</a:t>
            </a:r>
          </a:p>
          <a:p>
            <a:pPr lvl="2">
              <a:lnSpc>
                <a:spcPct val="150000"/>
              </a:lnSpc>
            </a:pPr>
            <a:r>
              <a:rPr lang="en-US" altLang="zh-CN" dirty="0"/>
              <a:t>A</a:t>
            </a:r>
            <a:r>
              <a:rPr lang="en-US" altLang="zh-CN" i="0" u="none" strike="noStrike" baseline="0" dirty="0"/>
              <a:t>ccessed via AXI4-Lite interface</a:t>
            </a:r>
          </a:p>
          <a:p>
            <a:pPr lvl="2">
              <a:lnSpc>
                <a:spcPct val="100000"/>
              </a:lnSpc>
            </a:pPr>
            <a:endParaRPr lang="en-US" altLang="zh-CN" dirty="0"/>
          </a:p>
          <a:p>
            <a:pPr marL="914400" lvl="2" indent="0">
              <a:lnSpc>
                <a:spcPct val="100000"/>
              </a:lnSpc>
              <a:buNone/>
            </a:pPr>
            <a:endParaRPr lang="en-US" altLang="zh-CN" dirty="0"/>
          </a:p>
          <a:p>
            <a:pPr marL="0" indent="0">
              <a:lnSpc>
                <a:spcPct val="150000"/>
              </a:lnSpc>
              <a:buNone/>
            </a:pPr>
            <a:endParaRPr lang="en-US" altLang="zh-CN" sz="1800" dirty="0"/>
          </a:p>
        </p:txBody>
      </p:sp>
      <p:pic>
        <p:nvPicPr>
          <p:cNvPr id="3" name="图片 2">
            <a:extLst>
              <a:ext uri="{FF2B5EF4-FFF2-40B4-BE49-F238E27FC236}">
                <a16:creationId xmlns:a16="http://schemas.microsoft.com/office/drawing/2014/main" id="{AB775084-65C3-89B6-0217-4E2864FDF14B}"/>
              </a:ext>
            </a:extLst>
          </p:cNvPr>
          <p:cNvPicPr>
            <a:picLocks noChangeAspect="1"/>
          </p:cNvPicPr>
          <p:nvPr/>
        </p:nvPicPr>
        <p:blipFill>
          <a:blip r:embed="rId3"/>
          <a:stretch>
            <a:fillRect/>
          </a:stretch>
        </p:blipFill>
        <p:spPr>
          <a:xfrm>
            <a:off x="806223" y="3562601"/>
            <a:ext cx="4358949" cy="1989229"/>
          </a:xfrm>
          <a:prstGeom prst="rect">
            <a:avLst/>
          </a:prstGeom>
        </p:spPr>
      </p:pic>
      <p:pic>
        <p:nvPicPr>
          <p:cNvPr id="10" name="图片 9">
            <a:extLst>
              <a:ext uri="{FF2B5EF4-FFF2-40B4-BE49-F238E27FC236}">
                <a16:creationId xmlns:a16="http://schemas.microsoft.com/office/drawing/2014/main" id="{C689D5C1-8DD9-52B3-85D8-99B5F246B021}"/>
              </a:ext>
            </a:extLst>
          </p:cNvPr>
          <p:cNvPicPr>
            <a:picLocks noChangeAspect="1"/>
          </p:cNvPicPr>
          <p:nvPr/>
        </p:nvPicPr>
        <p:blipFill>
          <a:blip r:embed="rId4"/>
          <a:stretch>
            <a:fillRect/>
          </a:stretch>
        </p:blipFill>
        <p:spPr>
          <a:xfrm>
            <a:off x="381677" y="1546477"/>
            <a:ext cx="4608926" cy="1748922"/>
          </a:xfrm>
          <a:prstGeom prst="rect">
            <a:avLst/>
          </a:prstGeom>
        </p:spPr>
      </p:pic>
    </p:spTree>
    <p:extLst>
      <p:ext uri="{BB962C8B-B14F-4D97-AF65-F5344CB8AC3E}">
        <p14:creationId xmlns:p14="http://schemas.microsoft.com/office/powerpoint/2010/main" val="209457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a:extLst>
              <a:ext uri="{FF2B5EF4-FFF2-40B4-BE49-F238E27FC236}">
                <a16:creationId xmlns:a16="http://schemas.microsoft.com/office/drawing/2014/main" id="{1F35460F-9BF7-8733-22E9-B5711BDF9F0F}"/>
              </a:ext>
            </a:extLst>
          </p:cNvPr>
          <p:cNvPicPr>
            <a:picLocks noChangeAspect="1"/>
          </p:cNvPicPr>
          <p:nvPr/>
        </p:nvPicPr>
        <p:blipFill rotWithShape="1">
          <a:blip r:embed="rId3"/>
          <a:srcRect r="34891"/>
          <a:stretch/>
        </p:blipFill>
        <p:spPr>
          <a:xfrm>
            <a:off x="9968737" y="1524950"/>
            <a:ext cx="1974633" cy="1152048"/>
          </a:xfrm>
          <a:prstGeom prst="rect">
            <a:avLst/>
          </a:prstGeom>
        </p:spPr>
      </p:pic>
      <p:pic>
        <p:nvPicPr>
          <p:cNvPr id="61" name="图片 60">
            <a:extLst>
              <a:ext uri="{FF2B5EF4-FFF2-40B4-BE49-F238E27FC236}">
                <a16:creationId xmlns:a16="http://schemas.microsoft.com/office/drawing/2014/main" id="{B1A7F255-173D-703D-EE00-DE129781DAED}"/>
              </a:ext>
            </a:extLst>
          </p:cNvPr>
          <p:cNvPicPr>
            <a:picLocks noChangeAspect="1"/>
          </p:cNvPicPr>
          <p:nvPr/>
        </p:nvPicPr>
        <p:blipFill>
          <a:blip r:embed="rId4"/>
          <a:stretch>
            <a:fillRect/>
          </a:stretch>
        </p:blipFill>
        <p:spPr>
          <a:xfrm>
            <a:off x="4737094" y="1351099"/>
            <a:ext cx="5231643" cy="1931811"/>
          </a:xfrm>
          <a:prstGeom prst="rect">
            <a:avLst/>
          </a:prstGeom>
        </p:spPr>
      </p:pic>
      <p:sp>
        <p:nvSpPr>
          <p:cNvPr id="62" name="矩形 61">
            <a:extLst>
              <a:ext uri="{FF2B5EF4-FFF2-40B4-BE49-F238E27FC236}">
                <a16:creationId xmlns:a16="http://schemas.microsoft.com/office/drawing/2014/main" id="{8F1D279F-07FC-3FBE-A22A-377668FC8957}"/>
              </a:ext>
            </a:extLst>
          </p:cNvPr>
          <p:cNvSpPr/>
          <p:nvPr/>
        </p:nvSpPr>
        <p:spPr>
          <a:xfrm>
            <a:off x="4897601" y="1254368"/>
            <a:ext cx="5129478" cy="2067142"/>
          </a:xfrm>
          <a:prstGeom prst="rect">
            <a:avLst/>
          </a:prstGeom>
          <a:solidFill>
            <a:schemeClr val="bg1">
              <a:alpha val="0"/>
            </a:schemeClr>
          </a:solid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BEA1DE57-AE54-F1FF-17A4-213A1DA48496}"/>
              </a:ext>
            </a:extLst>
          </p:cNvPr>
          <p:cNvPicPr>
            <a:picLocks noChangeAspect="1"/>
          </p:cNvPicPr>
          <p:nvPr/>
        </p:nvPicPr>
        <p:blipFill>
          <a:blip r:embed="rId4"/>
          <a:stretch>
            <a:fillRect/>
          </a:stretch>
        </p:blipFill>
        <p:spPr>
          <a:xfrm>
            <a:off x="4897600" y="4123050"/>
            <a:ext cx="5231643" cy="1931811"/>
          </a:xfrm>
          <a:prstGeom prst="rect">
            <a:avLst/>
          </a:prstGeom>
        </p:spPr>
      </p:pic>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704623" y="589405"/>
            <a:ext cx="11879262" cy="530614"/>
          </a:xfrm>
        </p:spPr>
        <p:txBody>
          <a:bodyPr/>
          <a:lstStyle/>
          <a:p>
            <a:r>
              <a:rPr lang="en-US" altLang="zh-CN" sz="3200" b="1" i="0" u="none" strike="noStrike" baseline="0" dirty="0"/>
              <a:t>Threat Model</a:t>
            </a:r>
            <a:endParaRPr lang="en-US" altLang="en-US" sz="3200" b="1" dirty="0"/>
          </a:p>
        </p:txBody>
      </p:sp>
      <p:sp>
        <p:nvSpPr>
          <p:cNvPr id="9" name="Content Placeholder 2">
            <a:extLst>
              <a:ext uri="{FF2B5EF4-FFF2-40B4-BE49-F238E27FC236}">
                <a16:creationId xmlns:a16="http://schemas.microsoft.com/office/drawing/2014/main" id="{BA8EEC30-0C62-243E-212A-DE4D8825E092}"/>
              </a:ext>
            </a:extLst>
          </p:cNvPr>
          <p:cNvSpPr txBox="1">
            <a:spLocks noChangeArrowheads="1"/>
          </p:cNvSpPr>
          <p:nvPr/>
        </p:nvSpPr>
        <p:spPr bwMode="auto">
          <a:xfrm>
            <a:off x="424842" y="1665861"/>
            <a:ext cx="4611810" cy="426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dirty="0"/>
              <a:t>Black box scenario</a:t>
            </a:r>
          </a:p>
          <a:p>
            <a:pPr lvl="1">
              <a:lnSpc>
                <a:spcPct val="100000"/>
              </a:lnSpc>
            </a:pPr>
            <a:r>
              <a:rPr lang="en-US" altLang="zh-CN" dirty="0"/>
              <a:t>Global fault injection</a:t>
            </a:r>
          </a:p>
          <a:p>
            <a:pPr lvl="2">
              <a:lnSpc>
                <a:spcPct val="100000"/>
              </a:lnSpc>
            </a:pPr>
            <a:r>
              <a:rPr lang="en-US" altLang="zh-CN" dirty="0">
                <a:latin typeface="Arial" panose="020B0604020202020204" pitchFamily="34" charset="0"/>
                <a:cs typeface="Arial" panose="020B0604020202020204" pitchFamily="34" charset="0"/>
              </a:rPr>
              <a:t>No low-level implementation and DNN details</a:t>
            </a:r>
          </a:p>
          <a:p>
            <a:pPr lvl="2">
              <a:lnSpc>
                <a:spcPct val="100000"/>
              </a:lnSpc>
            </a:pPr>
            <a:r>
              <a:rPr lang="en-US" altLang="zh-CN" dirty="0">
                <a:cs typeface="Arial" panose="020B0604020202020204" pitchFamily="34" charset="0"/>
              </a:rPr>
              <a:t>Image independent attack</a:t>
            </a:r>
            <a:endParaRPr lang="en-US" altLang="zh-CN" dirty="0"/>
          </a:p>
          <a:p>
            <a:pPr lvl="1"/>
            <a:endParaRPr lang="en-US" altLang="zh-CN" dirty="0"/>
          </a:p>
          <a:p>
            <a:pPr lvl="1"/>
            <a:r>
              <a:rPr lang="en-US" altLang="zh-CN" dirty="0"/>
              <a:t>Local fault injection</a:t>
            </a:r>
          </a:p>
          <a:p>
            <a:pPr lvl="2"/>
            <a:r>
              <a:rPr lang="en-US" altLang="zh-CN" dirty="0"/>
              <a:t>Consideration of the attack cost and </a:t>
            </a:r>
            <a:r>
              <a:rPr lang="en-US" altLang="zh-CN" dirty="0" err="1"/>
              <a:t>stealthiness</a:t>
            </a:r>
            <a:endParaRPr lang="en-US" altLang="zh-CN" dirty="0"/>
          </a:p>
          <a:p>
            <a:pPr lvl="2"/>
            <a:r>
              <a:rPr lang="en-US" altLang="zh-CN" b="0" i="0" u="none" strike="noStrike" baseline="0" dirty="0"/>
              <a:t>Short fault injection duration</a:t>
            </a:r>
          </a:p>
          <a:p>
            <a:pPr lvl="2"/>
            <a:endParaRPr lang="en-US" altLang="zh-CN" dirty="0"/>
          </a:p>
          <a:p>
            <a:pPr lvl="1"/>
            <a:endParaRPr lang="en-US" altLang="zh-CN" dirty="0">
              <a:latin typeface="Arial" panose="020B0604020202020204" pitchFamily="34" charset="0"/>
              <a:cs typeface="Arial" panose="020B0604020202020204" pitchFamily="34" charset="0"/>
            </a:endParaRPr>
          </a:p>
          <a:p>
            <a:pPr marL="0" indent="0">
              <a:lnSpc>
                <a:spcPct val="150000"/>
              </a:lnSpc>
              <a:buFont typeface="Arial" panose="020B0604020202020204" pitchFamily="34" charset="0"/>
              <a:buNone/>
            </a:pPr>
            <a:endParaRPr lang="en-US" altLang="zh-CN" sz="1800" dirty="0"/>
          </a:p>
        </p:txBody>
      </p:sp>
      <p:sp>
        <p:nvSpPr>
          <p:cNvPr id="31" name="闪电形 30">
            <a:extLst>
              <a:ext uri="{FF2B5EF4-FFF2-40B4-BE49-F238E27FC236}">
                <a16:creationId xmlns:a16="http://schemas.microsoft.com/office/drawing/2014/main" id="{DEE7F56A-2B11-2276-870F-E82662E5B425}"/>
              </a:ext>
            </a:extLst>
          </p:cNvPr>
          <p:cNvSpPr/>
          <p:nvPr/>
        </p:nvSpPr>
        <p:spPr>
          <a:xfrm>
            <a:off x="6707675" y="692554"/>
            <a:ext cx="447675" cy="457200"/>
          </a:xfrm>
          <a:prstGeom prst="lightningBol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551F2AB3-07AA-98D8-D872-0A2C5E4D3793}"/>
              </a:ext>
            </a:extLst>
          </p:cNvPr>
          <p:cNvSpPr txBox="1"/>
          <p:nvPr/>
        </p:nvSpPr>
        <p:spPr>
          <a:xfrm>
            <a:off x="5422630" y="400398"/>
            <a:ext cx="1732720" cy="369332"/>
          </a:xfrm>
          <a:prstGeom prst="rect">
            <a:avLst/>
          </a:prstGeom>
          <a:noFill/>
        </p:spPr>
        <p:txBody>
          <a:bodyPr wrap="square">
            <a:spAutoFit/>
          </a:bodyPr>
          <a:lstStyle/>
          <a:p>
            <a:pPr>
              <a:lnSpc>
                <a:spcPct val="100000"/>
              </a:lnSpc>
            </a:pPr>
            <a:r>
              <a:rPr lang="en-US" altLang="zh-CN" dirty="0"/>
              <a:t>DVFS faults</a:t>
            </a:r>
          </a:p>
        </p:txBody>
      </p:sp>
      <p:cxnSp>
        <p:nvCxnSpPr>
          <p:cNvPr id="37" name="直接箭头连接符 36">
            <a:extLst>
              <a:ext uri="{FF2B5EF4-FFF2-40B4-BE49-F238E27FC236}">
                <a16:creationId xmlns:a16="http://schemas.microsoft.com/office/drawing/2014/main" id="{771E545E-A3F6-19C8-9954-CDE2934E05A1}"/>
              </a:ext>
            </a:extLst>
          </p:cNvPr>
          <p:cNvCxnSpPr>
            <a:cxnSpLocks/>
          </p:cNvCxnSpPr>
          <p:nvPr/>
        </p:nvCxnSpPr>
        <p:spPr>
          <a:xfrm>
            <a:off x="10807278" y="2120723"/>
            <a:ext cx="513657" cy="0"/>
          </a:xfrm>
          <a:prstGeom prst="straightConnector1">
            <a:avLst/>
          </a:prstGeom>
          <a:ln w="3492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55" name="闪电形 54">
            <a:extLst>
              <a:ext uri="{FF2B5EF4-FFF2-40B4-BE49-F238E27FC236}">
                <a16:creationId xmlns:a16="http://schemas.microsoft.com/office/drawing/2014/main" id="{CD47D1BC-3BB6-9679-4CE3-361A5D705742}"/>
              </a:ext>
            </a:extLst>
          </p:cNvPr>
          <p:cNvSpPr/>
          <p:nvPr/>
        </p:nvSpPr>
        <p:spPr>
          <a:xfrm flipH="1">
            <a:off x="6806107" y="3684172"/>
            <a:ext cx="429288" cy="485998"/>
          </a:xfrm>
          <a:prstGeom prst="lightningBolt">
            <a:avLst/>
          </a:prstGeom>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72CE7AC9-8771-D9E7-E006-FF2DBEB9D23E}"/>
              </a:ext>
            </a:extLst>
          </p:cNvPr>
          <p:cNvSpPr txBox="1"/>
          <p:nvPr/>
        </p:nvSpPr>
        <p:spPr>
          <a:xfrm>
            <a:off x="7155350" y="3429000"/>
            <a:ext cx="1693613" cy="369332"/>
          </a:xfrm>
          <a:prstGeom prst="rect">
            <a:avLst/>
          </a:prstGeom>
          <a:noFill/>
        </p:spPr>
        <p:txBody>
          <a:bodyPr wrap="square">
            <a:spAutoFit/>
          </a:bodyPr>
          <a:lstStyle/>
          <a:p>
            <a:pPr>
              <a:lnSpc>
                <a:spcPct val="100000"/>
              </a:lnSpc>
            </a:pPr>
            <a:r>
              <a:rPr lang="en-US" altLang="zh-CN" dirty="0"/>
              <a:t>DVFS faults</a:t>
            </a:r>
          </a:p>
        </p:txBody>
      </p:sp>
      <p:pic>
        <p:nvPicPr>
          <p:cNvPr id="58" name="图片 57">
            <a:extLst>
              <a:ext uri="{FF2B5EF4-FFF2-40B4-BE49-F238E27FC236}">
                <a16:creationId xmlns:a16="http://schemas.microsoft.com/office/drawing/2014/main" id="{8CCBDD7F-E25B-D4A0-9D12-9A73E899039B}"/>
              </a:ext>
            </a:extLst>
          </p:cNvPr>
          <p:cNvPicPr>
            <a:picLocks noChangeAspect="1"/>
          </p:cNvPicPr>
          <p:nvPr/>
        </p:nvPicPr>
        <p:blipFill rotWithShape="1">
          <a:blip r:embed="rId3"/>
          <a:srcRect r="34891"/>
          <a:stretch/>
        </p:blipFill>
        <p:spPr>
          <a:xfrm>
            <a:off x="10027079" y="4161650"/>
            <a:ext cx="1974633" cy="1152048"/>
          </a:xfrm>
          <a:prstGeom prst="rect">
            <a:avLst/>
          </a:prstGeom>
        </p:spPr>
      </p:pic>
      <p:cxnSp>
        <p:nvCxnSpPr>
          <p:cNvPr id="59" name="直接箭头连接符 58">
            <a:extLst>
              <a:ext uri="{FF2B5EF4-FFF2-40B4-BE49-F238E27FC236}">
                <a16:creationId xmlns:a16="http://schemas.microsoft.com/office/drawing/2014/main" id="{AFED5153-8699-4CA3-FCA8-F2DDBB79B115}"/>
              </a:ext>
            </a:extLst>
          </p:cNvPr>
          <p:cNvCxnSpPr>
            <a:cxnSpLocks/>
          </p:cNvCxnSpPr>
          <p:nvPr/>
        </p:nvCxnSpPr>
        <p:spPr>
          <a:xfrm>
            <a:off x="10865620" y="4757423"/>
            <a:ext cx="513657" cy="0"/>
          </a:xfrm>
          <a:prstGeom prst="straightConnector1">
            <a:avLst/>
          </a:prstGeom>
          <a:ln w="3492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5" name="矩形 4">
            <a:extLst>
              <a:ext uri="{FF2B5EF4-FFF2-40B4-BE49-F238E27FC236}">
                <a16:creationId xmlns:a16="http://schemas.microsoft.com/office/drawing/2014/main" id="{AD1B258B-431D-6210-A586-4E9429B7BBC4}"/>
              </a:ext>
            </a:extLst>
          </p:cNvPr>
          <p:cNvSpPr/>
          <p:nvPr/>
        </p:nvSpPr>
        <p:spPr>
          <a:xfrm>
            <a:off x="6320544" y="4381500"/>
            <a:ext cx="534344" cy="932198"/>
          </a:xfrm>
          <a:prstGeom prst="rect">
            <a:avLst/>
          </a:prstGeom>
          <a:solidFill>
            <a:schemeClr val="bg1">
              <a:alpha val="0"/>
            </a:schemeClr>
          </a:solid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1044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C00521A-E862-F974-5075-88B753D68F00}"/>
              </a:ext>
            </a:extLst>
          </p:cNvPr>
          <p:cNvPicPr>
            <a:picLocks noChangeAspect="1"/>
          </p:cNvPicPr>
          <p:nvPr/>
        </p:nvPicPr>
        <p:blipFill>
          <a:blip r:embed="rId3"/>
          <a:stretch>
            <a:fillRect/>
          </a:stretch>
        </p:blipFill>
        <p:spPr>
          <a:xfrm>
            <a:off x="3133515" y="3939108"/>
            <a:ext cx="5924969" cy="2123318"/>
          </a:xfrm>
          <a:prstGeom prst="rect">
            <a:avLst/>
          </a:prstGeom>
        </p:spPr>
      </p:pic>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881905" y="625514"/>
            <a:ext cx="11879262" cy="530614"/>
          </a:xfrm>
        </p:spPr>
        <p:txBody>
          <a:bodyPr/>
          <a:lstStyle/>
          <a:p>
            <a:r>
              <a:rPr lang="en-US" altLang="zh-CN" sz="3200" b="1" i="0" u="none" strike="noStrike" baseline="0" dirty="0"/>
              <a:t>Timing Constraints and Violations</a:t>
            </a:r>
            <a:endParaRPr lang="en-US" altLang="en-US" sz="3200" b="1" dirty="0"/>
          </a:p>
        </p:txBody>
      </p:sp>
      <p:sp>
        <p:nvSpPr>
          <p:cNvPr id="8" name="Content Placeholder 2">
            <a:extLst>
              <a:ext uri="{FF2B5EF4-FFF2-40B4-BE49-F238E27FC236}">
                <a16:creationId xmlns:a16="http://schemas.microsoft.com/office/drawing/2014/main" id="{8B786B13-6350-95EB-EFDC-65C3A4E3FD41}"/>
              </a:ext>
            </a:extLst>
          </p:cNvPr>
          <p:cNvSpPr>
            <a:spLocks noGrp="1" noChangeArrowheads="1"/>
          </p:cNvSpPr>
          <p:nvPr>
            <p:ph idx="1"/>
          </p:nvPr>
        </p:nvSpPr>
        <p:spPr>
          <a:xfrm>
            <a:off x="881905" y="1359096"/>
            <a:ext cx="11219899" cy="3071813"/>
          </a:xfrm>
        </p:spPr>
        <p:txBody>
          <a:bodyPr/>
          <a:lstStyle/>
          <a:p>
            <a:pPr>
              <a:lnSpc>
                <a:spcPct val="100000"/>
              </a:lnSpc>
            </a:pPr>
            <a:r>
              <a:rPr lang="en-US" altLang="zh-CN" dirty="0"/>
              <a:t>Timing constraints of flip-flops (FFs)</a:t>
            </a:r>
          </a:p>
          <a:p>
            <a:pPr>
              <a:lnSpc>
                <a:spcPct val="100000"/>
              </a:lnSpc>
            </a:pPr>
            <a:endParaRPr lang="en-US" altLang="zh-CN" sz="1800" dirty="0"/>
          </a:p>
          <a:p>
            <a:pPr>
              <a:lnSpc>
                <a:spcPct val="100000"/>
              </a:lnSpc>
            </a:pPr>
            <a:r>
              <a:rPr lang="en-US" altLang="zh-CN" dirty="0"/>
              <a:t>Timing constraints can be violated by overclocking </a:t>
            </a:r>
            <a:r>
              <a:rPr lang="en-US" altLang="zh-CN" dirty="0">
                <a:solidFill>
                  <a:srgbClr val="FF0000"/>
                </a:solidFill>
              </a:rPr>
              <a:t>or</a:t>
            </a:r>
            <a:r>
              <a:rPr lang="en-US" altLang="zh-CN" dirty="0"/>
              <a:t> </a:t>
            </a:r>
            <a:r>
              <a:rPr lang="en-US" altLang="zh-CN" dirty="0" err="1"/>
              <a:t>undervolting</a:t>
            </a:r>
            <a:endParaRPr lang="en-US" altLang="zh-CN" dirty="0"/>
          </a:p>
          <a:p>
            <a:pPr lvl="1">
              <a:lnSpc>
                <a:spcPct val="100000"/>
              </a:lnSpc>
            </a:pPr>
            <a:r>
              <a:rPr lang="en-US" altLang="zh-CN" dirty="0"/>
              <a:t>Intermediate results corruption</a:t>
            </a:r>
          </a:p>
          <a:p>
            <a:pPr lvl="1">
              <a:lnSpc>
                <a:spcPct val="100000"/>
              </a:lnSpc>
            </a:pPr>
            <a:r>
              <a:rPr lang="en-US" altLang="zh-CN" dirty="0">
                <a:latin typeface="Arial" panose="020B0604020202020204" pitchFamily="34" charset="0"/>
                <a:cs typeface="Arial" panose="020B0604020202020204" pitchFamily="34" charset="0"/>
              </a:rPr>
              <a:t>Leave no trace or faults in the circuit</a:t>
            </a:r>
            <a:endParaRPr lang="en-US" altLang="zh-CN" i="0" u="none" strike="noStrike" baseline="0" dirty="0"/>
          </a:p>
        </p:txBody>
      </p:sp>
      <p:pic>
        <p:nvPicPr>
          <p:cNvPr id="4" name="图片 3">
            <a:extLst>
              <a:ext uri="{FF2B5EF4-FFF2-40B4-BE49-F238E27FC236}">
                <a16:creationId xmlns:a16="http://schemas.microsoft.com/office/drawing/2014/main" id="{1BD5517F-07EE-B418-AB90-C688C238260D}"/>
              </a:ext>
            </a:extLst>
          </p:cNvPr>
          <p:cNvPicPr>
            <a:picLocks noChangeAspect="1"/>
          </p:cNvPicPr>
          <p:nvPr/>
        </p:nvPicPr>
        <p:blipFill rotWithShape="1">
          <a:blip r:embed="rId4"/>
          <a:srcRect t="43927" b="1396"/>
          <a:stretch/>
        </p:blipFill>
        <p:spPr>
          <a:xfrm>
            <a:off x="3638736" y="1928954"/>
            <a:ext cx="4231020" cy="461531"/>
          </a:xfrm>
          <a:prstGeom prst="rect">
            <a:avLst/>
          </a:prstGeom>
        </p:spPr>
      </p:pic>
    </p:spTree>
    <p:extLst>
      <p:ext uri="{BB962C8B-B14F-4D97-AF65-F5344CB8AC3E}">
        <p14:creationId xmlns:p14="http://schemas.microsoft.com/office/powerpoint/2010/main" val="1348983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462028" y="744505"/>
            <a:ext cx="11879262" cy="530614"/>
          </a:xfrm>
        </p:spPr>
        <p:txBody>
          <a:bodyPr/>
          <a:lstStyle/>
          <a:p>
            <a:r>
              <a:rPr lang="en-US" altLang="zh-CN" sz="3200" b="1" i="0" u="none" strike="noStrike" baseline="0" dirty="0"/>
              <a:t>The Experiment Setup</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5428773" y="1772486"/>
            <a:ext cx="6763227"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en-US" altLang="zh-CN" b="0" i="0" u="none" strike="noStrike" baseline="0" dirty="0"/>
              <a:t>The DVS and DFS module are utilized to scale voltage and frequency </a:t>
            </a:r>
          </a:p>
          <a:p>
            <a:endParaRPr lang="en-US" altLang="zh-CN" sz="2800" b="0" i="0" u="none" strike="noStrike" baseline="0" dirty="0"/>
          </a:p>
          <a:p>
            <a:r>
              <a:rPr lang="en-US" altLang="zh-CN" sz="2800" b="0" i="0" u="none" strike="noStrike" baseline="0" dirty="0"/>
              <a:t>The </a:t>
            </a:r>
            <a:r>
              <a:rPr lang="en-US" altLang="zh-CN" sz="2800" b="0" i="0" u="none" strike="noStrike" baseline="0" dirty="0" err="1"/>
              <a:t>SkyNet</a:t>
            </a:r>
            <a:r>
              <a:rPr lang="en-US" altLang="zh-CN" sz="2800" b="0" i="0" u="none" strike="noStrike" baseline="0" dirty="0"/>
              <a:t> is written in high-level synthesis (HLS) C++</a:t>
            </a:r>
          </a:p>
          <a:p>
            <a:endParaRPr lang="en-US" altLang="zh-CN" sz="2800" b="0" i="0" u="none" strike="noStrike" baseline="0" dirty="0"/>
          </a:p>
          <a:p>
            <a:r>
              <a:rPr lang="en-US" altLang="zh-CN" sz="2800" b="0" i="0" u="none" strike="noStrike" baseline="0" dirty="0"/>
              <a:t>The Ultra96-V2 is chosen as the test platform</a:t>
            </a:r>
            <a:endParaRPr lang="zh-CN" altLang="en-US" dirty="0"/>
          </a:p>
          <a:p>
            <a:pPr algn="l">
              <a:lnSpc>
                <a:spcPct val="100000"/>
              </a:lnSpc>
            </a:pPr>
            <a:endParaRPr lang="en-US" altLang="zh-CN" b="0" i="0" u="none" strike="noStrike" baseline="0" dirty="0"/>
          </a:p>
        </p:txBody>
      </p:sp>
      <p:pic>
        <p:nvPicPr>
          <p:cNvPr id="4" name="图片 3">
            <a:extLst>
              <a:ext uri="{FF2B5EF4-FFF2-40B4-BE49-F238E27FC236}">
                <a16:creationId xmlns:a16="http://schemas.microsoft.com/office/drawing/2014/main" id="{987E2C99-265E-0BB5-7CF5-1212EB20D984}"/>
              </a:ext>
            </a:extLst>
          </p:cNvPr>
          <p:cNvPicPr>
            <a:picLocks noChangeAspect="1"/>
          </p:cNvPicPr>
          <p:nvPr/>
        </p:nvPicPr>
        <p:blipFill>
          <a:blip r:embed="rId3"/>
          <a:stretch>
            <a:fillRect/>
          </a:stretch>
        </p:blipFill>
        <p:spPr>
          <a:xfrm>
            <a:off x="308697" y="2252263"/>
            <a:ext cx="4979331" cy="2353469"/>
          </a:xfrm>
          <a:prstGeom prst="rect">
            <a:avLst/>
          </a:prstGeom>
        </p:spPr>
      </p:pic>
    </p:spTree>
    <p:extLst>
      <p:ext uri="{BB962C8B-B14F-4D97-AF65-F5344CB8AC3E}">
        <p14:creationId xmlns:p14="http://schemas.microsoft.com/office/powerpoint/2010/main" val="1473012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529832" y="546626"/>
            <a:ext cx="11879262" cy="530614"/>
          </a:xfrm>
        </p:spPr>
        <p:txBody>
          <a:bodyPr/>
          <a:lstStyle/>
          <a:p>
            <a:r>
              <a:rPr lang="en-US" altLang="zh-CN" sz="3200" b="1" i="0" u="none" strike="noStrike" baseline="0" dirty="0"/>
              <a:t>Characterization of Regulator Limits</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660461" y="1453839"/>
            <a:ext cx="5678756"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en-US" altLang="zh-SG" sz="2400" dirty="0">
                <a:latin typeface="Arial" panose="020B0604020202020204" pitchFamily="34" charset="0"/>
                <a:cs typeface="Arial" panose="020B0604020202020204" pitchFamily="34" charset="0"/>
              </a:rPr>
              <a:t>Validation set of DAC-SDC 2019</a:t>
            </a:r>
          </a:p>
          <a:p>
            <a:pPr lvl="1">
              <a:lnSpc>
                <a:spcPct val="100000"/>
              </a:lnSpc>
            </a:pPr>
            <a:r>
              <a:rPr lang="en-US" altLang="zh-CN" sz="1800" dirty="0">
                <a:latin typeface="Arial" panose="020B0604020202020204" pitchFamily="34" charset="0"/>
                <a:cs typeface="Arial" panose="020B0604020202020204" pitchFamily="34" charset="0"/>
              </a:rPr>
              <a:t>1000 images</a:t>
            </a:r>
            <a:endParaRPr lang="en-US" altLang="zh-CN" sz="1800" b="0" i="0" u="none" strike="noStrike" baseline="0" dirty="0">
              <a:latin typeface="Arial" panose="020B0604020202020204" pitchFamily="34" charset="0"/>
              <a:cs typeface="Arial" panose="020B0604020202020204" pitchFamily="34" charset="0"/>
            </a:endParaRPr>
          </a:p>
          <a:p>
            <a:pPr>
              <a:lnSpc>
                <a:spcPct val="100000"/>
              </a:lnSpc>
            </a:pPr>
            <a:endParaRPr lang="en-US" altLang="zh-CN" sz="2400" b="0" i="0" u="none" strike="noStrike" baseline="0" dirty="0">
              <a:latin typeface="Arial" panose="020B0604020202020204" pitchFamily="34" charset="0"/>
              <a:cs typeface="Arial" panose="020B0604020202020204" pitchFamily="34" charset="0"/>
            </a:endParaRPr>
          </a:p>
          <a:p>
            <a:pPr>
              <a:lnSpc>
                <a:spcPct val="100000"/>
              </a:lnSpc>
            </a:pPr>
            <a:r>
              <a:rPr lang="en-US" altLang="zh-CN" sz="2400" b="0" i="0" u="none" strike="noStrike" baseline="0" dirty="0">
                <a:latin typeface="Arial" panose="020B0604020202020204" pitchFamily="34" charset="0"/>
                <a:cs typeface="Arial" panose="020B0604020202020204" pitchFamily="34" charset="0"/>
              </a:rPr>
              <a:t>Operating Point Pairs (</a:t>
            </a:r>
            <a:r>
              <a:rPr lang="en-US" altLang="zh-CN" sz="2400" dirty="0">
                <a:latin typeface="Arial" panose="020B0604020202020204" pitchFamily="34" charset="0"/>
                <a:cs typeface="Arial" panose="020B0604020202020204" pitchFamily="34" charset="0"/>
              </a:rPr>
              <a:t>OPPs)</a:t>
            </a:r>
            <a:endParaRPr lang="en-US" altLang="zh-CN" sz="2400" b="0" i="0" u="none" strike="noStrike" baseline="0" dirty="0">
              <a:latin typeface="Arial" panose="020B0604020202020204" pitchFamily="34" charset="0"/>
              <a:cs typeface="Arial" panose="020B0604020202020204" pitchFamily="34" charset="0"/>
            </a:endParaRPr>
          </a:p>
          <a:p>
            <a:pPr lvl="1">
              <a:lnSpc>
                <a:spcPct val="100000"/>
              </a:lnSpc>
            </a:pPr>
            <a:r>
              <a:rPr lang="en-US" altLang="zh-CN" sz="1800" dirty="0">
                <a:latin typeface="Arial" panose="020B0604020202020204" pitchFamily="34" charset="0"/>
                <a:cs typeface="Arial" panose="020B0604020202020204" pitchFamily="34" charset="0"/>
              </a:rPr>
              <a:t>Scan range</a:t>
            </a:r>
            <a:r>
              <a:rPr lang="zh-CN" altLang="en-US" sz="1800"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voltage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580mV ~ 1100mV</a:t>
            </a:r>
            <a:r>
              <a:rPr lang="zh-CN" altLang="en-US" sz="1800"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frequency 250MHz ~ 480MHz</a:t>
            </a:r>
          </a:p>
          <a:p>
            <a:pPr lvl="1">
              <a:lnSpc>
                <a:spcPct val="100000"/>
              </a:lnSpc>
            </a:pPr>
            <a:r>
              <a:rPr lang="en-US" altLang="zh-CN" sz="1800" b="0" i="0" u="none" strike="noStrike" baseline="0" dirty="0">
                <a:latin typeface="Arial" panose="020B0604020202020204" pitchFamily="34" charset="0"/>
                <a:cs typeface="Arial" panose="020B0604020202020204" pitchFamily="34" charset="0"/>
              </a:rPr>
              <a:t>Scan step</a:t>
            </a:r>
            <a:r>
              <a:rPr lang="zh-CN" altLang="en-US" sz="1800"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voltage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10mV</a:t>
            </a:r>
            <a:r>
              <a:rPr lang="zh-CN" altLang="en-US" sz="1800"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frequency 5MHz</a:t>
            </a:r>
          </a:p>
          <a:p>
            <a:pPr algn="l">
              <a:lnSpc>
                <a:spcPct val="100000"/>
              </a:lnSpc>
            </a:pPr>
            <a:endParaRPr lang="en-US" altLang="zh-CN" sz="2400" dirty="0">
              <a:latin typeface="Arial" panose="020B0604020202020204" pitchFamily="34" charset="0"/>
              <a:cs typeface="Arial" panose="020B0604020202020204" pitchFamily="34" charset="0"/>
            </a:endParaRPr>
          </a:p>
          <a:p>
            <a:pPr algn="l">
              <a:lnSpc>
                <a:spcPct val="100000"/>
              </a:lnSpc>
            </a:pPr>
            <a:r>
              <a:rPr lang="en-US" altLang="zh-CN" sz="2400" dirty="0">
                <a:latin typeface="Arial" panose="020B0604020202020204" pitchFamily="34" charset="0"/>
                <a:cs typeface="Arial" panose="020B0604020202020204" pitchFamily="34" charset="0"/>
              </a:rPr>
              <a:t>Determines the OPPs’ range where the accelerator will not crash or hang</a:t>
            </a:r>
          </a:p>
        </p:txBody>
      </p:sp>
      <p:pic>
        <p:nvPicPr>
          <p:cNvPr id="5" name="图片 4">
            <a:extLst>
              <a:ext uri="{FF2B5EF4-FFF2-40B4-BE49-F238E27FC236}">
                <a16:creationId xmlns:a16="http://schemas.microsoft.com/office/drawing/2014/main" id="{EBD7F840-AAA1-164E-4755-E2D24A42F588}"/>
              </a:ext>
            </a:extLst>
          </p:cNvPr>
          <p:cNvPicPr>
            <a:picLocks noChangeAspect="1"/>
          </p:cNvPicPr>
          <p:nvPr/>
        </p:nvPicPr>
        <p:blipFill>
          <a:blip r:embed="rId3"/>
          <a:stretch>
            <a:fillRect/>
          </a:stretch>
        </p:blipFill>
        <p:spPr>
          <a:xfrm>
            <a:off x="6339217" y="1453839"/>
            <a:ext cx="5726505" cy="4126054"/>
          </a:xfrm>
          <a:prstGeom prst="rect">
            <a:avLst/>
          </a:prstGeom>
        </p:spPr>
      </p:pic>
    </p:spTree>
    <p:extLst>
      <p:ext uri="{BB962C8B-B14F-4D97-AF65-F5344CB8AC3E}">
        <p14:creationId xmlns:p14="http://schemas.microsoft.com/office/powerpoint/2010/main" val="110114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660461" y="548569"/>
            <a:ext cx="11879262" cy="530614"/>
          </a:xfrm>
        </p:spPr>
        <p:txBody>
          <a:bodyPr/>
          <a:lstStyle/>
          <a:p>
            <a:r>
              <a:rPr lang="en-US" altLang="zh-CN" sz="3200" b="1" i="0" u="none" strike="noStrike" baseline="0" dirty="0"/>
              <a:t>Global Fault Injection</a:t>
            </a:r>
            <a:endParaRPr lang="en-US" altLang="en-US" sz="3200" b="1" dirty="0"/>
          </a:p>
        </p:txBody>
      </p:sp>
      <p:pic>
        <p:nvPicPr>
          <p:cNvPr id="3" name="图片 2">
            <a:extLst>
              <a:ext uri="{FF2B5EF4-FFF2-40B4-BE49-F238E27FC236}">
                <a16:creationId xmlns:a16="http://schemas.microsoft.com/office/drawing/2014/main" id="{D69373C1-4A6D-1C24-6002-0A476698FBCA}"/>
              </a:ext>
            </a:extLst>
          </p:cNvPr>
          <p:cNvPicPr>
            <a:picLocks noChangeAspect="1"/>
          </p:cNvPicPr>
          <p:nvPr/>
        </p:nvPicPr>
        <p:blipFill>
          <a:blip r:embed="rId3"/>
          <a:stretch>
            <a:fillRect/>
          </a:stretch>
        </p:blipFill>
        <p:spPr>
          <a:xfrm>
            <a:off x="295656" y="1658952"/>
            <a:ext cx="5401617" cy="3540095"/>
          </a:xfrm>
          <a:prstGeom prst="rect">
            <a:avLst/>
          </a:prstGeom>
        </p:spPr>
      </p:pic>
      <p:sp>
        <p:nvSpPr>
          <p:cNvPr id="12" name="Content Placeholder 2">
            <a:extLst>
              <a:ext uri="{FF2B5EF4-FFF2-40B4-BE49-F238E27FC236}">
                <a16:creationId xmlns:a16="http://schemas.microsoft.com/office/drawing/2014/main" id="{05CBC3A7-8BD3-70B4-E3E1-D2970CE358BE}"/>
              </a:ext>
            </a:extLst>
          </p:cNvPr>
          <p:cNvSpPr txBox="1">
            <a:spLocks noChangeArrowheads="1"/>
          </p:cNvSpPr>
          <p:nvPr/>
        </p:nvSpPr>
        <p:spPr bwMode="auto">
          <a:xfrm>
            <a:off x="5477069" y="1785141"/>
            <a:ext cx="6301274"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n-US" altLang="zh-CN" dirty="0">
                <a:latin typeface="Arial" panose="020B0604020202020204" pitchFamily="34" charset="0"/>
                <a:cs typeface="Arial" panose="020B0604020202020204" pitchFamily="34" charset="0"/>
              </a:rPr>
              <a:t>Accuracy loss threshold</a:t>
            </a:r>
          </a:p>
          <a:p>
            <a:pPr lvl="1">
              <a:lnSpc>
                <a:spcPct val="150000"/>
              </a:lnSpc>
            </a:pPr>
            <a:r>
              <a:rPr lang="en-US" altLang="zh-CN" sz="2000" dirty="0">
                <a:latin typeface="Arial" panose="020B0604020202020204" pitchFamily="34" charset="0"/>
                <a:cs typeface="Arial" panose="020B0604020202020204" pitchFamily="34" charset="0"/>
              </a:rPr>
              <a:t>A</a:t>
            </a:r>
            <a:r>
              <a:rPr lang="en-US" altLang="zh-CN" sz="2000" b="0" i="0" u="none" strike="noStrike" baseline="0" dirty="0">
                <a:latin typeface="Arial" panose="020B0604020202020204" pitchFamily="34" charset="0"/>
                <a:cs typeface="Arial" panose="020B0604020202020204" pitchFamily="34" charset="0"/>
              </a:rPr>
              <a:t>verage </a:t>
            </a:r>
            <a:r>
              <a:rPr lang="en-US" altLang="zh-CN" sz="2000" b="0" i="0" u="none" strike="noStrike" baseline="0" dirty="0" err="1">
                <a:latin typeface="Arial" panose="020B0604020202020204" pitchFamily="34" charset="0"/>
                <a:cs typeface="Arial" panose="020B0604020202020204" pitchFamily="34" charset="0"/>
              </a:rPr>
              <a:t>IoU</a:t>
            </a:r>
            <a:r>
              <a:rPr lang="en-US" altLang="zh-CN" sz="2000" b="0" i="0" u="none" strike="noStrike" baseline="0" dirty="0">
                <a:latin typeface="Arial" panose="020B0604020202020204" pitchFamily="34" charset="0"/>
                <a:cs typeface="Arial" panose="020B0604020202020204" pitchFamily="34" charset="0"/>
              </a:rPr>
              <a:t> will drop from 1</a:t>
            </a:r>
            <a:endParaRPr lang="en-US" altLang="zh-CN" sz="2000" dirty="0">
              <a:latin typeface="Arial" panose="020B0604020202020204" pitchFamily="34" charset="0"/>
              <a:cs typeface="Arial" panose="020B0604020202020204" pitchFamily="34" charset="0"/>
            </a:endParaRPr>
          </a:p>
          <a:p>
            <a:pPr algn="l">
              <a:lnSpc>
                <a:spcPct val="150000"/>
              </a:lnSpc>
            </a:pPr>
            <a:r>
              <a:rPr lang="en-US" altLang="zh-CN" dirty="0">
                <a:latin typeface="Arial" panose="020B0604020202020204" pitchFamily="34" charset="0"/>
                <a:cs typeface="Arial" panose="020B0604020202020204" pitchFamily="34" charset="0"/>
              </a:rPr>
              <a:t>&gt; 98% accuracy loss on the </a:t>
            </a:r>
            <a:r>
              <a:rPr lang="en-US" altLang="zh-CN" dirty="0" err="1">
                <a:latin typeface="Arial" panose="020B0604020202020204" pitchFamily="34" charset="0"/>
                <a:cs typeface="Arial" panose="020B0604020202020204" pitchFamily="34" charset="0"/>
              </a:rPr>
              <a:t>SkyNet</a:t>
            </a:r>
            <a:endParaRPr lang="en-US" altLang="zh-CN" dirty="0">
              <a:latin typeface="Arial" panose="020B0604020202020204" pitchFamily="34" charset="0"/>
              <a:cs typeface="Arial" panose="020B0604020202020204" pitchFamily="34" charset="0"/>
            </a:endParaRPr>
          </a:p>
          <a:p>
            <a:pPr algn="l">
              <a:lnSpc>
                <a:spcPct val="150000"/>
              </a:lnSpc>
            </a:pPr>
            <a:r>
              <a:rPr lang="en-US" altLang="zh-CN" dirty="0">
                <a:latin typeface="Arial" panose="020B0604020202020204" pitchFamily="34" charset="0"/>
                <a:cs typeface="Arial" panose="020B0604020202020204" pitchFamily="34" charset="0"/>
              </a:rPr>
              <a:t>Without hang or crash</a:t>
            </a:r>
            <a:endParaRPr lang="en-US" altLang="zh-CN" dirty="0"/>
          </a:p>
        </p:txBody>
      </p:sp>
    </p:spTree>
    <p:extLst>
      <p:ext uri="{BB962C8B-B14F-4D97-AF65-F5344CB8AC3E}">
        <p14:creationId xmlns:p14="http://schemas.microsoft.com/office/powerpoint/2010/main" val="2968597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660461" y="548569"/>
            <a:ext cx="11879262" cy="530614"/>
          </a:xfrm>
        </p:spPr>
        <p:txBody>
          <a:bodyPr/>
          <a:lstStyle/>
          <a:p>
            <a:r>
              <a:rPr lang="en-US" altLang="zh-CN" sz="3200" b="1" i="0" u="none" strike="noStrike" baseline="0" dirty="0"/>
              <a:t>Global Fault Injection</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6600092" y="2102912"/>
            <a:ext cx="5192324"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n-US" altLang="zh-CN" dirty="0">
                <a:latin typeface="Arial" panose="020B0604020202020204" pitchFamily="34" charset="0"/>
                <a:cs typeface="Arial" panose="020B0604020202020204" pitchFamily="34" charset="0"/>
              </a:rPr>
              <a:t>Random faults induced</a:t>
            </a:r>
          </a:p>
          <a:p>
            <a:pPr algn="l">
              <a:lnSpc>
                <a:spcPct val="150000"/>
              </a:lnSpc>
            </a:pPr>
            <a:r>
              <a:rPr lang="en-US" altLang="zh-CN" dirty="0">
                <a:latin typeface="Arial" panose="020B0604020202020204" pitchFamily="34" charset="0"/>
                <a:cs typeface="Arial" panose="020B0604020202020204" pitchFamily="34" charset="0"/>
              </a:rPr>
              <a:t>&gt; 95% accuracy loss on randomly selected images  </a:t>
            </a:r>
          </a:p>
          <a:p>
            <a:pPr algn="l">
              <a:lnSpc>
                <a:spcPct val="150000"/>
              </a:lnSpc>
            </a:pPr>
            <a:endParaRPr lang="en-US" altLang="zh-CN" dirty="0">
              <a:latin typeface="Arial" panose="020B0604020202020204" pitchFamily="34" charset="0"/>
              <a:cs typeface="Arial" panose="020B0604020202020204" pitchFamily="34" charset="0"/>
            </a:endParaRPr>
          </a:p>
        </p:txBody>
      </p:sp>
      <p:pic>
        <p:nvPicPr>
          <p:cNvPr id="8" name="图片 7">
            <a:extLst>
              <a:ext uri="{FF2B5EF4-FFF2-40B4-BE49-F238E27FC236}">
                <a16:creationId xmlns:a16="http://schemas.microsoft.com/office/drawing/2014/main" id="{15E22E76-616D-6433-DC1D-0560B7F56E1A}"/>
              </a:ext>
            </a:extLst>
          </p:cNvPr>
          <p:cNvPicPr>
            <a:picLocks noChangeAspect="1"/>
          </p:cNvPicPr>
          <p:nvPr/>
        </p:nvPicPr>
        <p:blipFill>
          <a:blip r:embed="rId3"/>
          <a:stretch>
            <a:fillRect/>
          </a:stretch>
        </p:blipFill>
        <p:spPr>
          <a:xfrm>
            <a:off x="660462" y="1833483"/>
            <a:ext cx="2539670" cy="1428564"/>
          </a:xfrm>
          <a:prstGeom prst="rect">
            <a:avLst/>
          </a:prstGeom>
        </p:spPr>
      </p:pic>
      <p:pic>
        <p:nvPicPr>
          <p:cNvPr id="9" name="图片 8">
            <a:extLst>
              <a:ext uri="{FF2B5EF4-FFF2-40B4-BE49-F238E27FC236}">
                <a16:creationId xmlns:a16="http://schemas.microsoft.com/office/drawing/2014/main" id="{7DEE7F29-213C-BF6C-637B-07E12C4E8AC0}"/>
              </a:ext>
            </a:extLst>
          </p:cNvPr>
          <p:cNvPicPr>
            <a:picLocks noChangeAspect="1"/>
          </p:cNvPicPr>
          <p:nvPr/>
        </p:nvPicPr>
        <p:blipFill>
          <a:blip r:embed="rId4"/>
          <a:stretch>
            <a:fillRect/>
          </a:stretch>
        </p:blipFill>
        <p:spPr>
          <a:xfrm>
            <a:off x="3200132" y="1841816"/>
            <a:ext cx="2539671" cy="1428564"/>
          </a:xfrm>
          <a:prstGeom prst="rect">
            <a:avLst/>
          </a:prstGeom>
        </p:spPr>
      </p:pic>
      <p:pic>
        <p:nvPicPr>
          <p:cNvPr id="10" name="图片 9">
            <a:extLst>
              <a:ext uri="{FF2B5EF4-FFF2-40B4-BE49-F238E27FC236}">
                <a16:creationId xmlns:a16="http://schemas.microsoft.com/office/drawing/2014/main" id="{C51D95D1-E85F-BB70-A877-AB3A711BE3B4}"/>
              </a:ext>
            </a:extLst>
          </p:cNvPr>
          <p:cNvPicPr>
            <a:picLocks noChangeAspect="1"/>
          </p:cNvPicPr>
          <p:nvPr/>
        </p:nvPicPr>
        <p:blipFill>
          <a:blip r:embed="rId5"/>
          <a:stretch>
            <a:fillRect/>
          </a:stretch>
        </p:blipFill>
        <p:spPr>
          <a:xfrm>
            <a:off x="660461" y="3262046"/>
            <a:ext cx="2539671" cy="1428565"/>
          </a:xfrm>
          <a:prstGeom prst="rect">
            <a:avLst/>
          </a:prstGeom>
        </p:spPr>
      </p:pic>
      <p:pic>
        <p:nvPicPr>
          <p:cNvPr id="11" name="图片 10">
            <a:extLst>
              <a:ext uri="{FF2B5EF4-FFF2-40B4-BE49-F238E27FC236}">
                <a16:creationId xmlns:a16="http://schemas.microsoft.com/office/drawing/2014/main" id="{9A311772-5485-6F2C-1F2C-034576E707DC}"/>
              </a:ext>
            </a:extLst>
          </p:cNvPr>
          <p:cNvPicPr>
            <a:picLocks noChangeAspect="1"/>
          </p:cNvPicPr>
          <p:nvPr/>
        </p:nvPicPr>
        <p:blipFill>
          <a:blip r:embed="rId6"/>
          <a:stretch>
            <a:fillRect/>
          </a:stretch>
        </p:blipFill>
        <p:spPr>
          <a:xfrm>
            <a:off x="3200131" y="3262047"/>
            <a:ext cx="2539671" cy="1428565"/>
          </a:xfrm>
          <a:prstGeom prst="rect">
            <a:avLst/>
          </a:prstGeom>
        </p:spPr>
      </p:pic>
    </p:spTree>
    <p:extLst>
      <p:ext uri="{BB962C8B-B14F-4D97-AF65-F5344CB8AC3E}">
        <p14:creationId xmlns:p14="http://schemas.microsoft.com/office/powerpoint/2010/main" val="158240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C82E930-C071-D23C-E48C-85290B6D0F16}"/>
              </a:ext>
            </a:extLst>
          </p:cNvPr>
          <p:cNvPicPr>
            <a:picLocks noChangeAspect="1"/>
          </p:cNvPicPr>
          <p:nvPr/>
        </p:nvPicPr>
        <p:blipFill>
          <a:blip r:embed="rId3"/>
          <a:stretch>
            <a:fillRect/>
          </a:stretch>
        </p:blipFill>
        <p:spPr>
          <a:xfrm>
            <a:off x="6904651" y="1487092"/>
            <a:ext cx="4945809" cy="3520745"/>
          </a:xfrm>
          <a:prstGeom prst="rect">
            <a:avLst/>
          </a:prstGeom>
        </p:spPr>
      </p:pic>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660458" y="632308"/>
            <a:ext cx="11879262" cy="530614"/>
          </a:xfrm>
        </p:spPr>
        <p:txBody>
          <a:bodyPr/>
          <a:lstStyle/>
          <a:p>
            <a:r>
              <a:rPr lang="en-US" altLang="zh-CN" sz="3200" b="1" i="0" u="none" strike="noStrike" baseline="0" dirty="0"/>
              <a:t>Local Fault Injection</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579082" y="1892800"/>
            <a:ext cx="6456199"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n-US" altLang="zh-CN" sz="2400" b="0" i="0" u="none" strike="noStrike" baseline="0" dirty="0">
                <a:latin typeface="Arial" panose="020B0604020202020204" pitchFamily="34" charset="0"/>
                <a:cs typeface="Arial" panose="020B0604020202020204" pitchFamily="34" charset="0"/>
              </a:rPr>
              <a:t>Layers </a:t>
            </a:r>
            <a:r>
              <a:rPr lang="en-US" altLang="zh-CN" sz="2400" dirty="0">
                <a:latin typeface="Arial" panose="020B0604020202020204" pitchFamily="34" charset="0"/>
                <a:cs typeface="Arial" panose="020B0604020202020204" pitchFamily="34" charset="0"/>
              </a:rPr>
              <a:t>e</a:t>
            </a:r>
            <a:r>
              <a:rPr lang="en-US" altLang="zh-CN" sz="2400" b="0" i="0" u="none" strike="noStrike" baseline="0" dirty="0">
                <a:latin typeface="Arial" panose="020B0604020202020204" pitchFamily="34" charset="0"/>
                <a:cs typeface="Arial" panose="020B0604020202020204" pitchFamily="34" charset="0"/>
              </a:rPr>
              <a:t>stimated as red dots</a:t>
            </a:r>
          </a:p>
          <a:p>
            <a:pPr algn="l">
              <a:lnSpc>
                <a:spcPct val="150000"/>
              </a:lnSpc>
            </a:pPr>
            <a:r>
              <a:rPr lang="en-US" altLang="zh-CN" sz="2400" dirty="0">
                <a:latin typeface="Arial" panose="020B0604020202020204" pitchFamily="34" charset="0"/>
                <a:cs typeface="Arial" panose="020B0604020202020204" pitchFamily="34" charset="0"/>
              </a:rPr>
              <a:t>F</a:t>
            </a:r>
            <a:r>
              <a:rPr lang="en-US" altLang="zh-CN" sz="2400" b="0" i="0" u="none" strike="noStrike" baseline="0" dirty="0">
                <a:latin typeface="Arial" panose="020B0604020202020204" pitchFamily="34" charset="0"/>
                <a:cs typeface="Arial" panose="020B0604020202020204" pitchFamily="34" charset="0"/>
              </a:rPr>
              <a:t>irst 11 layers of </a:t>
            </a:r>
            <a:r>
              <a:rPr lang="en-US" altLang="zh-CN" sz="2400" b="0" i="0" u="none" strike="noStrike" baseline="0" dirty="0" err="1">
                <a:latin typeface="Arial" panose="020B0604020202020204" pitchFamily="34" charset="0"/>
                <a:cs typeface="Arial" panose="020B0604020202020204" pitchFamily="34" charset="0"/>
              </a:rPr>
              <a:t>SkyNet</a:t>
            </a:r>
            <a:r>
              <a:rPr lang="en-US" altLang="zh-CN" sz="2400" b="0" i="0" u="none" strike="noStrike" baseline="0" dirty="0">
                <a:latin typeface="Arial" panose="020B0604020202020204" pitchFamily="34" charset="0"/>
                <a:cs typeface="Arial" panose="020B0604020202020204" pitchFamily="34" charset="0"/>
              </a:rPr>
              <a:t> are </a:t>
            </a:r>
            <a:r>
              <a:rPr lang="en-US" altLang="zh-CN" sz="2400" dirty="0">
                <a:latin typeface="Arial" panose="020B0604020202020204" pitchFamily="34" charset="0"/>
                <a:cs typeface="Arial" panose="020B0604020202020204" pitchFamily="34" charset="0"/>
              </a:rPr>
              <a:t>easier to be affected</a:t>
            </a:r>
          </a:p>
          <a:p>
            <a:pPr algn="l">
              <a:lnSpc>
                <a:spcPct val="150000"/>
              </a:lnSpc>
            </a:pPr>
            <a:r>
              <a:rPr lang="en-US" altLang="zh-CN" sz="2400" dirty="0">
                <a:latin typeface="Arial" panose="020B0604020202020204" pitchFamily="34" charset="0"/>
                <a:cs typeface="Arial" panose="020B0604020202020204" pitchFamily="34" charset="0"/>
              </a:rPr>
              <a:t>95.00% accuracy loss probability and 59.20% accuracy loss under 1ms duration</a:t>
            </a:r>
          </a:p>
          <a:p>
            <a:pPr algn="l">
              <a:lnSpc>
                <a:spcPct val="150000"/>
              </a:lnSpc>
            </a:pPr>
            <a:endParaRPr lang="en-US" altLang="zh-CN" sz="2400" b="0" i="0" u="none" strike="noStrike" baseline="0" dirty="0">
              <a:latin typeface="Arial" panose="020B0604020202020204" pitchFamily="34" charset="0"/>
              <a:cs typeface="Arial" panose="020B0604020202020204" pitchFamily="34" charset="0"/>
            </a:endParaRPr>
          </a:p>
          <a:p>
            <a:pPr algn="l">
              <a:lnSpc>
                <a:spcPct val="150000"/>
              </a:lnSpc>
            </a:pPr>
            <a:endParaRPr lang="en-US" altLang="zh-CN" sz="24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C9E2FB8C-D87A-840B-CB09-5233461484E2}"/>
              </a:ext>
            </a:extLst>
          </p:cNvPr>
          <p:cNvSpPr txBox="1"/>
          <p:nvPr/>
        </p:nvSpPr>
        <p:spPr>
          <a:xfrm>
            <a:off x="8248260" y="4907832"/>
            <a:ext cx="6270170" cy="463075"/>
          </a:xfrm>
          <a:prstGeom prst="rect">
            <a:avLst/>
          </a:prstGeom>
          <a:noFill/>
        </p:spPr>
        <p:txBody>
          <a:bodyPr wrap="square">
            <a:spAutoFit/>
          </a:bodyPr>
          <a:lstStyle/>
          <a:p>
            <a:pPr algn="l">
              <a:lnSpc>
                <a:spcPct val="150000"/>
              </a:lnSpc>
            </a:pPr>
            <a:r>
              <a:rPr lang="en-US" altLang="zh-CN" sz="1800" b="0" i="0" u="none" strike="noStrike" baseline="0" dirty="0">
                <a:latin typeface="LinLibertineT"/>
              </a:rPr>
              <a:t> </a:t>
            </a:r>
            <a:r>
              <a:rPr lang="en-US" altLang="zh-CN" sz="1800" dirty="0">
                <a:ea typeface="仿宋" panose="02010609060101010101" pitchFamily="49" charset="-122"/>
              </a:rPr>
              <a:t>(</a:t>
            </a:r>
            <a:r>
              <a:rPr lang="en-US" altLang="zh-CN" sz="1800" b="0" i="0" u="none" strike="noStrike" baseline="0" dirty="0">
                <a:ea typeface="仿宋" panose="02010609060101010101" pitchFamily="49" charset="-122"/>
              </a:rPr>
              <a:t>350MHz, 700mV</a:t>
            </a:r>
            <a:r>
              <a:rPr lang="en-US" altLang="zh-CN" sz="1800" dirty="0">
                <a:ea typeface="仿宋" panose="02010609060101010101" pitchFamily="49" charset="-122"/>
              </a:rPr>
              <a:t>)</a:t>
            </a:r>
          </a:p>
        </p:txBody>
      </p:sp>
    </p:spTree>
    <p:extLst>
      <p:ext uri="{BB962C8B-B14F-4D97-AF65-F5344CB8AC3E}">
        <p14:creationId xmlns:p14="http://schemas.microsoft.com/office/powerpoint/2010/main" val="904342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660458" y="629608"/>
            <a:ext cx="11879262" cy="530614"/>
          </a:xfrm>
        </p:spPr>
        <p:txBody>
          <a:bodyPr/>
          <a:lstStyle/>
          <a:p>
            <a:r>
              <a:rPr lang="en-US" altLang="zh-CN" sz="3200" b="1" i="0" u="none" strike="noStrike" baseline="0" dirty="0"/>
              <a:t>Local Fault Injection</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660458" y="1289700"/>
            <a:ext cx="11385362"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en-US" altLang="zh-CN" sz="2400" dirty="0">
                <a:latin typeface="Arial" panose="020B0604020202020204" pitchFamily="34" charset="0"/>
                <a:cs typeface="Arial" panose="020B0604020202020204" pitchFamily="34" charset="0"/>
              </a:rPr>
              <a:t>1 </a:t>
            </a:r>
            <a:r>
              <a:rPr lang="en-US" altLang="zh-CN" sz="2400" dirty="0" err="1">
                <a:latin typeface="Arial" panose="020B0604020202020204" pitchFamily="34" charset="0"/>
                <a:cs typeface="Arial" panose="020B0604020202020204" pitchFamily="34" charset="0"/>
              </a:rPr>
              <a:t>ms</a:t>
            </a:r>
            <a:r>
              <a:rPr lang="en-US" altLang="zh-CN" sz="2400" dirty="0">
                <a:latin typeface="Arial" panose="020B0604020202020204" pitchFamily="34" charset="0"/>
                <a:cs typeface="Arial" panose="020B0604020202020204" pitchFamily="34" charset="0"/>
              </a:rPr>
              <a:t> durations is enough to induce effective faults</a:t>
            </a:r>
          </a:p>
          <a:p>
            <a:pPr algn="l">
              <a:lnSpc>
                <a:spcPct val="100000"/>
              </a:lnSpc>
            </a:pPr>
            <a:r>
              <a:rPr lang="en-US" altLang="zh-CN" sz="2400" b="0" i="0" u="none" strike="noStrike" baseline="0" dirty="0">
                <a:latin typeface="Arial" panose="020B0604020202020204" pitchFamily="34" charset="0"/>
                <a:cs typeface="Arial" panose="020B0604020202020204" pitchFamily="34" charset="0"/>
              </a:rPr>
              <a:t>95.45% accuracy loss probability and 74.44% accuracy loss through doubling the fault injection density</a:t>
            </a:r>
          </a:p>
          <a:p>
            <a:pPr algn="l">
              <a:lnSpc>
                <a:spcPct val="150000"/>
              </a:lnSpc>
            </a:pPr>
            <a:endParaRPr lang="en-US" altLang="zh-CN" sz="1800" dirty="0">
              <a:ea typeface="仿宋" panose="02010609060101010101" pitchFamily="49" charset="-122"/>
            </a:endParaRPr>
          </a:p>
        </p:txBody>
      </p:sp>
      <p:pic>
        <p:nvPicPr>
          <p:cNvPr id="3" name="图片 2">
            <a:extLst>
              <a:ext uri="{FF2B5EF4-FFF2-40B4-BE49-F238E27FC236}">
                <a16:creationId xmlns:a16="http://schemas.microsoft.com/office/drawing/2014/main" id="{F0C57BAF-0605-28DA-2EA3-53B4975D3D23}"/>
              </a:ext>
            </a:extLst>
          </p:cNvPr>
          <p:cNvPicPr>
            <a:picLocks noChangeAspect="1"/>
          </p:cNvPicPr>
          <p:nvPr/>
        </p:nvPicPr>
        <p:blipFill rotWithShape="1">
          <a:blip r:embed="rId3"/>
          <a:srcRect b="12059"/>
          <a:stretch/>
        </p:blipFill>
        <p:spPr>
          <a:xfrm>
            <a:off x="286037" y="2933206"/>
            <a:ext cx="3803173" cy="2635094"/>
          </a:xfrm>
          <a:prstGeom prst="rect">
            <a:avLst/>
          </a:prstGeom>
        </p:spPr>
      </p:pic>
      <p:pic>
        <p:nvPicPr>
          <p:cNvPr id="6" name="图片 5">
            <a:extLst>
              <a:ext uri="{FF2B5EF4-FFF2-40B4-BE49-F238E27FC236}">
                <a16:creationId xmlns:a16="http://schemas.microsoft.com/office/drawing/2014/main" id="{7509E0C1-85FD-6B93-7E1A-F1DB531DD49C}"/>
              </a:ext>
            </a:extLst>
          </p:cNvPr>
          <p:cNvPicPr>
            <a:picLocks noChangeAspect="1"/>
          </p:cNvPicPr>
          <p:nvPr/>
        </p:nvPicPr>
        <p:blipFill rotWithShape="1">
          <a:blip r:embed="rId4"/>
          <a:srcRect b="12089"/>
          <a:stretch/>
        </p:blipFill>
        <p:spPr>
          <a:xfrm>
            <a:off x="4132453" y="2934148"/>
            <a:ext cx="3686239" cy="2634152"/>
          </a:xfrm>
          <a:prstGeom prst="rect">
            <a:avLst/>
          </a:prstGeom>
        </p:spPr>
      </p:pic>
      <p:pic>
        <p:nvPicPr>
          <p:cNvPr id="9" name="图片 8">
            <a:extLst>
              <a:ext uri="{FF2B5EF4-FFF2-40B4-BE49-F238E27FC236}">
                <a16:creationId xmlns:a16="http://schemas.microsoft.com/office/drawing/2014/main" id="{9E448D3E-C93F-CF98-05C8-4CB9700BDA9A}"/>
              </a:ext>
            </a:extLst>
          </p:cNvPr>
          <p:cNvPicPr>
            <a:picLocks noChangeAspect="1"/>
          </p:cNvPicPr>
          <p:nvPr/>
        </p:nvPicPr>
        <p:blipFill rotWithShape="1">
          <a:blip r:embed="rId5"/>
          <a:srcRect b="12089"/>
          <a:stretch/>
        </p:blipFill>
        <p:spPr>
          <a:xfrm>
            <a:off x="8130200" y="2934148"/>
            <a:ext cx="3775763" cy="2634152"/>
          </a:xfrm>
          <a:prstGeom prst="rect">
            <a:avLst/>
          </a:prstGeom>
        </p:spPr>
      </p:pic>
      <p:sp>
        <p:nvSpPr>
          <p:cNvPr id="11" name="Content Placeholder 2">
            <a:extLst>
              <a:ext uri="{FF2B5EF4-FFF2-40B4-BE49-F238E27FC236}">
                <a16:creationId xmlns:a16="http://schemas.microsoft.com/office/drawing/2014/main" id="{C53B61BC-89AA-D2DE-3DFF-F93684CAD43B}"/>
              </a:ext>
            </a:extLst>
          </p:cNvPr>
          <p:cNvSpPr txBox="1">
            <a:spLocks noChangeArrowheads="1"/>
          </p:cNvSpPr>
          <p:nvPr/>
        </p:nvSpPr>
        <p:spPr bwMode="auto">
          <a:xfrm>
            <a:off x="1173390" y="5471677"/>
            <a:ext cx="2647555" cy="555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600" dirty="0"/>
              <a:t>1ms duration result</a:t>
            </a:r>
            <a:endParaRPr lang="en-US" altLang="zh-CN" sz="1600" dirty="0">
              <a:ea typeface="仿宋" panose="02010609060101010101" pitchFamily="49" charset="-122"/>
            </a:endParaRPr>
          </a:p>
        </p:txBody>
      </p:sp>
      <p:sp>
        <p:nvSpPr>
          <p:cNvPr id="12" name="Content Placeholder 2">
            <a:extLst>
              <a:ext uri="{FF2B5EF4-FFF2-40B4-BE49-F238E27FC236}">
                <a16:creationId xmlns:a16="http://schemas.microsoft.com/office/drawing/2014/main" id="{7A1BEA30-74D2-BE4B-C5B8-F25CF6A9D7CB}"/>
              </a:ext>
            </a:extLst>
          </p:cNvPr>
          <p:cNvSpPr txBox="1">
            <a:spLocks noChangeArrowheads="1"/>
          </p:cNvSpPr>
          <p:nvPr/>
        </p:nvSpPr>
        <p:spPr bwMode="auto">
          <a:xfrm>
            <a:off x="4956894" y="5471677"/>
            <a:ext cx="2647555" cy="555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600" dirty="0"/>
              <a:t>2ms duration result</a:t>
            </a:r>
            <a:endParaRPr lang="en-US" altLang="zh-CN" sz="1600" dirty="0">
              <a:ea typeface="仿宋" panose="02010609060101010101" pitchFamily="49" charset="-122"/>
            </a:endParaRPr>
          </a:p>
        </p:txBody>
      </p:sp>
      <p:sp>
        <p:nvSpPr>
          <p:cNvPr id="14" name="Content Placeholder 2">
            <a:extLst>
              <a:ext uri="{FF2B5EF4-FFF2-40B4-BE49-F238E27FC236}">
                <a16:creationId xmlns:a16="http://schemas.microsoft.com/office/drawing/2014/main" id="{66B6E027-B2B0-C23E-4422-AF94A1456E20}"/>
              </a:ext>
            </a:extLst>
          </p:cNvPr>
          <p:cNvSpPr txBox="1">
            <a:spLocks noChangeArrowheads="1"/>
          </p:cNvSpPr>
          <p:nvPr/>
        </p:nvSpPr>
        <p:spPr bwMode="auto">
          <a:xfrm>
            <a:off x="9029285" y="5471677"/>
            <a:ext cx="2647555" cy="555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600" dirty="0"/>
              <a:t>5ms duration result</a:t>
            </a:r>
            <a:endParaRPr lang="en-US" altLang="zh-CN" sz="1600" dirty="0">
              <a:ea typeface="仿宋" panose="02010609060101010101" pitchFamily="49" charset="-122"/>
            </a:endParaRPr>
          </a:p>
        </p:txBody>
      </p:sp>
    </p:spTree>
    <p:extLst>
      <p:ext uri="{BB962C8B-B14F-4D97-AF65-F5344CB8AC3E}">
        <p14:creationId xmlns:p14="http://schemas.microsoft.com/office/powerpoint/2010/main" val="2035608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855300-D5C6-E486-62D2-3DFA8D8D1B51}"/>
              </a:ext>
            </a:extLst>
          </p:cNvPr>
          <p:cNvSpPr>
            <a:spLocks noGrp="1" noChangeArrowheads="1"/>
          </p:cNvSpPr>
          <p:nvPr>
            <p:ph type="title"/>
          </p:nvPr>
        </p:nvSpPr>
        <p:spPr>
          <a:xfrm>
            <a:off x="660458" y="596392"/>
            <a:ext cx="11879262" cy="530614"/>
          </a:xfrm>
        </p:spPr>
        <p:txBody>
          <a:bodyPr/>
          <a:lstStyle/>
          <a:p>
            <a:r>
              <a:rPr lang="en-US" altLang="zh-CN" sz="3200" b="1" dirty="0">
                <a:ea typeface="微软雅黑" panose="020B0503020204020204" pitchFamily="34" charset="-122"/>
              </a:rPr>
              <a:t>Conclusions</a:t>
            </a:r>
            <a:endParaRPr lang="en-US" altLang="en-US" sz="3200" b="1" dirty="0"/>
          </a:p>
        </p:txBody>
      </p:sp>
      <p:sp>
        <p:nvSpPr>
          <p:cNvPr id="13" name="Content Placeholder 2">
            <a:extLst>
              <a:ext uri="{FF2B5EF4-FFF2-40B4-BE49-F238E27FC236}">
                <a16:creationId xmlns:a16="http://schemas.microsoft.com/office/drawing/2014/main" id="{87828B1E-5343-8479-51C0-6F20C38C7CB5}"/>
              </a:ext>
            </a:extLst>
          </p:cNvPr>
          <p:cNvSpPr txBox="1">
            <a:spLocks noChangeArrowheads="1"/>
          </p:cNvSpPr>
          <p:nvPr/>
        </p:nvSpPr>
        <p:spPr bwMode="auto">
          <a:xfrm>
            <a:off x="660458" y="1344490"/>
            <a:ext cx="10993477" cy="38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Clr>
                <a:srgbClr val="A9A9A9"/>
              </a:buClr>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rgbClr val="A7D100"/>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n-US" altLang="zh-CN" b="0" i="0" u="none" strike="noStrike" baseline="0" dirty="0">
                <a:latin typeface="Arial" panose="020B0604020202020204" pitchFamily="34" charset="0"/>
                <a:cs typeface="Arial" panose="020B0604020202020204" pitchFamily="34" charset="0"/>
              </a:rPr>
              <a:t>Stealthy </a:t>
            </a:r>
            <a:r>
              <a:rPr lang="en-US" altLang="zh-SG" dirty="0">
                <a:latin typeface="Arial" panose="020B0604020202020204" pitchFamily="34" charset="0"/>
                <a:cs typeface="Arial" panose="020B0604020202020204" pitchFamily="34" charset="0"/>
              </a:rPr>
              <a:t>attack on dedicated deep learning accelerator </a:t>
            </a:r>
          </a:p>
          <a:p>
            <a:pPr lvl="1">
              <a:lnSpc>
                <a:spcPct val="150000"/>
              </a:lnSpc>
            </a:pPr>
            <a:r>
              <a:rPr lang="en-US" altLang="zh-SG" sz="2000" dirty="0">
                <a:latin typeface="Arial" panose="020B0604020202020204" pitchFamily="34" charset="0"/>
                <a:cs typeface="Arial" panose="020B0604020202020204" pitchFamily="34" charset="0"/>
              </a:rPr>
              <a:t>Dynamically scale voltage and frequency</a:t>
            </a:r>
          </a:p>
          <a:p>
            <a:pPr lvl="1">
              <a:lnSpc>
                <a:spcPct val="150000"/>
              </a:lnSpc>
            </a:pPr>
            <a:r>
              <a:rPr lang="en-US" altLang="zh-CN" sz="2000" dirty="0">
                <a:latin typeface="Arial" panose="020B0604020202020204" pitchFamily="34" charset="0"/>
                <a:cs typeface="Arial" panose="020B0604020202020204" pitchFamily="34" charset="0"/>
              </a:rPr>
              <a:t>Leave no trace after our attack</a:t>
            </a:r>
          </a:p>
          <a:p>
            <a:pPr lvl="1">
              <a:lnSpc>
                <a:spcPct val="150000"/>
              </a:lnSpc>
            </a:pPr>
            <a:endParaRPr lang="en-US" altLang="zh-SG" sz="1400" dirty="0">
              <a:latin typeface="Arial" panose="020B0604020202020204" pitchFamily="34" charset="0"/>
              <a:cs typeface="Arial" panose="020B0604020202020204" pitchFamily="34" charset="0"/>
            </a:endParaRPr>
          </a:p>
          <a:p>
            <a:pPr algn="l">
              <a:lnSpc>
                <a:spcPct val="150000"/>
              </a:lnSpc>
            </a:pPr>
            <a:r>
              <a:rPr lang="en-US" altLang="zh-CN" dirty="0">
                <a:latin typeface="Arial" panose="020B0604020202020204" pitchFamily="34" charset="0"/>
                <a:cs typeface="Arial" panose="020B0604020202020204" pitchFamily="34" charset="0"/>
              </a:rPr>
              <a:t>Demonstrate our </a:t>
            </a:r>
            <a:r>
              <a:rPr lang="en-US" altLang="zh-CN" b="0" i="0" u="none" strike="noStrike" baseline="0" dirty="0">
                <a:latin typeface="Arial" panose="020B0604020202020204" pitchFamily="34" charset="0"/>
                <a:cs typeface="Arial" panose="020B0604020202020204" pitchFamily="34" charset="0"/>
              </a:rPr>
              <a:t>attack on the </a:t>
            </a:r>
            <a:r>
              <a:rPr lang="en-US" altLang="zh-CN" b="0" i="0" u="none" strike="noStrike" baseline="0" dirty="0" err="1">
                <a:latin typeface="Arial" panose="020B0604020202020204" pitchFamily="34" charset="0"/>
                <a:cs typeface="Arial" panose="020B0604020202020204" pitchFamily="34" charset="0"/>
              </a:rPr>
              <a:t>SkyNet</a:t>
            </a:r>
            <a:r>
              <a:rPr lang="en-US" altLang="zh-CN" dirty="0">
                <a:latin typeface="Arial" panose="020B0604020202020204" pitchFamily="34" charset="0"/>
                <a:cs typeface="Arial" panose="020B0604020202020204" pitchFamily="34" charset="0"/>
              </a:rPr>
              <a:t> </a:t>
            </a:r>
            <a:r>
              <a:rPr lang="en-US" altLang="zh-CN" b="0" i="0" u="none" strike="noStrike" baseline="0" dirty="0">
                <a:latin typeface="Arial" panose="020B0604020202020204" pitchFamily="34" charset="0"/>
                <a:cs typeface="Arial" panose="020B0604020202020204" pitchFamily="34" charset="0"/>
              </a:rPr>
              <a:t>on our evaluation system</a:t>
            </a:r>
          </a:p>
          <a:p>
            <a:pPr lvl="1">
              <a:lnSpc>
                <a:spcPct val="150000"/>
              </a:lnSpc>
            </a:pPr>
            <a:r>
              <a:rPr lang="en-US" altLang="zh-CN" sz="2000" b="0" i="0" u="none" strike="noStrike" baseline="0" dirty="0">
                <a:latin typeface="Arial" panose="020B0604020202020204" pitchFamily="34" charset="0"/>
                <a:cs typeface="Arial" panose="020B0604020202020204" pitchFamily="34" charset="0"/>
              </a:rPr>
              <a:t>&gt; 98% accuracy loss in black box scenario</a:t>
            </a:r>
          </a:p>
          <a:p>
            <a:pPr lvl="1">
              <a:lnSpc>
                <a:spcPct val="150000"/>
              </a:lnSpc>
            </a:pPr>
            <a:r>
              <a:rPr lang="en-US" altLang="zh-CN" sz="2000" dirty="0">
                <a:latin typeface="Arial" panose="020B0604020202020204" pitchFamily="34" charset="0"/>
                <a:cs typeface="Arial" panose="020B0604020202020204" pitchFamily="34" charset="0"/>
              </a:rPr>
              <a:t>1ms duration can induce effective faults into the </a:t>
            </a:r>
            <a:r>
              <a:rPr lang="en-US" altLang="zh-CN" sz="2000" dirty="0" err="1">
                <a:latin typeface="Arial" panose="020B0604020202020204" pitchFamily="34" charset="0"/>
                <a:cs typeface="Arial" panose="020B0604020202020204" pitchFamily="34" charset="0"/>
              </a:rPr>
              <a:t>SkyNet</a:t>
            </a:r>
            <a:endParaRPr lang="en-US" altLang="zh-CN" sz="2000" b="0" i="0" u="none" strike="noStrike" baseline="0" dirty="0">
              <a:latin typeface="Arial" panose="020B0604020202020204" pitchFamily="34" charset="0"/>
              <a:cs typeface="Arial" panose="020B0604020202020204" pitchFamily="34" charset="0"/>
            </a:endParaRPr>
          </a:p>
          <a:p>
            <a:pPr lvl="1">
              <a:lnSpc>
                <a:spcPct val="150000"/>
              </a:lnSpc>
            </a:pPr>
            <a:endParaRPr lang="en-US" altLang="zh-CN" sz="1400" b="0" i="0" u="none" strike="noStrike" baseline="0" dirty="0"/>
          </a:p>
        </p:txBody>
      </p:sp>
    </p:spTree>
    <p:extLst>
      <p:ext uri="{BB962C8B-B14F-4D97-AF65-F5344CB8AC3E}">
        <p14:creationId xmlns:p14="http://schemas.microsoft.com/office/powerpoint/2010/main" val="3468966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832D9-C1A6-E408-7DF6-F1B6DB59EC4B}"/>
              </a:ext>
            </a:extLst>
          </p:cNvPr>
          <p:cNvSpPr>
            <a:spLocks noGrp="1" noChangeArrowheads="1"/>
          </p:cNvSpPr>
          <p:nvPr>
            <p:ph idx="1"/>
          </p:nvPr>
        </p:nvSpPr>
        <p:spPr>
          <a:xfrm>
            <a:off x="156369" y="2708555"/>
            <a:ext cx="11879262" cy="1090607"/>
          </a:xfrm>
        </p:spPr>
        <p:txBody>
          <a:bodyPr/>
          <a:lstStyle/>
          <a:p>
            <a:pPr marL="0" indent="0" algn="ctr">
              <a:buNone/>
            </a:pPr>
            <a:r>
              <a:rPr lang="en-US" altLang="en-US" sz="7200" dirty="0"/>
              <a:t>Thank You! </a:t>
            </a:r>
          </a:p>
        </p:txBody>
      </p:sp>
    </p:spTree>
    <p:extLst>
      <p:ext uri="{BB962C8B-B14F-4D97-AF65-F5344CB8AC3E}">
        <p14:creationId xmlns:p14="http://schemas.microsoft.com/office/powerpoint/2010/main" val="4054740284"/>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77AAD5"/>
      </a:accent1>
      <a:accent2>
        <a:srgbClr val="FF7C41"/>
      </a:accent2>
      <a:accent3>
        <a:srgbClr val="A7D100"/>
      </a:accent3>
      <a:accent4>
        <a:srgbClr val="FFC000"/>
      </a:accent4>
      <a:accent5>
        <a:srgbClr val="3DA9D5"/>
      </a:accent5>
      <a:accent6>
        <a:srgbClr val="A9A9A9"/>
      </a:accent6>
      <a:hlink>
        <a:srgbClr val="0052FF"/>
      </a:hlink>
      <a:folHlink>
        <a:srgbClr val="FF7C4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C_794793-21_2022PPT_5" id="{EF3B9170-A1B5-E948-8455-87732B11B22A}" vid="{4C12E35C-C43C-F244-A886-6230B5C0B96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DAC_2022_PPT</Template>
  <TotalTime>3385</TotalTime>
  <Words>1812</Words>
  <Application>Microsoft Office PowerPoint</Application>
  <PresentationFormat>宽屏</PresentationFormat>
  <Paragraphs>202</Paragraphs>
  <Slides>18</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LinLibertineT</vt:lpstr>
      <vt:lpstr>等线</vt:lpstr>
      <vt:lpstr>Microsoft YaHei</vt:lpstr>
      <vt:lpstr>Arial</vt:lpstr>
      <vt:lpstr>Cambria Math</vt:lpstr>
      <vt:lpstr>Office Theme</vt:lpstr>
      <vt:lpstr>PowerPoint 演示文稿</vt:lpstr>
      <vt:lpstr>Terminator on SkyNet: A Practical DVFS Attack on  DNN Hardware IP for UAV Object Detection</vt:lpstr>
      <vt:lpstr>PowerPoint 演示文稿</vt:lpstr>
      <vt:lpstr>PowerPoint 演示文稿</vt:lpstr>
      <vt:lpstr>FPGAs in AIoT</vt:lpstr>
      <vt:lpstr>SkyNet Accelerator</vt:lpstr>
      <vt:lpstr>Dynamic Voltage and Frequency Scaling (DVFS)</vt:lpstr>
      <vt:lpstr>DVFS Framework</vt:lpstr>
      <vt:lpstr>Threat Model</vt:lpstr>
      <vt:lpstr>Timing Constraints and Violations</vt:lpstr>
      <vt:lpstr>The Experiment Setup</vt:lpstr>
      <vt:lpstr>Characterization of Regulator Limits</vt:lpstr>
      <vt:lpstr>Global Fault Injection</vt:lpstr>
      <vt:lpstr>Global Fault Injection</vt:lpstr>
      <vt:lpstr>Local Fault Injection</vt:lpstr>
      <vt:lpstr>Local Fault Injection</vt:lpstr>
      <vt:lpstr>Conclusions</vt:lpstr>
      <vt:lpstr>PowerPoint 演示文稿</vt:lpstr>
    </vt:vector>
  </TitlesOfParts>
  <Company>SmithBucklin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Kolak, Alexis</dc:creator>
  <cp:lastModifiedBy>Jun Xu</cp:lastModifiedBy>
  <cp:revision>72</cp:revision>
  <dcterms:created xsi:type="dcterms:W3CDTF">2022-02-21T17:01:29Z</dcterms:created>
  <dcterms:modified xsi:type="dcterms:W3CDTF">2022-06-04T00:51:48Z</dcterms:modified>
</cp:coreProperties>
</file>