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937" r:id="rId4"/>
  </p:sldMasterIdLst>
  <p:notesMasterIdLst>
    <p:notesMasterId r:id="rId31"/>
  </p:notesMasterIdLst>
  <p:handoutMasterIdLst>
    <p:handoutMasterId r:id="rId32"/>
  </p:handoutMasterIdLst>
  <p:sldIdLst>
    <p:sldId id="501" r:id="rId5"/>
    <p:sldId id="506" r:id="rId6"/>
    <p:sldId id="507" r:id="rId7"/>
    <p:sldId id="508" r:id="rId8"/>
    <p:sldId id="509" r:id="rId9"/>
    <p:sldId id="512" r:id="rId10"/>
    <p:sldId id="527" r:id="rId11"/>
    <p:sldId id="525" r:id="rId12"/>
    <p:sldId id="533" r:id="rId13"/>
    <p:sldId id="529" r:id="rId14"/>
    <p:sldId id="530" r:id="rId15"/>
    <p:sldId id="531" r:id="rId16"/>
    <p:sldId id="532" r:id="rId17"/>
    <p:sldId id="514" r:id="rId18"/>
    <p:sldId id="515" r:id="rId19"/>
    <p:sldId id="517" r:id="rId20"/>
    <p:sldId id="520" r:id="rId21"/>
    <p:sldId id="526" r:id="rId22"/>
    <p:sldId id="521" r:id="rId23"/>
    <p:sldId id="522" r:id="rId24"/>
    <p:sldId id="523" r:id="rId25"/>
    <p:sldId id="518" r:id="rId26"/>
    <p:sldId id="524" r:id="rId27"/>
    <p:sldId id="534" r:id="rId28"/>
    <p:sldId id="519" r:id="rId29"/>
    <p:sldId id="505" r:id="rId30"/>
  </p:sldIdLst>
  <p:sldSz cx="12192000" cy="6858000"/>
  <p:notesSz cx="10048875" cy="6918325"/>
  <p:custDataLst>
    <p:tags r:id="rId3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66CCFF"/>
    <a:srgbClr val="0000FF"/>
    <a:srgbClr val="99FF33"/>
    <a:srgbClr val="FFFFCC"/>
    <a:srgbClr val="FF9900"/>
    <a:srgbClr val="385D8A"/>
    <a:srgbClr val="00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56" autoAdjust="0"/>
    <p:restoredTop sz="77308" autoAdjust="0"/>
  </p:normalViewPr>
  <p:slideViewPr>
    <p:cSldViewPr>
      <p:cViewPr varScale="1">
        <p:scale>
          <a:sx n="84" d="100"/>
          <a:sy n="84" d="100"/>
        </p:scale>
        <p:origin x="1536" y="17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gs" Target="tags/tag1.xml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/>
          <a:lstStyle>
            <a:lvl1pPr algn="r">
              <a:defRPr sz="1200"/>
            </a:lvl1pPr>
          </a:lstStyle>
          <a:p>
            <a:fld id="{9175845F-7813-4162-8E43-89DCBF023BA5}" type="datetimeFigureOut">
              <a:rPr lang="de-DE" smtClean="0"/>
              <a:pPr/>
              <a:t>26.06.20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lIns="92766" tIns="46383" rIns="92766" bIns="46383" rtlCol="0" anchor="b"/>
          <a:lstStyle>
            <a:lvl1pPr algn="r">
              <a:defRPr sz="1200"/>
            </a:lvl1pPr>
          </a:lstStyle>
          <a:p>
            <a:fld id="{568AD7C4-ADB3-4393-A709-E94E9DB0B97C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7454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2038" y="0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0A20AF34-6582-494F-851E-89D0463C3413}" type="datetimeFigureOut">
              <a:rPr lang="en-US"/>
              <a:pPr>
                <a:defRPr/>
              </a:pPr>
              <a:t>6/26/20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719388" y="519113"/>
            <a:ext cx="4610100" cy="2593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766" tIns="46383" rIns="92766" bIns="46383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4888" y="3286205"/>
            <a:ext cx="8039100" cy="3113247"/>
          </a:xfrm>
          <a:prstGeom prst="rect">
            <a:avLst/>
          </a:prstGeom>
        </p:spPr>
        <p:txBody>
          <a:bodyPr vert="horz" lIns="92766" tIns="46383" rIns="92766" bIns="46383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2038" y="6571208"/>
            <a:ext cx="4354512" cy="345917"/>
          </a:xfrm>
          <a:prstGeom prst="rect">
            <a:avLst/>
          </a:prstGeom>
        </p:spPr>
        <p:txBody>
          <a:bodyPr vert="horz" wrap="square" lIns="92766" tIns="46383" rIns="92766" bIns="4638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F1248D3D-B91D-4C0E-B577-B2CAAE2DB88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614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介绍旁路泄漏的几种方式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836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泄漏信息的采集，</a:t>
            </a:r>
            <a:endParaRPr kumimoji="1" lang="en-US" altLang="zh-CN" dirty="0"/>
          </a:p>
          <a:p>
            <a:r>
              <a:rPr kumimoji="1" lang="zh-CN" altLang="en-US" dirty="0"/>
              <a:t>介绍本地平台和设备上实现的算法（</a:t>
            </a:r>
            <a:r>
              <a:rPr kumimoji="1" lang="en-US" altLang="zh-CN" dirty="0"/>
              <a:t>AES</a:t>
            </a:r>
            <a:r>
              <a:rPr kumimoji="1" lang="zh-CN" altLang="en-US" dirty="0"/>
              <a:t>），泄漏模型（</a:t>
            </a:r>
            <a:r>
              <a:rPr kumimoji="1" lang="en-US" altLang="zh-CN" dirty="0"/>
              <a:t>SBOX</a:t>
            </a:r>
            <a:r>
              <a:rPr kumimoji="1" lang="zh-CN" altLang="en-US" dirty="0"/>
              <a:t>输出）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059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介绍几种旁路攻击。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Non-profiling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SCA:</a:t>
            </a:r>
            <a:r>
              <a:rPr kumimoji="1" lang="zh-CN" altLang="en-US" dirty="0"/>
              <a:t>基于非建模的旁路分析方法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Profiling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based</a:t>
            </a:r>
            <a:r>
              <a:rPr kumimoji="1" lang="zh-CN" altLang="en-US" dirty="0"/>
              <a:t> </a:t>
            </a:r>
            <a:r>
              <a:rPr kumimoji="1" lang="en-US" altLang="zh-CN" dirty="0"/>
              <a:t>SCA:</a:t>
            </a:r>
            <a:r>
              <a:rPr kumimoji="1" lang="zh-CN" altLang="en-US" dirty="0"/>
              <a:t>基于建模的旁路分析方法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4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介绍这种基于建模的旁路分析方法的主要流程</a:t>
            </a:r>
            <a:endParaRPr kumimoji="1" lang="en-US" altLang="zh-CN" dirty="0"/>
          </a:p>
          <a:p>
            <a:r>
              <a:rPr kumimoji="1" lang="zh-CN" altLang="en-US" dirty="0"/>
              <a:t>目标设备：不知道密钥；</a:t>
            </a:r>
            <a:endParaRPr kumimoji="1" lang="en-US" altLang="zh-CN" dirty="0"/>
          </a:p>
          <a:p>
            <a:r>
              <a:rPr kumimoji="1" lang="zh-CN" altLang="en-US" dirty="0"/>
              <a:t>建模设备：与目标设备“相似”，所有信息（明文，密钥等）已知。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两个阶段：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、用建模设备建模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、攻击目标设备（计算模板匹配概率）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一条功耗曲线可能无法恢复正确密钥（正确密钥的概率不是最大的）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需要多条曲线</a:t>
            </a:r>
            <a:endParaRPr kumimoji="1" lang="en-US" altLang="zh-CN" dirty="0"/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03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上一张图的流程图形式</a:t>
            </a:r>
            <a:endParaRPr kumimoji="1" lang="en-US" altLang="zh-CN" dirty="0"/>
          </a:p>
          <a:p>
            <a:r>
              <a:rPr kumimoji="1" lang="zh-CN" altLang="en-US" dirty="0"/>
              <a:t>这里左列中的</a:t>
            </a:r>
            <a:r>
              <a:rPr kumimoji="1" lang="en-US" altLang="zh-CN" dirty="0"/>
              <a:t>DL-PA</a:t>
            </a:r>
            <a:r>
              <a:rPr kumimoji="1" lang="zh-CN" altLang="en-US" dirty="0"/>
              <a:t>和</a:t>
            </a:r>
            <a:r>
              <a:rPr kumimoji="1" lang="en-US" altLang="zh-CN" dirty="0"/>
              <a:t>TA</a:t>
            </a:r>
            <a:r>
              <a:rPr kumimoji="1" lang="zh-CN" altLang="en-US" dirty="0"/>
              <a:t>是两种攻击方法，都可以用来恢复密钥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左列的</a:t>
            </a:r>
            <a:r>
              <a:rPr kumimoji="1" lang="en-US" altLang="zh-CN" dirty="0"/>
              <a:t>Template</a:t>
            </a:r>
            <a:r>
              <a:rPr kumimoji="1" lang="zh-CN" altLang="en-US" dirty="0"/>
              <a:t>框中的</a:t>
            </a:r>
            <a:r>
              <a:rPr kumimoji="1" lang="en-US" altLang="zh-CN" dirty="0"/>
              <a:t>{</a:t>
            </a:r>
            <a:r>
              <a:rPr kumimoji="1" lang="en-US" altLang="zh-CN" dirty="0" err="1"/>
              <a:t>m,C</a:t>
            </a:r>
            <a:r>
              <a:rPr kumimoji="1" lang="en-US" altLang="zh-CN" dirty="0"/>
              <a:t>}</a:t>
            </a:r>
            <a:r>
              <a:rPr kumimoji="1" lang="zh-CN" altLang="en-US" dirty="0"/>
              <a:t>分别表示用于计算模板匹配概率的均值和协方差矩阵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我们关注的是建模设备和目标设备之间的</a:t>
            </a:r>
            <a:r>
              <a:rPr kumimoji="1" lang="en-US" altLang="zh-CN" dirty="0"/>
              <a:t>boundary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093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实验中使用到的设备，以及对应的指令集</a:t>
            </a:r>
            <a:endParaRPr kumimoji="1" lang="en-US" altLang="zh-CN" dirty="0"/>
          </a:p>
          <a:p>
            <a:r>
              <a:rPr kumimoji="1" lang="zh-CN" altLang="en-US" dirty="0"/>
              <a:t>介绍这些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和</a:t>
            </a:r>
            <a:r>
              <a:rPr kumimoji="1" lang="en-US" altLang="zh-CN" dirty="0"/>
              <a:t>ISA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24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明确</a:t>
            </a:r>
            <a:r>
              <a:rPr kumimoji="1" lang="en-US" altLang="zh-CN" dirty="0"/>
              <a:t>boundary</a:t>
            </a:r>
            <a:r>
              <a:rPr kumimoji="1" lang="zh-CN" altLang="en-US" dirty="0"/>
              <a:t>的场景：</a:t>
            </a:r>
            <a:endParaRPr kumimoji="1" lang="en-US" altLang="zh-CN" dirty="0"/>
          </a:p>
          <a:p>
            <a:r>
              <a:rPr kumimoji="1" lang="zh-CN" altLang="en-US" dirty="0"/>
              <a:t>假设建模设备在绿色区域里，对</a:t>
            </a:r>
            <a:r>
              <a:rPr kumimoji="1" lang="en-US" altLang="zh-CN" dirty="0"/>
              <a:t>same</a:t>
            </a:r>
            <a:r>
              <a:rPr kumimoji="1" lang="zh-CN" altLang="en-US" dirty="0"/>
              <a:t>，</a:t>
            </a:r>
            <a:r>
              <a:rPr kumimoji="1" lang="en-US" altLang="zh-CN" dirty="0"/>
              <a:t>identical</a:t>
            </a:r>
            <a:r>
              <a:rPr kumimoji="1" lang="zh-CN" altLang="en-US" dirty="0"/>
              <a:t>，</a:t>
            </a:r>
            <a:r>
              <a:rPr kumimoji="1" lang="en-US" altLang="zh-CN" dirty="0"/>
              <a:t>homo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heter</a:t>
            </a:r>
            <a:r>
              <a:rPr kumimoji="1" lang="zh-CN" altLang="en-US" dirty="0"/>
              <a:t>四个场景进行区分，</a:t>
            </a:r>
            <a:endParaRPr kumimoji="1" lang="en-US" altLang="zh-CN" dirty="0"/>
          </a:p>
          <a:p>
            <a:r>
              <a:rPr kumimoji="1" lang="zh-CN" altLang="en-US" dirty="0"/>
              <a:t>强调设备差异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9522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05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95834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501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8551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建模设备和目标设备的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boundary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主要体现在采集的功耗曲线上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重要假设：功耗曲线满足多元高斯分布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瓦瑟斯坦距离（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distance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）和最大均值化差异（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MMD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）是用来衡量两个多元高斯分布的距离的重要度量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主对角线是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device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棕色是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绿色是</a:t>
            </a:r>
            <a:r>
              <a:rPr kumimoji="1" lang="en-US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homo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紫色是</a:t>
            </a:r>
            <a:r>
              <a:rPr kumimoji="1" lang="en-US" altLang="zh-CN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hete</a:t>
            </a: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6609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CPA</a:t>
            </a:r>
            <a:r>
              <a:rPr kumimoji="1" lang="zh-CN" altLang="en-US" dirty="0"/>
              <a:t>在不同设备上的结果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红色是相关系数的绝对值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颜色越深，泄漏越大。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不同设备的泄漏模式差别很大。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两个方面：一个是泄漏的位置（红色区域的位置），一个是泄漏的大小（红色区域颜色深浅）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7277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Baseline</a:t>
            </a:r>
            <a:r>
              <a:rPr kumimoji="1" lang="zh-CN" altLang="en-US" dirty="0"/>
              <a:t>的模板攻击和基于深度学习的攻击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Y</a:t>
            </a:r>
            <a:r>
              <a:rPr kumimoji="1" lang="zh-CN" altLang="en-US" dirty="0"/>
              <a:t>轴是建模设备</a:t>
            </a:r>
            <a:endParaRPr kumimoji="1" lang="en-US" altLang="zh-CN" dirty="0"/>
          </a:p>
          <a:p>
            <a:r>
              <a:rPr kumimoji="1" lang="en-US" altLang="zh-CN" dirty="0"/>
              <a:t>X</a:t>
            </a:r>
            <a:r>
              <a:rPr kumimoji="1" lang="zh-CN" altLang="en-US" dirty="0"/>
              <a:t>轴是目标设备</a:t>
            </a:r>
            <a:endParaRPr kumimoji="1" lang="en-US" altLang="zh-CN" dirty="0"/>
          </a:p>
          <a:p>
            <a:r>
              <a:rPr kumimoji="1" lang="zh-CN" altLang="en-US" dirty="0"/>
              <a:t>颜色深度表示恢复密钥需要的曲线数量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分析结果</a:t>
            </a:r>
            <a:endParaRPr kumimoji="1" lang="en-US" altLang="zh-CN" dirty="0"/>
          </a:p>
          <a:p>
            <a:r>
              <a:rPr kumimoji="1" lang="zh-CN" altLang="en-US" dirty="0"/>
              <a:t>强调：在</a:t>
            </a:r>
            <a:r>
              <a:rPr kumimoji="1" lang="en-US" altLang="zh-CN" dirty="0"/>
              <a:t>homo</a:t>
            </a:r>
            <a:r>
              <a:rPr kumimoji="1" lang="zh-CN" altLang="en-US" dirty="0"/>
              <a:t>和</a:t>
            </a:r>
            <a:r>
              <a:rPr kumimoji="1" lang="en-US" altLang="zh-CN" dirty="0" err="1"/>
              <a:t>hete</a:t>
            </a:r>
            <a:r>
              <a:rPr kumimoji="1" lang="zh-CN" altLang="en-US" dirty="0"/>
              <a:t>上效果很差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8611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分析攻击失败的原因</a:t>
            </a:r>
            <a:endParaRPr kumimoji="1" lang="en-US" altLang="zh-CN" dirty="0"/>
          </a:p>
          <a:p>
            <a:r>
              <a:rPr kumimoji="1" lang="zh-CN" altLang="en-US" dirty="0"/>
              <a:t>模板攻击分析困难：基于功耗曲线计算统计量，所有的值都是确定的</a:t>
            </a:r>
            <a:endParaRPr kumimoji="1" lang="en-US" altLang="zh-CN" dirty="0"/>
          </a:p>
          <a:p>
            <a:r>
              <a:rPr kumimoji="1" lang="zh-CN" altLang="en-US" dirty="0"/>
              <a:t>深度学习威胁大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所以：主要分析深度学习方法。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看训练过程的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即损失函数，发现是“过拟合</a:t>
            </a:r>
            <a:r>
              <a:rPr kumimoji="1" lang="en-US" altLang="zh-CN" dirty="0"/>
              <a:t>-over</a:t>
            </a:r>
            <a:r>
              <a:rPr kumimoji="1" lang="zh-CN" altLang="en-US" dirty="0"/>
              <a:t> </a:t>
            </a:r>
            <a:r>
              <a:rPr kumimoji="1" lang="en-US" altLang="zh-CN" dirty="0"/>
              <a:t>fitting</a:t>
            </a:r>
            <a:r>
              <a:rPr kumimoji="1" lang="zh-CN" altLang="en-US" dirty="0"/>
              <a:t>”：一般随着训练过程的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是越来越小的，但是图中很多设备的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开始越变越大了</a:t>
            </a:r>
            <a:endParaRPr kumimoji="1" lang="en-US" altLang="zh-CN" dirty="0"/>
          </a:p>
          <a:p>
            <a:r>
              <a:rPr kumimoji="1" lang="zh-CN" altLang="en-US" dirty="0"/>
              <a:t>最下面蓝色是建模设备的</a:t>
            </a:r>
            <a:endParaRPr kumimoji="1" lang="en-US" altLang="zh-CN" dirty="0"/>
          </a:p>
          <a:p>
            <a:r>
              <a:rPr kumimoji="1" lang="zh-CN" altLang="en-US" dirty="0"/>
              <a:t>上面的其他颜色是不同目标设备的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过拟合的主要原因：</a:t>
            </a:r>
            <a:r>
              <a:rPr kumimoji="1" lang="en-US" altLang="zh-CN" dirty="0"/>
              <a:t>slide</a:t>
            </a:r>
            <a:r>
              <a:rPr kumimoji="1" lang="zh-CN" altLang="en-US" dirty="0"/>
              <a:t> </a:t>
            </a:r>
            <a:r>
              <a:rPr kumimoji="1" lang="en-US" altLang="zh-CN" dirty="0"/>
              <a:t>13</a:t>
            </a:r>
            <a:r>
              <a:rPr kumimoji="1" lang="zh-CN" altLang="en-US" dirty="0"/>
              <a:t>、</a:t>
            </a:r>
            <a:r>
              <a:rPr kumimoji="1" lang="en-US" altLang="zh-CN" dirty="0"/>
              <a:t>14</a:t>
            </a:r>
            <a:r>
              <a:rPr kumimoji="1" lang="zh-CN" altLang="en-US" dirty="0"/>
              <a:t>页提到的建模设备和目标设备的</a:t>
            </a:r>
            <a:r>
              <a:rPr kumimoji="1" lang="en-US" altLang="zh-CN" dirty="0"/>
              <a:t>boundary</a:t>
            </a:r>
            <a:r>
              <a:rPr kumimoji="1" lang="zh-CN" altLang="en-US" dirty="0"/>
              <a:t>，即功耗曲线分布不同（这里写的是</a:t>
            </a:r>
            <a:r>
              <a:rPr kumimoji="1" lang="en-US" altLang="zh-CN" dirty="0"/>
              <a:t>POI</a:t>
            </a:r>
            <a:r>
              <a:rPr kumimoji="1" lang="zh-CN" altLang="en-US" dirty="0"/>
              <a:t>，即</a:t>
            </a:r>
            <a:r>
              <a:rPr kumimoji="1" lang="en-US" altLang="zh-CN" dirty="0"/>
              <a:t>points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interests</a:t>
            </a:r>
            <a:r>
              <a:rPr kumimoji="1" lang="zh-CN" altLang="en-US" dirty="0"/>
              <a:t>，特征的分布不同）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012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介绍一下造成这种不同分布的几种原因：</a:t>
            </a:r>
            <a:endParaRPr kumimoji="1" lang="en-US" altLang="zh-CN" dirty="0"/>
          </a:p>
          <a:p>
            <a:r>
              <a:rPr kumimoji="1" lang="zh-CN" altLang="en-US" dirty="0"/>
              <a:t>环境温度，芯片型号，工艺误差，指令集，</a:t>
            </a:r>
            <a:r>
              <a:rPr kumimoji="1" lang="en-US" altLang="zh-CN" dirty="0"/>
              <a:t>PCB</a:t>
            </a:r>
            <a:r>
              <a:rPr kumimoji="1" lang="zh-CN" altLang="en-US" dirty="0"/>
              <a:t>，</a:t>
            </a:r>
            <a:r>
              <a:rPr kumimoji="1" lang="en-US" altLang="zh-CN" dirty="0"/>
              <a:t>RAM</a:t>
            </a:r>
            <a:r>
              <a:rPr kumimoji="1" lang="zh-CN" altLang="en-US" dirty="0"/>
              <a:t>大小，环境噪声等等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很多因素是不可控的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1243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介绍频域特征的优点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、对未对齐的功耗曲线具有较强鲁棒性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、独立于时钟信号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、在密码算法软件实现和硬件实现上都适用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54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对功耗曲线做频域变换</a:t>
            </a:r>
            <a:r>
              <a:rPr kumimoji="1" lang="en-US" altLang="zh-CN" dirty="0"/>
              <a:t>FFT</a:t>
            </a:r>
          </a:p>
          <a:p>
            <a:r>
              <a:rPr kumimoji="1" lang="zh-CN" altLang="en-US" dirty="0"/>
              <a:t>在频域特征上做</a:t>
            </a:r>
            <a:r>
              <a:rPr kumimoji="1" lang="en-US" altLang="zh-CN" dirty="0"/>
              <a:t>CPA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结论：</a:t>
            </a:r>
            <a:endParaRPr kumimoji="1" lang="en-US" altLang="zh-CN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不同设备之间的频域特征以及泄漏的分布也有差异</a:t>
            </a:r>
            <a:endParaRPr kumimoji="1" lang="en-US" altLang="zh-CN" dirty="0"/>
          </a:p>
          <a:p>
            <a:r>
              <a:rPr kumimoji="1" lang="zh-CN" altLang="en-US" dirty="0"/>
              <a:t>但是，明显的泄漏大都在频域的尖峰附近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5145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对于不同设备，做频域上的滤波（或者可以叫特征选择）</a:t>
            </a:r>
            <a:endParaRPr kumimoji="1" lang="en-US" altLang="zh-CN" dirty="0"/>
          </a:p>
          <a:p>
            <a:r>
              <a:rPr kumimoji="1" lang="zh-CN" altLang="en-US" dirty="0"/>
              <a:t>针对滤波后的数据建模和攻击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由于</a:t>
            </a:r>
            <a:r>
              <a:rPr kumimoji="1" lang="en-US" altLang="zh-CN" dirty="0"/>
              <a:t>FFT</a:t>
            </a:r>
            <a:r>
              <a:rPr kumimoji="1" lang="zh-CN" altLang="en-US" dirty="0"/>
              <a:t>可以对单条功耗曲线做处理，对数据量的下限没有要求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64742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左图是用了频域特征的方法的</a:t>
            </a:r>
            <a:r>
              <a:rPr kumimoji="1" lang="en-US" altLang="zh-CN" dirty="0"/>
              <a:t>loss</a:t>
            </a:r>
            <a:r>
              <a:rPr kumimoji="1" lang="zh-CN" altLang="en-US" dirty="0"/>
              <a:t>随训练时间变化的关系，没有发现明显的过拟合现象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右图是我们的方法的攻击结果：所有的密钥都能成功的恢复。</a:t>
            </a: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81281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介绍我们的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  <a:r>
              <a:rPr kumimoji="1" lang="en-US" altLang="zh-CN" dirty="0"/>
              <a:t>study2</a:t>
            </a:r>
          </a:p>
          <a:p>
            <a:endParaRPr kumimoji="1" lang="en-US" altLang="zh-CN" dirty="0"/>
          </a:p>
          <a:p>
            <a:r>
              <a:rPr kumimoji="1" lang="zh-CN" altLang="en-US" dirty="0"/>
              <a:t>描述攻击场景，用</a:t>
            </a:r>
            <a:r>
              <a:rPr kumimoji="1" lang="en-US" altLang="zh-CN" dirty="0"/>
              <a:t>DPAv4</a:t>
            </a:r>
            <a:r>
              <a:rPr kumimoji="1" lang="zh-CN" altLang="en-US" dirty="0"/>
              <a:t>攻击本地设备</a:t>
            </a:r>
            <a:endParaRPr kumimoji="1" lang="en-US" altLang="zh-CN" dirty="0"/>
          </a:p>
          <a:p>
            <a:r>
              <a:rPr kumimoji="1" lang="zh-CN" altLang="en-US" dirty="0"/>
              <a:t>本地：</a:t>
            </a:r>
            <a:r>
              <a:rPr kumimoji="1" lang="en-US" altLang="zh-CN" dirty="0"/>
              <a:t>PIC</a:t>
            </a:r>
            <a:r>
              <a:rPr kumimoji="1" lang="zh-CN" altLang="en-US" dirty="0"/>
              <a:t>设备</a:t>
            </a:r>
            <a:endParaRPr kumimoji="1" lang="en-US" altLang="zh-CN" dirty="0"/>
          </a:p>
          <a:p>
            <a:r>
              <a:rPr kumimoji="1" lang="zh-CN" altLang="en-US" dirty="0"/>
              <a:t>强调采集环境等的差异</a:t>
            </a:r>
            <a:endParaRPr kumimoji="1" lang="en-US" altLang="zh-CN" dirty="0"/>
          </a:p>
          <a:p>
            <a:r>
              <a:rPr kumimoji="1" lang="zh-CN" altLang="en-US" dirty="0"/>
              <a:t>介绍</a:t>
            </a:r>
            <a:r>
              <a:rPr kumimoji="1" lang="en-US" altLang="zh-CN" dirty="0"/>
              <a:t>DPAv4</a:t>
            </a:r>
            <a:r>
              <a:rPr kumimoji="1" lang="zh-CN" altLang="en-US" dirty="0"/>
              <a:t>（强调我们适用的是去掩码的版本，即掩</a:t>
            </a:r>
            <a:r>
              <a:rPr kumimoji="1" lang="zh-CN" altLang="en-US"/>
              <a:t>码已知的情况）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94804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攻击结果分析</a:t>
            </a:r>
            <a:endParaRPr kumimoji="1" lang="en-US" altLang="zh-CN" dirty="0"/>
          </a:p>
          <a:p>
            <a:r>
              <a:rPr kumimoji="1" lang="en-US" altLang="zh-CN" dirty="0"/>
              <a:t>Guessing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entropy</a:t>
            </a:r>
            <a:r>
              <a:rPr kumimoji="1" lang="zh-CN" altLang="en-US" dirty="0"/>
              <a:t>这个指标的描述：正确密钥在所有密钥候选值中的</a:t>
            </a:r>
            <a:r>
              <a:rPr kumimoji="1" lang="en-US" altLang="zh-CN" dirty="0"/>
              <a:t>rank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827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贡献：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boundary</a:t>
            </a:r>
            <a:r>
              <a:rPr kumimoji="1" lang="zh-CN" altLang="en-US" dirty="0"/>
              <a:t>的定义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、频域攻击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CN" altLang="en-US" dirty="0"/>
              <a:t>未来的方向：</a:t>
            </a:r>
            <a:endParaRPr kumimoji="1" lang="en-US" altLang="zh-CN" dirty="0"/>
          </a:p>
          <a:p>
            <a:r>
              <a:rPr kumimoji="1" lang="en-US" altLang="zh-CN" dirty="0"/>
              <a:t>1</a:t>
            </a:r>
            <a:r>
              <a:rPr kumimoji="1" lang="zh-CN" altLang="en-US" dirty="0"/>
              <a:t>、多设备训练（</a:t>
            </a:r>
            <a:r>
              <a:rPr kumimoji="1" lang="en-US" altLang="zh-CN" dirty="0" err="1"/>
              <a:t>shivam</a:t>
            </a:r>
            <a:r>
              <a:rPr kumimoji="1" lang="zh-CN" altLang="en-US" dirty="0"/>
              <a:t>他们的</a:t>
            </a:r>
            <a:r>
              <a:rPr kumimoji="1" lang="en-US" altLang="zh-CN" dirty="0"/>
              <a:t>NDSS</a:t>
            </a:r>
            <a:r>
              <a:rPr kumimoji="1" lang="zh-CN" altLang="en-US" dirty="0"/>
              <a:t>工作）</a:t>
            </a:r>
            <a:endParaRPr kumimoji="1" lang="en-US" altLang="zh-CN" dirty="0"/>
          </a:p>
          <a:p>
            <a:r>
              <a:rPr kumimoji="1" lang="en-US" altLang="zh-CN" dirty="0"/>
              <a:t>2</a:t>
            </a:r>
            <a:r>
              <a:rPr kumimoji="1" lang="zh-CN" altLang="en-US" dirty="0"/>
              <a:t>、小波特征</a:t>
            </a:r>
            <a:endParaRPr kumimoji="1" lang="en-US" altLang="zh-CN" dirty="0"/>
          </a:p>
          <a:p>
            <a:r>
              <a:rPr kumimoji="1" lang="en-US" altLang="zh-CN" dirty="0"/>
              <a:t>3</a:t>
            </a:r>
            <a:r>
              <a:rPr kumimoji="1" lang="zh-CN" altLang="en-US" dirty="0"/>
              <a:t>、针对带</a:t>
            </a:r>
            <a:r>
              <a:rPr kumimoji="1" lang="zh-CN" altLang="en-US"/>
              <a:t>防护的算法实现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1248D3D-B91D-4C0E-B577-B2CAAE2DB882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543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7C6FC-8A19-4499-834F-1E1BE51A77F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171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CC567-A94D-4164-ABBC-DF9F79177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073677-284A-4902-A99A-AF6CC4F563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3012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42561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0B4BF-13EB-4E4F-B629-35762CF3D26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972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F07BC-228E-42BF-A52E-D08CB3AE54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230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56E9A5-BAD4-4951-9799-310F8FAA5D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508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7734FF-AD61-4132-8FB0-3AF2030CD9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11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335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F3A33-2478-4672-9A1A-FADE582157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674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FFE437-9899-4527-9412-255D0DFA23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719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99F34-2E92-490B-B21A-F684C4A32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66D017-EA3A-496B-96E8-2375644DB14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020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4204BE-ACDD-4E90-AE72-F72AC347A1F4}"/>
              </a:ext>
            </a:extLst>
          </p:cNvPr>
          <p:cNvSpPr/>
          <p:nvPr userDrawn="1"/>
        </p:nvSpPr>
        <p:spPr>
          <a:xfrm>
            <a:off x="0" y="0"/>
            <a:ext cx="12192000" cy="381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3B30D6-F55D-4265-91E1-D58A65D04806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95641" y="5487615"/>
            <a:ext cx="1066800" cy="108785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2E8FF-055F-484B-A051-15BE8829FF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21034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Optional Insert Copyright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489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8" r:id="rId1"/>
    <p:sldLayoutId id="2147483977" r:id="rId2"/>
    <p:sldLayoutId id="2147483939" r:id="rId3"/>
    <p:sldLayoutId id="2147483940" r:id="rId4"/>
    <p:sldLayoutId id="2147483941" r:id="rId5"/>
    <p:sldLayoutId id="2147483943" r:id="rId6"/>
    <p:sldLayoutId id="2147483944" r:id="rId7"/>
    <p:sldLayoutId id="2147483945" r:id="rId8"/>
    <p:sldLayoutId id="2147483946" r:id="rId9"/>
    <p:sldLayoutId id="2147483976" r:id="rId1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10" Type="http://schemas.openxmlformats.org/officeDocument/2006/relationships/image" Target="../media/image11.jpeg"/><Relationship Id="rId4" Type="http://schemas.openxmlformats.org/officeDocument/2006/relationships/image" Target="../media/image5.jpe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wmf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>
          <a:xfrm>
            <a:off x="228600" y="1524000"/>
            <a:ext cx="11506200" cy="1181211"/>
          </a:xfrm>
        </p:spPr>
        <p:txBody>
          <a:bodyPr>
            <a:normAutofit/>
          </a:bodyPr>
          <a:lstStyle/>
          <a:p>
            <a:r>
              <a:rPr lang="en" altLang="zh-CN" sz="4400" dirty="0"/>
              <a:t>From Homogeneous to Heterogeneous: </a:t>
            </a:r>
            <a:br>
              <a:rPr lang="en" altLang="zh-CN" sz="4400" dirty="0"/>
            </a:br>
            <a:r>
              <a:rPr lang="en" altLang="zh-CN" sz="3200" dirty="0"/>
              <a:t>Leveraging Deep Learning based Power Analysis across Devices </a:t>
            </a:r>
            <a:endParaRPr lang="en" altLang="zh-CN" sz="4400" dirty="0"/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>
          <a:xfrm>
            <a:off x="1524000" y="3383142"/>
            <a:ext cx="9144000" cy="969962"/>
          </a:xfrm>
        </p:spPr>
        <p:txBody>
          <a:bodyPr>
            <a:normAutofit fontScale="92500" lnSpcReduction="20000"/>
          </a:bodyPr>
          <a:lstStyle/>
          <a:p>
            <a:r>
              <a:rPr lang="en" altLang="zh-CN" sz="3500" b="1" i="1" u="sng" dirty="0"/>
              <a:t>Fan Zhang</a:t>
            </a:r>
            <a:r>
              <a:rPr lang="en-US" altLang="zh-CN" sz="3500" b="1" baseline="30000" dirty="0"/>
              <a:t>1</a:t>
            </a:r>
            <a:r>
              <a:rPr lang="en-US" altLang="zh-CN" sz="3500" dirty="0"/>
              <a:t>,</a:t>
            </a:r>
            <a:r>
              <a:rPr lang="zh-CN" altLang="en-US" sz="3500" dirty="0"/>
              <a:t> </a:t>
            </a:r>
            <a:r>
              <a:rPr lang="en" altLang="zh-CN" sz="3500" dirty="0"/>
              <a:t>Bin Shao</a:t>
            </a:r>
            <a:r>
              <a:rPr lang="en-US" altLang="zh-CN" sz="3500" baseline="30000" dirty="0"/>
              <a:t>1</a:t>
            </a:r>
            <a:r>
              <a:rPr lang="en" altLang="zh-CN" sz="3500" dirty="0"/>
              <a:t>,</a:t>
            </a:r>
            <a:r>
              <a:rPr lang="zh-CN" altLang="en-US" sz="3500" dirty="0"/>
              <a:t> </a:t>
            </a:r>
            <a:r>
              <a:rPr lang="en" altLang="zh-CN" sz="3500" dirty="0" err="1"/>
              <a:t>Guorui</a:t>
            </a:r>
            <a:r>
              <a:rPr lang="en" altLang="zh-CN" sz="3500" dirty="0"/>
              <a:t> Xu</a:t>
            </a:r>
            <a:r>
              <a:rPr lang="en-US" altLang="zh-CN" sz="3500" baseline="30000" dirty="0"/>
              <a:t>1</a:t>
            </a:r>
            <a:r>
              <a:rPr lang="en" altLang="zh-CN" sz="3500" dirty="0"/>
              <a:t>, Bolin Yang</a:t>
            </a:r>
            <a:r>
              <a:rPr lang="en-US" altLang="zh-CN" sz="3500" baseline="30000" dirty="0"/>
              <a:t>1</a:t>
            </a:r>
            <a:r>
              <a:rPr lang="en-US" altLang="zh-CN" sz="3500" dirty="0"/>
              <a:t>,</a:t>
            </a:r>
            <a:r>
              <a:rPr lang="en" altLang="zh-CN" sz="3500" dirty="0"/>
              <a:t> </a:t>
            </a:r>
          </a:p>
          <a:p>
            <a:r>
              <a:rPr lang="en" altLang="zh-CN" sz="3500" dirty="0" err="1"/>
              <a:t>Ziqi</a:t>
            </a:r>
            <a:r>
              <a:rPr lang="en" altLang="zh-CN" sz="3500" dirty="0"/>
              <a:t> Yang</a:t>
            </a:r>
            <a:r>
              <a:rPr lang="en-US" altLang="zh-CN" sz="3500" baseline="30000" dirty="0"/>
              <a:t>2</a:t>
            </a:r>
            <a:r>
              <a:rPr lang="zh-CN" altLang="en-US" sz="3500" baseline="30000" dirty="0"/>
              <a:t>*</a:t>
            </a:r>
            <a:r>
              <a:rPr lang="en" altLang="zh-CN" sz="3500" dirty="0"/>
              <a:t>, Zhan Qin</a:t>
            </a:r>
            <a:r>
              <a:rPr lang="en-US" altLang="zh-CN" sz="3500" baseline="30000" dirty="0"/>
              <a:t>1</a:t>
            </a:r>
            <a:r>
              <a:rPr lang="zh-CN" altLang="en-US" sz="3500" dirty="0"/>
              <a:t> </a:t>
            </a:r>
            <a:r>
              <a:rPr lang="en-US" altLang="zh-CN" sz="3500" dirty="0"/>
              <a:t>and</a:t>
            </a:r>
            <a:r>
              <a:rPr lang="en" altLang="zh-CN" sz="3500" dirty="0"/>
              <a:t>  </a:t>
            </a:r>
            <a:r>
              <a:rPr lang="en" altLang="zh-CN" sz="3500" dirty="0" err="1"/>
              <a:t>Kui</a:t>
            </a:r>
            <a:r>
              <a:rPr lang="en" altLang="zh-CN" sz="3500" dirty="0"/>
              <a:t> Ren</a:t>
            </a:r>
            <a:r>
              <a:rPr lang="en-US" altLang="zh-CN" sz="3500" baseline="30000" dirty="0"/>
              <a:t>1</a:t>
            </a:r>
            <a:endParaRPr lang="en" altLang="zh-CN" sz="3500" dirty="0"/>
          </a:p>
          <a:p>
            <a:endParaRPr lang="en" altLang="zh-CN" sz="32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0D46CCE-F5DB-0449-A0B2-D677DFC2C111}"/>
              </a:ext>
            </a:extLst>
          </p:cNvPr>
          <p:cNvSpPr/>
          <p:nvPr/>
        </p:nvSpPr>
        <p:spPr>
          <a:xfrm>
            <a:off x="2057400" y="4619560"/>
            <a:ext cx="91440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aseline="30000" dirty="0"/>
              <a:t>1</a:t>
            </a:r>
            <a:r>
              <a:rPr lang="en" altLang="zh-CN" sz="3200" dirty="0"/>
              <a:t>Zhejiang University, China</a:t>
            </a:r>
          </a:p>
          <a:p>
            <a:r>
              <a:rPr lang="en-US" altLang="zh-CN" sz="3200" baseline="30000" dirty="0"/>
              <a:t>2</a:t>
            </a:r>
            <a:r>
              <a:rPr lang="en-US" altLang="zh-CN" sz="3200" dirty="0"/>
              <a:t>National</a:t>
            </a:r>
            <a:r>
              <a:rPr lang="zh-CN" altLang="en-US" sz="3200" dirty="0"/>
              <a:t> </a:t>
            </a:r>
            <a:r>
              <a:rPr lang="en-US" altLang="zh-CN" sz="3200" dirty="0"/>
              <a:t>University</a:t>
            </a:r>
            <a:r>
              <a:rPr lang="zh-CN" altLang="en-US" sz="3200" dirty="0"/>
              <a:t> </a:t>
            </a:r>
            <a:r>
              <a:rPr lang="en-US" altLang="zh-CN" sz="3200" dirty="0"/>
              <a:t>of</a:t>
            </a:r>
            <a:r>
              <a:rPr lang="zh-CN" altLang="en-US" sz="3200" dirty="0"/>
              <a:t> </a:t>
            </a:r>
            <a:r>
              <a:rPr lang="en" altLang="zh-CN" sz="3200" dirty="0"/>
              <a:t>Singapore, Singapore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5885678"/>
            <a:ext cx="3797300" cy="7635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249"/>
    </mc:Choice>
    <mc:Fallback xmlns="">
      <p:transition spd="slow" advTm="1324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47800"/>
            <a:ext cx="6705600" cy="474609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/>
              <a:t>Fan (Terry) Zhang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College of Computer Science and Technology</a:t>
            </a:r>
          </a:p>
          <a:p>
            <a:pPr marL="0" indent="0">
              <a:buNone/>
            </a:pPr>
            <a:r>
              <a:rPr lang="en-US" altLang="zh-CN" dirty="0"/>
              <a:t>Zhejiang University, China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Graduate from UCONN</a:t>
            </a: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Research:</a:t>
            </a:r>
          </a:p>
          <a:p>
            <a:pPr lvl="1"/>
            <a:r>
              <a:rPr lang="en-US" altLang="zh-CN" dirty="0"/>
              <a:t>Embedded System and </a:t>
            </a:r>
            <a:r>
              <a:rPr lang="en-US" altLang="zh-CN" dirty="0" err="1"/>
              <a:t>IoT</a:t>
            </a:r>
            <a:endParaRPr lang="en-US" altLang="zh-CN" dirty="0"/>
          </a:p>
          <a:p>
            <a:pPr lvl="1"/>
            <a:r>
              <a:rPr lang="en-US" altLang="zh-CN" dirty="0"/>
              <a:t>Machine learning</a:t>
            </a:r>
          </a:p>
        </p:txBody>
      </p:sp>
      <p:pic>
        <p:nvPicPr>
          <p:cNvPr id="1026" name="Picture 2" descr="http://www.zjuisee.zju.edu.cn/fanzhang/images/zf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400" y="1600200"/>
            <a:ext cx="2518596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6888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69"/>
    </mc:Choice>
    <mc:Fallback xmlns="">
      <p:transition spd="slow" advTm="766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4217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Side-Channel Analysis (SCA)</a:t>
            </a:r>
            <a:endParaRPr lang="zh-CN" altLang="en-US" sz="2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7D8EA5-1F45-6943-8870-0C198AAB0ABA}"/>
              </a:ext>
            </a:extLst>
          </p:cNvPr>
          <p:cNvSpPr txBox="1"/>
          <p:nvPr/>
        </p:nvSpPr>
        <p:spPr>
          <a:xfrm>
            <a:off x="838200" y="1779990"/>
            <a:ext cx="33153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Typical</a:t>
            </a:r>
            <a:r>
              <a:rPr lang="zh-CN" altLang="en-US" sz="2800" dirty="0"/>
              <a:t> </a:t>
            </a:r>
            <a:r>
              <a:rPr lang="en-US" altLang="zh-CN" sz="2800" dirty="0"/>
              <a:t>Side-Channels</a:t>
            </a:r>
            <a:endParaRPr lang="zh-CN" altLang="en-US" sz="28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304FCE4-88C8-904B-BAC7-ED781E37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10515600" cy="3200400"/>
          </a:xfrm>
        </p:spPr>
        <p:txBody>
          <a:bodyPr>
            <a:normAutofit/>
          </a:bodyPr>
          <a:lstStyle/>
          <a:p>
            <a:r>
              <a:rPr lang="en-US" altLang="zh-CN" dirty="0"/>
              <a:t>Passive:</a:t>
            </a:r>
          </a:p>
          <a:p>
            <a:pPr lvl="1"/>
            <a:r>
              <a:rPr lang="en-US" altLang="zh-CN" dirty="0"/>
              <a:t>Timing</a:t>
            </a:r>
          </a:p>
          <a:p>
            <a:pPr lvl="1"/>
            <a:r>
              <a:rPr lang="en-US" altLang="zh-CN" b="1" i="1" u="sng" spc="-55" dirty="0">
                <a:solidFill>
                  <a:prstClr val="black"/>
                </a:solidFill>
                <a:cs typeface="Calibri"/>
              </a:rPr>
              <a:t>P</a:t>
            </a:r>
            <a:r>
              <a:rPr lang="en-US" altLang="zh-CN" b="1" i="1" u="sng" spc="5" dirty="0">
                <a:solidFill>
                  <a:prstClr val="black"/>
                </a:solidFill>
                <a:cs typeface="Calibri"/>
              </a:rPr>
              <a:t>o</a:t>
            </a:r>
            <a:r>
              <a:rPr lang="en-US" altLang="zh-CN" b="1" i="1" u="sng" spc="-55" dirty="0">
                <a:solidFill>
                  <a:prstClr val="black"/>
                </a:solidFill>
                <a:cs typeface="Calibri"/>
              </a:rPr>
              <a:t>w</a:t>
            </a:r>
            <a:r>
              <a:rPr lang="en-US" altLang="zh-CN" b="1" i="1" u="sng" spc="-15" dirty="0">
                <a:solidFill>
                  <a:prstClr val="black"/>
                </a:solidFill>
                <a:cs typeface="Calibri"/>
              </a:rPr>
              <a:t>e</a:t>
            </a:r>
            <a:r>
              <a:rPr lang="en-US" altLang="zh-CN" b="1" i="1" u="sng" spc="-215" dirty="0">
                <a:solidFill>
                  <a:prstClr val="black"/>
                </a:solidFill>
                <a:cs typeface="Calibri"/>
              </a:rPr>
              <a:t>r</a:t>
            </a:r>
            <a:endParaRPr lang="en-US" altLang="zh-CN" b="1" i="1" u="sng" spc="-10" dirty="0">
              <a:solidFill>
                <a:prstClr val="black"/>
              </a:solidFill>
              <a:cs typeface="Calibri"/>
            </a:endParaRPr>
          </a:p>
          <a:p>
            <a:pPr lvl="1"/>
            <a:r>
              <a:rPr lang="en-US" altLang="zh-CN" dirty="0">
                <a:solidFill>
                  <a:prstClr val="black"/>
                </a:solidFill>
                <a:cs typeface="Calibri"/>
              </a:rPr>
              <a:t>El</a:t>
            </a:r>
            <a:r>
              <a:rPr lang="en-US" altLang="zh-CN" spc="5" dirty="0">
                <a:solidFill>
                  <a:prstClr val="black"/>
                </a:solidFill>
                <a:cs typeface="Calibri"/>
              </a:rPr>
              <a:t>e</a:t>
            </a:r>
            <a:r>
              <a:rPr lang="en-US" altLang="zh-CN" spc="-10" dirty="0">
                <a:solidFill>
                  <a:prstClr val="black"/>
                </a:solidFill>
                <a:cs typeface="Calibri"/>
              </a:rPr>
              <a:t>c</a:t>
            </a:r>
            <a:r>
              <a:rPr lang="en-US" altLang="zh-CN" spc="-5" dirty="0">
                <a:solidFill>
                  <a:prstClr val="black"/>
                </a:solidFill>
                <a:cs typeface="Calibri"/>
              </a:rPr>
              <a:t>t</a:t>
            </a:r>
            <a:r>
              <a:rPr lang="en-US" altLang="zh-CN" spc="-55" dirty="0">
                <a:solidFill>
                  <a:prstClr val="black"/>
                </a:solidFill>
                <a:cs typeface="Calibri"/>
              </a:rPr>
              <a:t>r</a:t>
            </a:r>
            <a:r>
              <a:rPr lang="en-US" altLang="zh-CN" spc="5" dirty="0">
                <a:solidFill>
                  <a:prstClr val="black"/>
                </a:solidFill>
                <a:cs typeface="Calibri"/>
              </a:rPr>
              <a:t>o</a:t>
            </a:r>
            <a:r>
              <a:rPr lang="en-US" altLang="zh-CN" spc="-20" dirty="0">
                <a:solidFill>
                  <a:prstClr val="black"/>
                </a:solidFill>
                <a:cs typeface="Calibri"/>
              </a:rPr>
              <a:t>m</a:t>
            </a:r>
            <a:r>
              <a:rPr lang="en-US" altLang="zh-CN" spc="-10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g</a:t>
            </a:r>
            <a:r>
              <a:rPr lang="en-US" altLang="zh-CN" spc="10" dirty="0">
                <a:solidFill>
                  <a:prstClr val="black"/>
                </a:solidFill>
                <a:cs typeface="Calibri"/>
              </a:rPr>
              <a:t>n</a:t>
            </a:r>
            <a:r>
              <a:rPr lang="en-US" altLang="zh-CN" spc="-35" dirty="0">
                <a:solidFill>
                  <a:prstClr val="black"/>
                </a:solidFill>
                <a:cs typeface="Calibri"/>
              </a:rPr>
              <a:t>e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tic</a:t>
            </a:r>
            <a:r>
              <a:rPr lang="en-US" altLang="zh-CN" spc="-4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(E</a:t>
            </a:r>
            <a:r>
              <a:rPr lang="en-US" altLang="zh-CN" spc="10" dirty="0">
                <a:solidFill>
                  <a:prstClr val="black"/>
                </a:solidFill>
                <a:cs typeface="Calibri"/>
              </a:rPr>
              <a:t>M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)</a:t>
            </a:r>
            <a:r>
              <a:rPr lang="en-US" altLang="zh-CN" spc="-20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spc="-55" dirty="0">
                <a:solidFill>
                  <a:prstClr val="black"/>
                </a:solidFill>
                <a:cs typeface="Calibri"/>
              </a:rPr>
              <a:t>r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altLang="zh-CN" spc="15" dirty="0">
                <a:solidFill>
                  <a:prstClr val="black"/>
                </a:solidFill>
                <a:cs typeface="Calibri"/>
              </a:rPr>
              <a:t>d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i</a:t>
            </a:r>
            <a:r>
              <a:rPr lang="en-US" altLang="zh-CN" spc="-20" dirty="0">
                <a:solidFill>
                  <a:prstClr val="black"/>
                </a:solidFill>
                <a:cs typeface="Calibri"/>
              </a:rPr>
              <a:t>a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ti</a:t>
            </a:r>
            <a:r>
              <a:rPr lang="en-US" altLang="zh-CN" spc="10" dirty="0">
                <a:solidFill>
                  <a:prstClr val="black"/>
                </a:solidFill>
                <a:cs typeface="Calibri"/>
              </a:rPr>
              <a:t>o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n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  <a:cs typeface="Calibri"/>
              </a:rPr>
              <a:t>Sound</a:t>
            </a:r>
          </a:p>
          <a:p>
            <a:r>
              <a:rPr lang="en-US" altLang="zh-CN" dirty="0"/>
              <a:t>Practical</a:t>
            </a:r>
            <a:r>
              <a:rPr lang="zh-CN" altLang="en-US" dirty="0"/>
              <a:t> </a:t>
            </a:r>
            <a:r>
              <a:rPr lang="en-US" altLang="zh-CN" dirty="0"/>
              <a:t>Threat:</a:t>
            </a:r>
            <a:r>
              <a:rPr lang="zh-CN" altLang="en-US" dirty="0"/>
              <a:t> </a:t>
            </a:r>
            <a:r>
              <a:rPr lang="en-US" altLang="zh-CN" dirty="0"/>
              <a:t>USIM,</a:t>
            </a:r>
            <a:r>
              <a:rPr lang="zh-CN" altLang="en-US" dirty="0"/>
              <a:t> </a:t>
            </a:r>
            <a:r>
              <a:rPr lang="en-US" altLang="zh-CN" dirty="0"/>
              <a:t>IC</a:t>
            </a:r>
            <a:r>
              <a:rPr lang="zh-CN" altLang="en-US" dirty="0"/>
              <a:t> </a:t>
            </a:r>
            <a:r>
              <a:rPr lang="en-US" altLang="zh-CN" dirty="0"/>
              <a:t>Card,</a:t>
            </a:r>
            <a:r>
              <a:rPr lang="zh-CN" altLang="en-US" dirty="0"/>
              <a:t> </a:t>
            </a:r>
            <a:r>
              <a:rPr lang="en-US" altLang="zh-CN" dirty="0"/>
              <a:t>…</a:t>
            </a:r>
          </a:p>
          <a:p>
            <a:pPr lvl="1"/>
            <a:endParaRPr lang="en-US" altLang="zh-CN" dirty="0">
              <a:solidFill>
                <a:prstClr val="black"/>
              </a:solidFill>
              <a:cs typeface="Calibri"/>
            </a:endParaRPr>
          </a:p>
        </p:txBody>
      </p:sp>
      <p:pic>
        <p:nvPicPr>
          <p:cNvPr id="34" name="图片 9">
            <a:extLst>
              <a:ext uri="{FF2B5EF4-FFF2-40B4-BE49-F238E27FC236}">
                <a16:creationId xmlns:a16="http://schemas.microsoft.com/office/drawing/2014/main" id="{FD653074-A0B2-2643-8D52-10CECC2096F1}"/>
              </a:ext>
            </a:extLst>
          </p:cNvPr>
          <p:cNvPicPr preferRelativeResize="0"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4416084"/>
            <a:ext cx="1157477" cy="60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10" descr="FXCM银行卡">
            <a:extLst>
              <a:ext uri="{FF2B5EF4-FFF2-40B4-BE49-F238E27FC236}">
                <a16:creationId xmlns:a16="http://schemas.microsoft.com/office/drawing/2014/main" id="{8A38D9CB-17BB-FB4C-BE13-0143E037DCE8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92409" y="5181600"/>
            <a:ext cx="1157477" cy="60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8" descr="lsi 130">
            <a:extLst>
              <a:ext uri="{FF2B5EF4-FFF2-40B4-BE49-F238E27FC236}">
                <a16:creationId xmlns:a16="http://schemas.microsoft.com/office/drawing/2014/main" id="{E754AE1E-7FE0-F24A-96C8-DEF9814F86DC}"/>
              </a:ext>
            </a:extLst>
          </p:cNvPr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7061" y="4417471"/>
            <a:ext cx="1157477" cy="6005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A8407C02-DB07-7047-ADAA-F0D9DC69CD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7083" y="5181600"/>
            <a:ext cx="1164794" cy="600570"/>
          </a:xfrm>
          <a:prstGeom prst="rect">
            <a:avLst/>
          </a:prstGeom>
        </p:spPr>
      </p:pic>
      <p:sp>
        <p:nvSpPr>
          <p:cNvPr id="38" name="object 5">
            <a:extLst>
              <a:ext uri="{FF2B5EF4-FFF2-40B4-BE49-F238E27FC236}">
                <a16:creationId xmlns:a16="http://schemas.microsoft.com/office/drawing/2014/main" id="{AC9FD8E0-5EF7-E64B-A713-832352F9FD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4636" y="2296795"/>
            <a:ext cx="1090613" cy="763587"/>
          </a:xfrm>
          <a:prstGeom prst="rect">
            <a:avLst/>
          </a:prstGeom>
          <a:blipFill dpi="0" rotWithShape="1">
            <a:blip r:embed="rId7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1" name="object 8">
            <a:extLst>
              <a:ext uri="{FF2B5EF4-FFF2-40B4-BE49-F238E27FC236}">
                <a16:creationId xmlns:a16="http://schemas.microsoft.com/office/drawing/2014/main" id="{8469AAC3-42E7-5043-B29B-1AE325155FC8}"/>
              </a:ext>
            </a:extLst>
          </p:cNvPr>
          <p:cNvSpPr/>
          <p:nvPr/>
        </p:nvSpPr>
        <p:spPr>
          <a:xfrm>
            <a:off x="8163243" y="1589087"/>
            <a:ext cx="2513012" cy="119063"/>
          </a:xfrm>
          <a:custGeom>
            <a:avLst/>
            <a:gdLst/>
            <a:ahLst/>
            <a:cxnLst/>
            <a:rect l="l" t="t" r="r" b="b"/>
            <a:pathLst>
              <a:path w="2512441" h="117855">
                <a:moveTo>
                  <a:pt x="2461985" y="58864"/>
                </a:moveTo>
                <a:lnTo>
                  <a:pt x="2404618" y="92328"/>
                </a:lnTo>
                <a:lnTo>
                  <a:pt x="2398649" y="95885"/>
                </a:lnTo>
                <a:lnTo>
                  <a:pt x="2396617" y="103631"/>
                </a:lnTo>
                <a:lnTo>
                  <a:pt x="2400046" y="109727"/>
                </a:lnTo>
                <a:lnTo>
                  <a:pt x="2403602" y="115824"/>
                </a:lnTo>
                <a:lnTo>
                  <a:pt x="2411349" y="117855"/>
                </a:lnTo>
                <a:lnTo>
                  <a:pt x="2490653" y="71627"/>
                </a:lnTo>
                <a:lnTo>
                  <a:pt x="2487295" y="71627"/>
                </a:lnTo>
                <a:lnTo>
                  <a:pt x="2487295" y="69850"/>
                </a:lnTo>
                <a:lnTo>
                  <a:pt x="2480818" y="69850"/>
                </a:lnTo>
                <a:lnTo>
                  <a:pt x="2461985" y="58864"/>
                </a:lnTo>
                <a:close/>
              </a:path>
              <a:path w="2512441" h="117855">
                <a:moveTo>
                  <a:pt x="2440323" y="46227"/>
                </a:moveTo>
                <a:lnTo>
                  <a:pt x="0" y="46227"/>
                </a:lnTo>
                <a:lnTo>
                  <a:pt x="0" y="71627"/>
                </a:lnTo>
                <a:lnTo>
                  <a:pt x="2440105" y="71627"/>
                </a:lnTo>
                <a:lnTo>
                  <a:pt x="2461985" y="58864"/>
                </a:lnTo>
                <a:lnTo>
                  <a:pt x="2440323" y="46227"/>
                </a:lnTo>
                <a:close/>
              </a:path>
              <a:path w="2512441" h="117855">
                <a:moveTo>
                  <a:pt x="2490702" y="46227"/>
                </a:moveTo>
                <a:lnTo>
                  <a:pt x="2487295" y="46227"/>
                </a:lnTo>
                <a:lnTo>
                  <a:pt x="2487295" y="71627"/>
                </a:lnTo>
                <a:lnTo>
                  <a:pt x="2490653" y="71627"/>
                </a:lnTo>
                <a:lnTo>
                  <a:pt x="2512441" y="58927"/>
                </a:lnTo>
                <a:lnTo>
                  <a:pt x="2490702" y="46227"/>
                </a:lnTo>
                <a:close/>
              </a:path>
              <a:path w="2512441" h="117855">
                <a:moveTo>
                  <a:pt x="2480818" y="47878"/>
                </a:moveTo>
                <a:lnTo>
                  <a:pt x="2461985" y="58864"/>
                </a:lnTo>
                <a:lnTo>
                  <a:pt x="2480818" y="69850"/>
                </a:lnTo>
                <a:lnTo>
                  <a:pt x="2480818" y="47878"/>
                </a:lnTo>
                <a:close/>
              </a:path>
              <a:path w="2512441" h="117855">
                <a:moveTo>
                  <a:pt x="2487295" y="47878"/>
                </a:moveTo>
                <a:lnTo>
                  <a:pt x="2480818" y="47878"/>
                </a:lnTo>
                <a:lnTo>
                  <a:pt x="2480818" y="69850"/>
                </a:lnTo>
                <a:lnTo>
                  <a:pt x="2487295" y="69850"/>
                </a:lnTo>
                <a:lnTo>
                  <a:pt x="2487295" y="47878"/>
                </a:lnTo>
                <a:close/>
              </a:path>
              <a:path w="2512441" h="117855">
                <a:moveTo>
                  <a:pt x="2411349" y="0"/>
                </a:moveTo>
                <a:lnTo>
                  <a:pt x="2403602" y="2031"/>
                </a:lnTo>
                <a:lnTo>
                  <a:pt x="2400046" y="8000"/>
                </a:lnTo>
                <a:lnTo>
                  <a:pt x="2396617" y="14097"/>
                </a:lnTo>
                <a:lnTo>
                  <a:pt x="2398649" y="21843"/>
                </a:lnTo>
                <a:lnTo>
                  <a:pt x="2404618" y="25400"/>
                </a:lnTo>
                <a:lnTo>
                  <a:pt x="2461985" y="58864"/>
                </a:lnTo>
                <a:lnTo>
                  <a:pt x="2480818" y="47878"/>
                </a:lnTo>
                <a:lnTo>
                  <a:pt x="2487295" y="47878"/>
                </a:lnTo>
                <a:lnTo>
                  <a:pt x="2487295" y="46227"/>
                </a:lnTo>
                <a:lnTo>
                  <a:pt x="2490702" y="46227"/>
                </a:lnTo>
                <a:lnTo>
                  <a:pt x="2417445" y="3428"/>
                </a:lnTo>
                <a:lnTo>
                  <a:pt x="241134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2" name="object 9">
            <a:extLst>
              <a:ext uri="{FF2B5EF4-FFF2-40B4-BE49-F238E27FC236}">
                <a16:creationId xmlns:a16="http://schemas.microsoft.com/office/drawing/2014/main" id="{349815EA-7F4C-4248-A5E4-9964295F8814}"/>
              </a:ext>
            </a:extLst>
          </p:cNvPr>
          <p:cNvSpPr txBox="1"/>
          <p:nvPr/>
        </p:nvSpPr>
        <p:spPr>
          <a:xfrm>
            <a:off x="8536305" y="1387475"/>
            <a:ext cx="1163638" cy="223837"/>
          </a:xfrm>
          <a:prstGeom prst="rect">
            <a:avLst/>
          </a:prstGeom>
        </p:spPr>
        <p:txBody>
          <a:bodyPr lIns="0" tIns="0" rIns="0" bIns="0"/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i="1" spc="-2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e</a:t>
            </a:r>
            <a:r>
              <a:rPr sz="1400" i="1" spc="-35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x</a:t>
            </a:r>
            <a:r>
              <a:rPr sz="1400" i="1" spc="-2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e</a:t>
            </a:r>
            <a:r>
              <a:rPr sz="1400" i="1" spc="-1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c</a:t>
            </a:r>
            <a:r>
              <a:rPr sz="1400" i="1" spc="-2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u</a:t>
            </a:r>
            <a:r>
              <a:rPr sz="1400" i="1" spc="-5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ti</a:t>
            </a:r>
            <a:r>
              <a:rPr sz="1400" i="1" spc="-2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o</a:t>
            </a:r>
            <a:r>
              <a:rPr sz="1400" i="1" spc="-1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n</a:t>
            </a:r>
            <a:r>
              <a:rPr sz="1400" i="1" spc="6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 </a:t>
            </a:r>
            <a:r>
              <a:rPr sz="1400" i="1" spc="-5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ti</a:t>
            </a:r>
            <a:r>
              <a:rPr sz="1400" i="1" spc="-5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m</a:t>
            </a:r>
            <a:r>
              <a:rPr sz="1400" i="1" spc="-1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e</a:t>
            </a:r>
            <a:endParaRPr sz="1400">
              <a:solidFill>
                <a:prstClr val="black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43" name="object 10">
            <a:extLst>
              <a:ext uri="{FF2B5EF4-FFF2-40B4-BE49-F238E27FC236}">
                <a16:creationId xmlns:a16="http://schemas.microsoft.com/office/drawing/2014/main" id="{32ED1B28-B79F-1746-A419-A48FEEF5465E}"/>
              </a:ext>
            </a:extLst>
          </p:cNvPr>
          <p:cNvSpPr/>
          <p:nvPr/>
        </p:nvSpPr>
        <p:spPr>
          <a:xfrm>
            <a:off x="8337868" y="1525587"/>
            <a:ext cx="0" cy="285750"/>
          </a:xfrm>
          <a:custGeom>
            <a:avLst/>
            <a:gdLst/>
            <a:ahLst/>
            <a:cxnLst/>
            <a:rect l="l" t="t" r="r" b="b"/>
            <a:pathLst>
              <a:path h="285496">
                <a:moveTo>
                  <a:pt x="0" y="285496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4" name="object 11">
            <a:extLst>
              <a:ext uri="{FF2B5EF4-FFF2-40B4-BE49-F238E27FC236}">
                <a16:creationId xmlns:a16="http://schemas.microsoft.com/office/drawing/2014/main" id="{7227CD67-7A88-B649-A8C7-71F85121621A}"/>
              </a:ext>
            </a:extLst>
          </p:cNvPr>
          <p:cNvSpPr/>
          <p:nvPr/>
        </p:nvSpPr>
        <p:spPr>
          <a:xfrm>
            <a:off x="9960293" y="1509712"/>
            <a:ext cx="0" cy="285750"/>
          </a:xfrm>
          <a:custGeom>
            <a:avLst/>
            <a:gdLst/>
            <a:ahLst/>
            <a:cxnLst/>
            <a:rect l="l" t="t" r="r" b="b"/>
            <a:pathLst>
              <a:path h="285623">
                <a:moveTo>
                  <a:pt x="0" y="285623"/>
                </a:move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5" name="object 12">
            <a:extLst>
              <a:ext uri="{FF2B5EF4-FFF2-40B4-BE49-F238E27FC236}">
                <a16:creationId xmlns:a16="http://schemas.microsoft.com/office/drawing/2014/main" id="{A8DCFBE7-1F08-CA44-A9C4-258C3B249C24}"/>
              </a:ext>
            </a:extLst>
          </p:cNvPr>
          <p:cNvSpPr txBox="1"/>
          <p:nvPr/>
        </p:nvSpPr>
        <p:spPr>
          <a:xfrm>
            <a:off x="10447655" y="1711325"/>
            <a:ext cx="355600" cy="223837"/>
          </a:xfrm>
          <a:prstGeom prst="rect">
            <a:avLst/>
          </a:prstGeom>
        </p:spPr>
        <p:txBody>
          <a:bodyPr lIns="0" tIns="0" rIns="0" bIns="0"/>
          <a:lstStyle/>
          <a:p>
            <a:pPr marL="127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sz="1400" i="1" spc="-5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ti</a:t>
            </a:r>
            <a:r>
              <a:rPr sz="1400" i="1" spc="-5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m</a:t>
            </a:r>
            <a:r>
              <a:rPr sz="1400" i="1" spc="-10" dirty="0">
                <a:solidFill>
                  <a:prstClr val="black"/>
                </a:solidFill>
                <a:latin typeface="Arial"/>
                <a:ea typeface="+mn-ea"/>
                <a:cs typeface="Arial"/>
              </a:rPr>
              <a:t>e</a:t>
            </a:r>
            <a:endParaRPr sz="1400">
              <a:solidFill>
                <a:prstClr val="black"/>
              </a:solidFill>
              <a:latin typeface="Arial"/>
              <a:ea typeface="+mn-ea"/>
              <a:cs typeface="Arial"/>
            </a:endParaRPr>
          </a:p>
        </p:txBody>
      </p:sp>
      <p:sp>
        <p:nvSpPr>
          <p:cNvPr id="46" name="object 13">
            <a:extLst>
              <a:ext uri="{FF2B5EF4-FFF2-40B4-BE49-F238E27FC236}">
                <a16:creationId xmlns:a16="http://schemas.microsoft.com/office/drawing/2014/main" id="{447F07FE-C27C-B744-AA42-7A93CBAC81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3243" y="1044575"/>
            <a:ext cx="347662" cy="398462"/>
          </a:xfrm>
          <a:prstGeom prst="rect">
            <a:avLst/>
          </a:prstGeom>
          <a:blipFill dpi="0" rotWithShape="1">
            <a:blip r:embed="rId8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47" name="object 14">
            <a:extLst>
              <a:ext uri="{FF2B5EF4-FFF2-40B4-BE49-F238E27FC236}">
                <a16:creationId xmlns:a16="http://schemas.microsoft.com/office/drawing/2014/main" id="{1D1BEB2D-82DF-9343-A79C-45CF2CA4F46A}"/>
              </a:ext>
            </a:extLst>
          </p:cNvPr>
          <p:cNvSpPr/>
          <p:nvPr/>
        </p:nvSpPr>
        <p:spPr>
          <a:xfrm>
            <a:off x="9602311" y="3036570"/>
            <a:ext cx="479425" cy="120650"/>
          </a:xfrm>
          <a:custGeom>
            <a:avLst/>
            <a:gdLst/>
            <a:ahLst/>
            <a:cxnLst/>
            <a:rect l="l" t="t" r="r" b="b"/>
            <a:pathLst>
              <a:path w="480440" h="119865">
                <a:moveTo>
                  <a:pt x="480440" y="38481"/>
                </a:moveTo>
                <a:lnTo>
                  <a:pt x="440993" y="70932"/>
                </a:lnTo>
                <a:lnTo>
                  <a:pt x="396995" y="95109"/>
                </a:lnTo>
                <a:lnTo>
                  <a:pt x="349438" y="111091"/>
                </a:lnTo>
                <a:lnTo>
                  <a:pt x="299310" y="118954"/>
                </a:lnTo>
                <a:lnTo>
                  <a:pt x="273592" y="119865"/>
                </a:lnTo>
                <a:lnTo>
                  <a:pt x="247602" y="118776"/>
                </a:lnTo>
                <a:lnTo>
                  <a:pt x="195303" y="110636"/>
                </a:lnTo>
                <a:lnTo>
                  <a:pt x="143404" y="94610"/>
                </a:lnTo>
                <a:lnTo>
                  <a:pt x="92893" y="70777"/>
                </a:lnTo>
                <a:lnTo>
                  <a:pt x="44762" y="39214"/>
                </a:lnTo>
                <a:lnTo>
                  <a:pt x="21898" y="20559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8" name="object 15">
            <a:extLst>
              <a:ext uri="{FF2B5EF4-FFF2-40B4-BE49-F238E27FC236}">
                <a16:creationId xmlns:a16="http://schemas.microsoft.com/office/drawing/2014/main" id="{14602BA5-06A4-9140-94B7-8FB12E651287}"/>
              </a:ext>
            </a:extLst>
          </p:cNvPr>
          <p:cNvSpPr/>
          <p:nvPr/>
        </p:nvSpPr>
        <p:spPr>
          <a:xfrm>
            <a:off x="9575324" y="3142932"/>
            <a:ext cx="563562" cy="123825"/>
          </a:xfrm>
          <a:custGeom>
            <a:avLst/>
            <a:gdLst/>
            <a:ahLst/>
            <a:cxnLst/>
            <a:rect l="l" t="t" r="r" b="b"/>
            <a:pathLst>
              <a:path w="563879" h="124571">
                <a:moveTo>
                  <a:pt x="563879" y="15493"/>
                </a:moveTo>
                <a:lnTo>
                  <a:pt x="515385" y="56197"/>
                </a:lnTo>
                <a:lnTo>
                  <a:pt x="462040" y="87424"/>
                </a:lnTo>
                <a:lnTo>
                  <a:pt x="405005" y="109207"/>
                </a:lnTo>
                <a:lnTo>
                  <a:pt x="345442" y="121578"/>
                </a:lnTo>
                <a:lnTo>
                  <a:pt x="284511" y="124571"/>
                </a:lnTo>
                <a:lnTo>
                  <a:pt x="253896" y="122560"/>
                </a:lnTo>
                <a:lnTo>
                  <a:pt x="193093" y="111546"/>
                </a:lnTo>
                <a:lnTo>
                  <a:pt x="133826" y="91235"/>
                </a:lnTo>
                <a:lnTo>
                  <a:pt x="77256" y="61660"/>
                </a:lnTo>
                <a:lnTo>
                  <a:pt x="24545" y="22854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49" name="object 16">
            <a:extLst>
              <a:ext uri="{FF2B5EF4-FFF2-40B4-BE49-F238E27FC236}">
                <a16:creationId xmlns:a16="http://schemas.microsoft.com/office/drawing/2014/main" id="{62482680-5D54-F444-AC5E-A1105BF9DBB4}"/>
              </a:ext>
            </a:extLst>
          </p:cNvPr>
          <p:cNvSpPr/>
          <p:nvPr/>
        </p:nvSpPr>
        <p:spPr>
          <a:xfrm>
            <a:off x="9546749" y="3242945"/>
            <a:ext cx="649287" cy="134937"/>
          </a:xfrm>
          <a:custGeom>
            <a:avLst/>
            <a:gdLst/>
            <a:ahLst/>
            <a:cxnLst/>
            <a:rect l="l" t="t" r="r" b="b"/>
            <a:pathLst>
              <a:path w="649097" h="135016">
                <a:moveTo>
                  <a:pt x="649097" y="1143"/>
                </a:moveTo>
                <a:lnTo>
                  <a:pt x="591979" y="49442"/>
                </a:lnTo>
                <a:lnTo>
                  <a:pt x="529567" y="86977"/>
                </a:lnTo>
                <a:lnTo>
                  <a:pt x="463198" y="113750"/>
                </a:lnTo>
                <a:lnTo>
                  <a:pt x="394206" y="129762"/>
                </a:lnTo>
                <a:lnTo>
                  <a:pt x="323929" y="135016"/>
                </a:lnTo>
                <a:lnTo>
                  <a:pt x="288725" y="133610"/>
                </a:lnTo>
                <a:lnTo>
                  <a:pt x="219023" y="122732"/>
                </a:lnTo>
                <a:lnTo>
                  <a:pt x="151374" y="101101"/>
                </a:lnTo>
                <a:lnTo>
                  <a:pt x="87113" y="68721"/>
                </a:lnTo>
                <a:lnTo>
                  <a:pt x="27578" y="25593"/>
                </a:lnTo>
                <a:lnTo>
                  <a:pt x="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0" name="object 17">
            <a:extLst>
              <a:ext uri="{FF2B5EF4-FFF2-40B4-BE49-F238E27FC236}">
                <a16:creationId xmlns:a16="http://schemas.microsoft.com/office/drawing/2014/main" id="{920EEB09-BCB6-8C41-9510-35C31E6A9FFA}"/>
              </a:ext>
            </a:extLst>
          </p:cNvPr>
          <p:cNvSpPr/>
          <p:nvPr/>
        </p:nvSpPr>
        <p:spPr>
          <a:xfrm>
            <a:off x="9508649" y="3338195"/>
            <a:ext cx="715962" cy="150812"/>
          </a:xfrm>
          <a:custGeom>
            <a:avLst/>
            <a:gdLst/>
            <a:ahLst/>
            <a:cxnLst/>
            <a:rect l="l" t="t" r="r" b="b"/>
            <a:pathLst>
              <a:path w="714756" h="150368">
                <a:moveTo>
                  <a:pt x="714756" y="0"/>
                </a:moveTo>
                <a:lnTo>
                  <a:pt x="683919" y="28320"/>
                </a:lnTo>
                <a:lnTo>
                  <a:pt x="651461" y="53692"/>
                </a:lnTo>
                <a:lnTo>
                  <a:pt x="617568" y="76114"/>
                </a:lnTo>
                <a:lnTo>
                  <a:pt x="582424" y="95586"/>
                </a:lnTo>
                <a:lnTo>
                  <a:pt x="546211" y="112105"/>
                </a:lnTo>
                <a:lnTo>
                  <a:pt x="509114" y="125670"/>
                </a:lnTo>
                <a:lnTo>
                  <a:pt x="471317" y="136280"/>
                </a:lnTo>
                <a:lnTo>
                  <a:pt x="433004" y="143934"/>
                </a:lnTo>
                <a:lnTo>
                  <a:pt x="394360" y="148630"/>
                </a:lnTo>
                <a:lnTo>
                  <a:pt x="355568" y="150368"/>
                </a:lnTo>
                <a:lnTo>
                  <a:pt x="316812" y="149144"/>
                </a:lnTo>
                <a:lnTo>
                  <a:pt x="278276" y="144959"/>
                </a:lnTo>
                <a:lnTo>
                  <a:pt x="240144" y="137811"/>
                </a:lnTo>
                <a:lnTo>
                  <a:pt x="202601" y="127699"/>
                </a:lnTo>
                <a:lnTo>
                  <a:pt x="165830" y="114621"/>
                </a:lnTo>
                <a:lnTo>
                  <a:pt x="130015" y="98576"/>
                </a:lnTo>
                <a:lnTo>
                  <a:pt x="95341" y="79562"/>
                </a:lnTo>
                <a:lnTo>
                  <a:pt x="61990" y="57579"/>
                </a:lnTo>
                <a:lnTo>
                  <a:pt x="30149" y="32625"/>
                </a:lnTo>
                <a:lnTo>
                  <a:pt x="0" y="4699"/>
                </a:lnTo>
              </a:path>
            </a:pathLst>
          </a:custGeom>
          <a:ln w="25399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1" name="object 18">
            <a:extLst>
              <a:ext uri="{FF2B5EF4-FFF2-40B4-BE49-F238E27FC236}">
                <a16:creationId xmlns:a16="http://schemas.microsoft.com/office/drawing/2014/main" id="{03BB32CC-F5B7-5745-98C7-3CD53D6FD5FA}"/>
              </a:ext>
            </a:extLst>
          </p:cNvPr>
          <p:cNvSpPr/>
          <p:nvPr/>
        </p:nvSpPr>
        <p:spPr>
          <a:xfrm>
            <a:off x="9465786" y="3463607"/>
            <a:ext cx="823913" cy="177800"/>
          </a:xfrm>
          <a:custGeom>
            <a:avLst/>
            <a:gdLst/>
            <a:ahLst/>
            <a:cxnLst/>
            <a:rect l="l" t="t" r="r" b="b"/>
            <a:pathLst>
              <a:path w="823595" h="177847">
                <a:moveTo>
                  <a:pt x="823595" y="0"/>
                </a:moveTo>
                <a:lnTo>
                  <a:pt x="787692" y="33022"/>
                </a:lnTo>
                <a:lnTo>
                  <a:pt x="749963" y="62669"/>
                </a:lnTo>
                <a:lnTo>
                  <a:pt x="710619" y="88936"/>
                </a:lnTo>
                <a:lnTo>
                  <a:pt x="669873" y="111819"/>
                </a:lnTo>
                <a:lnTo>
                  <a:pt x="627935" y="131316"/>
                </a:lnTo>
                <a:lnTo>
                  <a:pt x="585018" y="147420"/>
                </a:lnTo>
                <a:lnTo>
                  <a:pt x="541334" y="160130"/>
                </a:lnTo>
                <a:lnTo>
                  <a:pt x="497095" y="169440"/>
                </a:lnTo>
                <a:lnTo>
                  <a:pt x="452512" y="175347"/>
                </a:lnTo>
                <a:lnTo>
                  <a:pt x="407797" y="177847"/>
                </a:lnTo>
                <a:lnTo>
                  <a:pt x="363161" y="176936"/>
                </a:lnTo>
                <a:lnTo>
                  <a:pt x="318818" y="172611"/>
                </a:lnTo>
                <a:lnTo>
                  <a:pt x="274979" y="164867"/>
                </a:lnTo>
                <a:lnTo>
                  <a:pt x="231855" y="153700"/>
                </a:lnTo>
                <a:lnTo>
                  <a:pt x="189658" y="139106"/>
                </a:lnTo>
                <a:lnTo>
                  <a:pt x="148601" y="121082"/>
                </a:lnTo>
                <a:lnTo>
                  <a:pt x="108894" y="99624"/>
                </a:lnTo>
                <a:lnTo>
                  <a:pt x="70751" y="74728"/>
                </a:lnTo>
                <a:lnTo>
                  <a:pt x="34382" y="46389"/>
                </a:lnTo>
                <a:lnTo>
                  <a:pt x="0" y="14605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lIns="0" tIns="0" rIns="0" bIns="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>
              <a:solidFill>
                <a:prstClr val="black"/>
              </a:solidFill>
              <a:latin typeface="Calibri"/>
              <a:ea typeface="+mn-ea"/>
            </a:endParaRPr>
          </a:p>
        </p:txBody>
      </p:sp>
      <p:sp>
        <p:nvSpPr>
          <p:cNvPr id="52" name="object 19">
            <a:extLst>
              <a:ext uri="{FF2B5EF4-FFF2-40B4-BE49-F238E27FC236}">
                <a16:creationId xmlns:a16="http://schemas.microsoft.com/office/drawing/2014/main" id="{276D8271-7105-2543-968B-F8FFA973AF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85668" y="1044575"/>
            <a:ext cx="360362" cy="409575"/>
          </a:xfrm>
          <a:prstGeom prst="rect">
            <a:avLst/>
          </a:prstGeom>
          <a:blipFill dpi="0" rotWithShape="1">
            <a:blip r:embed="rId9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54" name="object 22">
            <a:extLst>
              <a:ext uri="{FF2B5EF4-FFF2-40B4-BE49-F238E27FC236}">
                <a16:creationId xmlns:a16="http://schemas.microsoft.com/office/drawing/2014/main" id="{F214787D-1B3D-A34F-9017-66728369B0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0642" y="2327275"/>
            <a:ext cx="2144713" cy="1462087"/>
          </a:xfrm>
          <a:prstGeom prst="rect">
            <a:avLst/>
          </a:prstGeom>
          <a:blipFill dpi="0" rotWithShape="1">
            <a:blip r:embed="rId10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en-US" altLang="en-US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9808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747"/>
    </mc:Choice>
    <mc:Fallback xmlns="">
      <p:transition spd="slow" advTm="5674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4217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Side-Channel Analysis (SCA)</a:t>
            </a:r>
            <a:endParaRPr lang="zh-CN" altLang="en-US" sz="2800" dirty="0"/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62B6E035-16A9-674B-930E-0CACFA912804}"/>
              </a:ext>
            </a:extLst>
          </p:cNvPr>
          <p:cNvGrpSpPr/>
          <p:nvPr/>
        </p:nvGrpSpPr>
        <p:grpSpPr>
          <a:xfrm>
            <a:off x="990600" y="3324225"/>
            <a:ext cx="6424612" cy="2122488"/>
            <a:chOff x="2260600" y="3615821"/>
            <a:chExt cx="6424612" cy="2122488"/>
          </a:xfrm>
        </p:grpSpPr>
        <p:sp>
          <p:nvSpPr>
            <p:cNvPr id="8" name="object 5">
              <a:extLst>
                <a:ext uri="{FF2B5EF4-FFF2-40B4-BE49-F238E27FC236}">
                  <a16:creationId xmlns:a16="http://schemas.microsoft.com/office/drawing/2014/main" id="{8C73D1A7-AB08-1B45-9E05-F1B8ABD87F29}"/>
                </a:ext>
              </a:extLst>
            </p:cNvPr>
            <p:cNvSpPr/>
            <p:nvPr/>
          </p:nvSpPr>
          <p:spPr>
            <a:xfrm>
              <a:off x="3284537" y="3720596"/>
              <a:ext cx="927100" cy="215900"/>
            </a:xfrm>
            <a:custGeom>
              <a:avLst/>
              <a:gdLst/>
              <a:ahLst/>
              <a:cxnLst/>
              <a:rect l="l" t="t" r="r" b="b"/>
              <a:pathLst>
                <a:path w="927100" h="215900">
                  <a:moveTo>
                    <a:pt x="711200" y="0"/>
                  </a:moveTo>
                  <a:lnTo>
                    <a:pt x="711200" y="215900"/>
                  </a:lnTo>
                  <a:lnTo>
                    <a:pt x="855218" y="143890"/>
                  </a:lnTo>
                  <a:lnTo>
                    <a:pt x="747140" y="143890"/>
                  </a:lnTo>
                  <a:lnTo>
                    <a:pt x="747140" y="72009"/>
                  </a:lnTo>
                  <a:lnTo>
                    <a:pt x="855218" y="72009"/>
                  </a:lnTo>
                  <a:lnTo>
                    <a:pt x="711200" y="0"/>
                  </a:lnTo>
                  <a:close/>
                </a:path>
                <a:path w="927100" h="215900">
                  <a:moveTo>
                    <a:pt x="711200" y="72009"/>
                  </a:moveTo>
                  <a:lnTo>
                    <a:pt x="0" y="72009"/>
                  </a:lnTo>
                  <a:lnTo>
                    <a:pt x="0" y="143890"/>
                  </a:lnTo>
                  <a:lnTo>
                    <a:pt x="711200" y="143890"/>
                  </a:lnTo>
                  <a:lnTo>
                    <a:pt x="711200" y="72009"/>
                  </a:lnTo>
                  <a:close/>
                </a:path>
                <a:path w="927100" h="215900">
                  <a:moveTo>
                    <a:pt x="855218" y="72009"/>
                  </a:moveTo>
                  <a:lnTo>
                    <a:pt x="747140" y="72009"/>
                  </a:lnTo>
                  <a:lnTo>
                    <a:pt x="747140" y="143890"/>
                  </a:lnTo>
                  <a:lnTo>
                    <a:pt x="855218" y="143890"/>
                  </a:lnTo>
                  <a:lnTo>
                    <a:pt x="927100" y="107950"/>
                  </a:lnTo>
                  <a:lnTo>
                    <a:pt x="855218" y="72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764449EE-CD7D-CB4E-B47E-41D021EA9547}"/>
                </a:ext>
              </a:extLst>
            </p:cNvPr>
            <p:cNvSpPr/>
            <p:nvPr/>
          </p:nvSpPr>
          <p:spPr>
            <a:xfrm>
              <a:off x="6778625" y="3720596"/>
              <a:ext cx="928687" cy="215900"/>
            </a:xfrm>
            <a:custGeom>
              <a:avLst/>
              <a:gdLst/>
              <a:ahLst/>
              <a:cxnLst/>
              <a:rect l="l" t="t" r="r" b="b"/>
              <a:pathLst>
                <a:path w="928624" h="215900">
                  <a:moveTo>
                    <a:pt x="712724" y="0"/>
                  </a:moveTo>
                  <a:lnTo>
                    <a:pt x="712724" y="215900"/>
                  </a:lnTo>
                  <a:lnTo>
                    <a:pt x="856742" y="143890"/>
                  </a:lnTo>
                  <a:lnTo>
                    <a:pt x="748664" y="143890"/>
                  </a:lnTo>
                  <a:lnTo>
                    <a:pt x="748664" y="72009"/>
                  </a:lnTo>
                  <a:lnTo>
                    <a:pt x="856742" y="72009"/>
                  </a:lnTo>
                  <a:lnTo>
                    <a:pt x="712724" y="0"/>
                  </a:lnTo>
                  <a:close/>
                </a:path>
                <a:path w="928624" h="215900">
                  <a:moveTo>
                    <a:pt x="712724" y="72009"/>
                  </a:moveTo>
                  <a:lnTo>
                    <a:pt x="0" y="72009"/>
                  </a:lnTo>
                  <a:lnTo>
                    <a:pt x="0" y="143890"/>
                  </a:lnTo>
                  <a:lnTo>
                    <a:pt x="712724" y="143890"/>
                  </a:lnTo>
                  <a:lnTo>
                    <a:pt x="712724" y="72009"/>
                  </a:lnTo>
                  <a:close/>
                </a:path>
                <a:path w="928624" h="215900">
                  <a:moveTo>
                    <a:pt x="856742" y="72009"/>
                  </a:moveTo>
                  <a:lnTo>
                    <a:pt x="748664" y="72009"/>
                  </a:lnTo>
                  <a:lnTo>
                    <a:pt x="748664" y="143890"/>
                  </a:lnTo>
                  <a:lnTo>
                    <a:pt x="856742" y="143890"/>
                  </a:lnTo>
                  <a:lnTo>
                    <a:pt x="928624" y="107950"/>
                  </a:lnTo>
                  <a:lnTo>
                    <a:pt x="856742" y="7200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lIns="0" tIns="0" rIns="0" b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prstClr val="black"/>
                </a:solidFill>
                <a:latin typeface="Calibri"/>
                <a:ea typeface="+mn-ea"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F146B2DC-4D1D-9545-BBDB-28490D2A59AD}"/>
                </a:ext>
              </a:extLst>
            </p:cNvPr>
            <p:cNvSpPr txBox="1"/>
            <p:nvPr/>
          </p:nvSpPr>
          <p:spPr>
            <a:xfrm>
              <a:off x="2260600" y="3615821"/>
              <a:ext cx="628650" cy="36195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 marL="127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20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I</a:t>
              </a:r>
              <a:r>
                <a:rPr sz="2200" spc="-15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n</a:t>
              </a:r>
              <a:r>
                <a:rPr sz="2200" spc="-1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pu</a:t>
              </a:r>
              <a:r>
                <a:rPr sz="220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t</a:t>
              </a:r>
            </a:p>
          </p:txBody>
        </p:sp>
        <p:sp>
          <p:nvSpPr>
            <p:cNvPr id="11" name="object 8">
              <a:extLst>
                <a:ext uri="{FF2B5EF4-FFF2-40B4-BE49-F238E27FC236}">
                  <a16:creationId xmlns:a16="http://schemas.microsoft.com/office/drawing/2014/main" id="{54223D8A-BCC2-6047-BC3D-CE4A3B40EAF7}"/>
                </a:ext>
              </a:extLst>
            </p:cNvPr>
            <p:cNvSpPr txBox="1"/>
            <p:nvPr/>
          </p:nvSpPr>
          <p:spPr>
            <a:xfrm>
              <a:off x="7847012" y="3615821"/>
              <a:ext cx="838200" cy="361950"/>
            </a:xfrm>
            <a:prstGeom prst="rect">
              <a:avLst/>
            </a:prstGeom>
          </p:spPr>
          <p:txBody>
            <a:bodyPr lIns="0" tIns="0" rIns="0" bIns="0"/>
            <a:lstStyle/>
            <a:p>
              <a:pPr marL="127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sz="220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Out</a:t>
              </a:r>
              <a:r>
                <a:rPr sz="2200" spc="-15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p</a:t>
              </a:r>
              <a:r>
                <a:rPr sz="2200" spc="-1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u</a:t>
              </a:r>
              <a:r>
                <a:rPr sz="2200" dirty="0">
                  <a:solidFill>
                    <a:prstClr val="black"/>
                  </a:solidFill>
                  <a:latin typeface="Calibri"/>
                  <a:ea typeface="+mn-ea"/>
                  <a:cs typeface="Calibri"/>
                </a:rPr>
                <a:t>t</a:t>
              </a:r>
              <a:endParaRPr sz="2200">
                <a:solidFill>
                  <a:prstClr val="black"/>
                </a:solidFill>
                <a:latin typeface="Calibri"/>
                <a:ea typeface="+mn-ea"/>
                <a:cs typeface="Calibri"/>
              </a:endParaRPr>
            </a:p>
          </p:txBody>
        </p:sp>
        <p:sp>
          <p:nvSpPr>
            <p:cNvPr id="18" name="object 15">
              <a:extLst>
                <a:ext uri="{FF2B5EF4-FFF2-40B4-BE49-F238E27FC236}">
                  <a16:creationId xmlns:a16="http://schemas.microsoft.com/office/drawing/2014/main" id="{BC59B286-6D7F-4B40-9127-07E23718E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96000" y="4442909"/>
              <a:ext cx="2339975" cy="1295400"/>
            </a:xfrm>
            <a:prstGeom prst="rect">
              <a:avLst/>
            </a:prstGeom>
            <a:blipFill dpi="0" rotWithShape="1">
              <a:blip r:embed="rId3"/>
              <a:srcRect/>
              <a:stretch>
                <a:fillRect/>
              </a:stretch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/>
              <a:endParaRPr lang="en-US" altLang="en-US">
                <a:solidFill>
                  <a:srgbClr val="000000"/>
                </a:solidFill>
                <a:latin typeface="Calibri" panose="020F0502020204030204" pitchFamily="34" charset="0"/>
              </a:endParaRPr>
            </a:p>
          </p:txBody>
        </p:sp>
        <p:sp>
          <p:nvSpPr>
            <p:cNvPr id="19" name="object 16">
              <a:extLst>
                <a:ext uri="{FF2B5EF4-FFF2-40B4-BE49-F238E27FC236}">
                  <a16:creationId xmlns:a16="http://schemas.microsoft.com/office/drawing/2014/main" id="{B6BACC51-BC61-7D4D-B06A-8004F72D7AAE}"/>
                </a:ext>
              </a:extLst>
            </p:cNvPr>
            <p:cNvSpPr/>
            <p:nvPr/>
          </p:nvSpPr>
          <p:spPr>
            <a:xfrm>
              <a:off x="5492750" y="4655634"/>
              <a:ext cx="315912" cy="717550"/>
            </a:xfrm>
            <a:custGeom>
              <a:avLst/>
              <a:gdLst/>
              <a:ahLst/>
              <a:cxnLst/>
              <a:rect l="l" t="t" r="r" b="b"/>
              <a:pathLst>
                <a:path w="317222" h="717803">
                  <a:moveTo>
                    <a:pt x="210395" y="673029"/>
                  </a:moveTo>
                  <a:lnTo>
                    <a:pt x="186562" y="717803"/>
                  </a:lnTo>
                  <a:lnTo>
                    <a:pt x="283590" y="697610"/>
                  </a:lnTo>
                  <a:lnTo>
                    <a:pt x="276009" y="678941"/>
                  </a:lnTo>
                  <a:lnTo>
                    <a:pt x="221742" y="678941"/>
                  </a:lnTo>
                  <a:lnTo>
                    <a:pt x="210565" y="673099"/>
                  </a:lnTo>
                  <a:lnTo>
                    <a:pt x="210395" y="673029"/>
                  </a:lnTo>
                  <a:close/>
                </a:path>
                <a:path w="317222" h="717803">
                  <a:moveTo>
                    <a:pt x="222295" y="650673"/>
                  </a:moveTo>
                  <a:lnTo>
                    <a:pt x="210395" y="673029"/>
                  </a:lnTo>
                  <a:lnTo>
                    <a:pt x="210565" y="673099"/>
                  </a:lnTo>
                  <a:lnTo>
                    <a:pt x="221742" y="678941"/>
                  </a:lnTo>
                  <a:lnTo>
                    <a:pt x="233552" y="656462"/>
                  </a:lnTo>
                  <a:lnTo>
                    <a:pt x="222295" y="650673"/>
                  </a:lnTo>
                  <a:close/>
                </a:path>
                <a:path w="317222" h="717803">
                  <a:moveTo>
                    <a:pt x="246252" y="605662"/>
                  </a:moveTo>
                  <a:lnTo>
                    <a:pt x="222295" y="650673"/>
                  </a:lnTo>
                  <a:lnTo>
                    <a:pt x="233552" y="656462"/>
                  </a:lnTo>
                  <a:lnTo>
                    <a:pt x="221742" y="678941"/>
                  </a:lnTo>
                  <a:lnTo>
                    <a:pt x="276009" y="678941"/>
                  </a:lnTo>
                  <a:lnTo>
                    <a:pt x="246252" y="605662"/>
                  </a:lnTo>
                  <a:close/>
                </a:path>
                <a:path w="317222" h="717803">
                  <a:moveTo>
                    <a:pt x="291404" y="243409"/>
                  </a:moveTo>
                  <a:lnTo>
                    <a:pt x="270256" y="281431"/>
                  </a:lnTo>
                  <a:lnTo>
                    <a:pt x="233299" y="317880"/>
                  </a:lnTo>
                  <a:lnTo>
                    <a:pt x="185293" y="356488"/>
                  </a:lnTo>
                  <a:lnTo>
                    <a:pt x="108076" y="415035"/>
                  </a:lnTo>
                  <a:lnTo>
                    <a:pt x="95758" y="424687"/>
                  </a:lnTo>
                  <a:lnTo>
                    <a:pt x="62357" y="453135"/>
                  </a:lnTo>
                  <a:lnTo>
                    <a:pt x="35460" y="480821"/>
                  </a:lnTo>
                  <a:lnTo>
                    <a:pt x="18287" y="507872"/>
                  </a:lnTo>
                  <a:lnTo>
                    <a:pt x="17907" y="508507"/>
                  </a:lnTo>
                  <a:lnTo>
                    <a:pt x="17652" y="509015"/>
                  </a:lnTo>
                  <a:lnTo>
                    <a:pt x="17525" y="509650"/>
                  </a:lnTo>
                  <a:lnTo>
                    <a:pt x="14859" y="518032"/>
                  </a:lnTo>
                  <a:lnTo>
                    <a:pt x="14605" y="519429"/>
                  </a:lnTo>
                  <a:lnTo>
                    <a:pt x="13715" y="526795"/>
                  </a:lnTo>
                  <a:lnTo>
                    <a:pt x="13645" y="530097"/>
                  </a:lnTo>
                  <a:lnTo>
                    <a:pt x="14350" y="537971"/>
                  </a:lnTo>
                  <a:lnTo>
                    <a:pt x="14642" y="538883"/>
                  </a:lnTo>
                  <a:lnTo>
                    <a:pt x="16383" y="545845"/>
                  </a:lnTo>
                  <a:lnTo>
                    <a:pt x="37846" y="578738"/>
                  </a:lnTo>
                  <a:lnTo>
                    <a:pt x="72898" y="606424"/>
                  </a:lnTo>
                  <a:lnTo>
                    <a:pt x="116332" y="631189"/>
                  </a:lnTo>
                  <a:lnTo>
                    <a:pt x="163702" y="653414"/>
                  </a:lnTo>
                  <a:lnTo>
                    <a:pt x="210395" y="673029"/>
                  </a:lnTo>
                  <a:lnTo>
                    <a:pt x="222295" y="650673"/>
                  </a:lnTo>
                  <a:lnTo>
                    <a:pt x="220218" y="649604"/>
                  </a:lnTo>
                  <a:lnTo>
                    <a:pt x="197485" y="640206"/>
                  </a:lnTo>
                  <a:lnTo>
                    <a:pt x="174244" y="630300"/>
                  </a:lnTo>
                  <a:lnTo>
                    <a:pt x="128270" y="608710"/>
                  </a:lnTo>
                  <a:lnTo>
                    <a:pt x="87122" y="585469"/>
                  </a:lnTo>
                  <a:lnTo>
                    <a:pt x="56642" y="561593"/>
                  </a:lnTo>
                  <a:lnTo>
                    <a:pt x="41145" y="539622"/>
                  </a:lnTo>
                  <a:lnTo>
                    <a:pt x="40259" y="537590"/>
                  </a:lnTo>
                  <a:lnTo>
                    <a:pt x="40476" y="537590"/>
                  </a:lnTo>
                  <a:lnTo>
                    <a:pt x="39660" y="534542"/>
                  </a:lnTo>
                  <a:lnTo>
                    <a:pt x="39497" y="534542"/>
                  </a:lnTo>
                  <a:lnTo>
                    <a:pt x="39115" y="532510"/>
                  </a:lnTo>
                  <a:lnTo>
                    <a:pt x="39351" y="532510"/>
                  </a:lnTo>
                  <a:lnTo>
                    <a:pt x="39179" y="530097"/>
                  </a:lnTo>
                  <a:lnTo>
                    <a:pt x="38862" y="530097"/>
                  </a:lnTo>
                  <a:lnTo>
                    <a:pt x="38988" y="527430"/>
                  </a:lnTo>
                  <a:lnTo>
                    <a:pt x="39229" y="527430"/>
                  </a:lnTo>
                  <a:lnTo>
                    <a:pt x="39580" y="524890"/>
                  </a:lnTo>
                  <a:lnTo>
                    <a:pt x="39370" y="524890"/>
                  </a:lnTo>
                  <a:lnTo>
                    <a:pt x="39877" y="522731"/>
                  </a:lnTo>
                  <a:lnTo>
                    <a:pt x="40053" y="522731"/>
                  </a:lnTo>
                  <a:lnTo>
                    <a:pt x="41179" y="519175"/>
                  </a:lnTo>
                  <a:lnTo>
                    <a:pt x="41021" y="519175"/>
                  </a:lnTo>
                  <a:lnTo>
                    <a:pt x="41783" y="517270"/>
                  </a:lnTo>
                  <a:lnTo>
                    <a:pt x="41938" y="517270"/>
                  </a:lnTo>
                  <a:lnTo>
                    <a:pt x="44323" y="512317"/>
                  </a:lnTo>
                  <a:lnTo>
                    <a:pt x="69976" y="480821"/>
                  </a:lnTo>
                  <a:lnTo>
                    <a:pt x="100075" y="454024"/>
                  </a:lnTo>
                  <a:lnTo>
                    <a:pt x="201040" y="376554"/>
                  </a:lnTo>
                  <a:lnTo>
                    <a:pt x="226313" y="356742"/>
                  </a:lnTo>
                  <a:lnTo>
                    <a:pt x="261365" y="326897"/>
                  </a:lnTo>
                  <a:lnTo>
                    <a:pt x="290195" y="297306"/>
                  </a:lnTo>
                  <a:lnTo>
                    <a:pt x="314325" y="256666"/>
                  </a:lnTo>
                  <a:lnTo>
                    <a:pt x="316357" y="248284"/>
                  </a:lnTo>
                  <a:lnTo>
                    <a:pt x="316611" y="247522"/>
                  </a:lnTo>
                  <a:lnTo>
                    <a:pt x="316738" y="245998"/>
                  </a:lnTo>
                  <a:lnTo>
                    <a:pt x="316833" y="244474"/>
                  </a:lnTo>
                  <a:lnTo>
                    <a:pt x="291338" y="244474"/>
                  </a:lnTo>
                  <a:lnTo>
                    <a:pt x="291404" y="243409"/>
                  </a:lnTo>
                  <a:close/>
                </a:path>
                <a:path w="317222" h="717803">
                  <a:moveTo>
                    <a:pt x="40259" y="537590"/>
                  </a:moveTo>
                  <a:lnTo>
                    <a:pt x="41021" y="539622"/>
                  </a:lnTo>
                  <a:lnTo>
                    <a:pt x="40822" y="538883"/>
                  </a:lnTo>
                  <a:lnTo>
                    <a:pt x="40259" y="537590"/>
                  </a:lnTo>
                  <a:close/>
                </a:path>
                <a:path w="317222" h="717803">
                  <a:moveTo>
                    <a:pt x="40822" y="538883"/>
                  </a:moveTo>
                  <a:lnTo>
                    <a:pt x="41021" y="539622"/>
                  </a:lnTo>
                  <a:lnTo>
                    <a:pt x="40822" y="538883"/>
                  </a:lnTo>
                  <a:close/>
                </a:path>
                <a:path w="317222" h="717803">
                  <a:moveTo>
                    <a:pt x="40476" y="537590"/>
                  </a:moveTo>
                  <a:lnTo>
                    <a:pt x="40259" y="537590"/>
                  </a:lnTo>
                  <a:lnTo>
                    <a:pt x="40822" y="538883"/>
                  </a:lnTo>
                  <a:lnTo>
                    <a:pt x="40476" y="537590"/>
                  </a:lnTo>
                  <a:close/>
                </a:path>
                <a:path w="317222" h="717803">
                  <a:moveTo>
                    <a:pt x="39115" y="532510"/>
                  </a:moveTo>
                  <a:lnTo>
                    <a:pt x="39497" y="534542"/>
                  </a:lnTo>
                  <a:lnTo>
                    <a:pt x="39437" y="533711"/>
                  </a:lnTo>
                  <a:lnTo>
                    <a:pt x="39115" y="532510"/>
                  </a:lnTo>
                  <a:close/>
                </a:path>
                <a:path w="317222" h="717803">
                  <a:moveTo>
                    <a:pt x="39437" y="533711"/>
                  </a:moveTo>
                  <a:lnTo>
                    <a:pt x="39497" y="534542"/>
                  </a:lnTo>
                  <a:lnTo>
                    <a:pt x="39660" y="534542"/>
                  </a:lnTo>
                  <a:lnTo>
                    <a:pt x="39437" y="533711"/>
                  </a:lnTo>
                  <a:close/>
                </a:path>
                <a:path w="317222" h="717803">
                  <a:moveTo>
                    <a:pt x="39351" y="532510"/>
                  </a:moveTo>
                  <a:lnTo>
                    <a:pt x="39115" y="532510"/>
                  </a:lnTo>
                  <a:lnTo>
                    <a:pt x="39437" y="533711"/>
                  </a:lnTo>
                  <a:lnTo>
                    <a:pt x="39351" y="532510"/>
                  </a:lnTo>
                  <a:close/>
                </a:path>
                <a:path w="317222" h="717803">
                  <a:moveTo>
                    <a:pt x="38988" y="527430"/>
                  </a:moveTo>
                  <a:lnTo>
                    <a:pt x="38862" y="530097"/>
                  </a:lnTo>
                  <a:lnTo>
                    <a:pt x="38949" y="529462"/>
                  </a:lnTo>
                  <a:lnTo>
                    <a:pt x="38988" y="527430"/>
                  </a:lnTo>
                  <a:close/>
                </a:path>
                <a:path w="317222" h="717803">
                  <a:moveTo>
                    <a:pt x="39071" y="528581"/>
                  </a:moveTo>
                  <a:lnTo>
                    <a:pt x="38862" y="530097"/>
                  </a:lnTo>
                  <a:lnTo>
                    <a:pt x="39179" y="530097"/>
                  </a:lnTo>
                  <a:lnTo>
                    <a:pt x="39071" y="528581"/>
                  </a:lnTo>
                  <a:close/>
                </a:path>
                <a:path w="317222" h="717803">
                  <a:moveTo>
                    <a:pt x="39229" y="527430"/>
                  </a:moveTo>
                  <a:lnTo>
                    <a:pt x="38988" y="527430"/>
                  </a:lnTo>
                  <a:lnTo>
                    <a:pt x="39071" y="528581"/>
                  </a:lnTo>
                  <a:lnTo>
                    <a:pt x="39229" y="527430"/>
                  </a:lnTo>
                  <a:close/>
                </a:path>
                <a:path w="317222" h="717803">
                  <a:moveTo>
                    <a:pt x="39877" y="522731"/>
                  </a:moveTo>
                  <a:lnTo>
                    <a:pt x="39370" y="524890"/>
                  </a:lnTo>
                  <a:lnTo>
                    <a:pt x="39742" y="523714"/>
                  </a:lnTo>
                  <a:lnTo>
                    <a:pt x="39877" y="522731"/>
                  </a:lnTo>
                  <a:close/>
                </a:path>
                <a:path w="317222" h="717803">
                  <a:moveTo>
                    <a:pt x="39742" y="523714"/>
                  </a:moveTo>
                  <a:lnTo>
                    <a:pt x="39370" y="524890"/>
                  </a:lnTo>
                  <a:lnTo>
                    <a:pt x="39580" y="524890"/>
                  </a:lnTo>
                  <a:lnTo>
                    <a:pt x="39742" y="523714"/>
                  </a:lnTo>
                  <a:close/>
                </a:path>
                <a:path w="317222" h="717803">
                  <a:moveTo>
                    <a:pt x="40053" y="522731"/>
                  </a:moveTo>
                  <a:lnTo>
                    <a:pt x="39877" y="522731"/>
                  </a:lnTo>
                  <a:lnTo>
                    <a:pt x="39742" y="523714"/>
                  </a:lnTo>
                  <a:lnTo>
                    <a:pt x="40053" y="522731"/>
                  </a:lnTo>
                  <a:close/>
                </a:path>
                <a:path w="317222" h="717803">
                  <a:moveTo>
                    <a:pt x="41783" y="517270"/>
                  </a:moveTo>
                  <a:lnTo>
                    <a:pt x="41021" y="519175"/>
                  </a:lnTo>
                  <a:lnTo>
                    <a:pt x="41484" y="518212"/>
                  </a:lnTo>
                  <a:lnTo>
                    <a:pt x="41783" y="517270"/>
                  </a:lnTo>
                  <a:close/>
                </a:path>
                <a:path w="317222" h="717803">
                  <a:moveTo>
                    <a:pt x="41484" y="518212"/>
                  </a:moveTo>
                  <a:lnTo>
                    <a:pt x="41021" y="519175"/>
                  </a:lnTo>
                  <a:lnTo>
                    <a:pt x="41179" y="519175"/>
                  </a:lnTo>
                  <a:lnTo>
                    <a:pt x="41484" y="518212"/>
                  </a:lnTo>
                  <a:close/>
                </a:path>
                <a:path w="317222" h="717803">
                  <a:moveTo>
                    <a:pt x="41938" y="517270"/>
                  </a:moveTo>
                  <a:lnTo>
                    <a:pt x="41783" y="517270"/>
                  </a:lnTo>
                  <a:lnTo>
                    <a:pt x="41484" y="518212"/>
                  </a:lnTo>
                  <a:lnTo>
                    <a:pt x="41938" y="517270"/>
                  </a:lnTo>
                  <a:close/>
                </a:path>
                <a:path w="317222" h="717803">
                  <a:moveTo>
                    <a:pt x="291719" y="242188"/>
                  </a:moveTo>
                  <a:lnTo>
                    <a:pt x="291404" y="243409"/>
                  </a:lnTo>
                  <a:lnTo>
                    <a:pt x="291338" y="244474"/>
                  </a:lnTo>
                  <a:lnTo>
                    <a:pt x="291719" y="242188"/>
                  </a:lnTo>
                  <a:close/>
                </a:path>
                <a:path w="317222" h="717803">
                  <a:moveTo>
                    <a:pt x="316976" y="242188"/>
                  </a:moveTo>
                  <a:lnTo>
                    <a:pt x="291719" y="242188"/>
                  </a:lnTo>
                  <a:lnTo>
                    <a:pt x="291338" y="244474"/>
                  </a:lnTo>
                  <a:lnTo>
                    <a:pt x="316833" y="244474"/>
                  </a:lnTo>
                  <a:lnTo>
                    <a:pt x="316976" y="242188"/>
                  </a:lnTo>
                  <a:close/>
                </a:path>
                <a:path w="317222" h="717803">
                  <a:moveTo>
                    <a:pt x="317150" y="236346"/>
                  </a:moveTo>
                  <a:lnTo>
                    <a:pt x="291846" y="236346"/>
                  </a:lnTo>
                  <a:lnTo>
                    <a:pt x="291846" y="238251"/>
                  </a:lnTo>
                  <a:lnTo>
                    <a:pt x="291404" y="243409"/>
                  </a:lnTo>
                  <a:lnTo>
                    <a:pt x="291719" y="242188"/>
                  </a:lnTo>
                  <a:lnTo>
                    <a:pt x="316976" y="242188"/>
                  </a:lnTo>
                  <a:lnTo>
                    <a:pt x="317222" y="238251"/>
                  </a:lnTo>
                  <a:lnTo>
                    <a:pt x="317150" y="236346"/>
                  </a:lnTo>
                  <a:close/>
                </a:path>
                <a:path w="317222" h="717803">
                  <a:moveTo>
                    <a:pt x="291781" y="237380"/>
                  </a:moveTo>
                  <a:lnTo>
                    <a:pt x="291726" y="238251"/>
                  </a:lnTo>
                  <a:lnTo>
                    <a:pt x="291781" y="237380"/>
                  </a:lnTo>
                  <a:close/>
                </a:path>
                <a:path w="317222" h="717803">
                  <a:moveTo>
                    <a:pt x="10922" y="0"/>
                  </a:moveTo>
                  <a:lnTo>
                    <a:pt x="0" y="22859"/>
                  </a:lnTo>
                  <a:lnTo>
                    <a:pt x="82042" y="62229"/>
                  </a:lnTo>
                  <a:lnTo>
                    <a:pt x="108331" y="75310"/>
                  </a:lnTo>
                  <a:lnTo>
                    <a:pt x="157987" y="101853"/>
                  </a:lnTo>
                  <a:lnTo>
                    <a:pt x="202311" y="128777"/>
                  </a:lnTo>
                  <a:lnTo>
                    <a:pt x="239395" y="156209"/>
                  </a:lnTo>
                  <a:lnTo>
                    <a:pt x="267588" y="183768"/>
                  </a:lnTo>
                  <a:lnTo>
                    <a:pt x="288036" y="218058"/>
                  </a:lnTo>
                  <a:lnTo>
                    <a:pt x="291781" y="237380"/>
                  </a:lnTo>
                  <a:lnTo>
                    <a:pt x="291846" y="236346"/>
                  </a:lnTo>
                  <a:lnTo>
                    <a:pt x="317150" y="236346"/>
                  </a:lnTo>
                  <a:lnTo>
                    <a:pt x="317119" y="235838"/>
                  </a:lnTo>
                  <a:lnTo>
                    <a:pt x="303784" y="191261"/>
                  </a:lnTo>
                  <a:lnTo>
                    <a:pt x="279654" y="159003"/>
                  </a:lnTo>
                  <a:lnTo>
                    <a:pt x="236347" y="121538"/>
                  </a:lnTo>
                  <a:lnTo>
                    <a:pt x="193801" y="93344"/>
                  </a:lnTo>
                  <a:lnTo>
                    <a:pt x="145542" y="66039"/>
                  </a:lnTo>
                  <a:lnTo>
                    <a:pt x="93218" y="39369"/>
                  </a:lnTo>
                  <a:lnTo>
                    <a:pt x="66039" y="26161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lIns="0" tIns="0" rIns="0" b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rgbClr val="FF9900"/>
                </a:solidFill>
                <a:latin typeface="Calibri"/>
                <a:ea typeface="+mn-ea"/>
              </a:endParaRPr>
            </a:p>
          </p:txBody>
        </p:sp>
        <p:sp>
          <p:nvSpPr>
            <p:cNvPr id="20" name="object 17">
              <a:extLst>
                <a:ext uri="{FF2B5EF4-FFF2-40B4-BE49-F238E27FC236}">
                  <a16:creationId xmlns:a16="http://schemas.microsoft.com/office/drawing/2014/main" id="{3CF8C7B1-9704-4A49-B2B0-71B42CB74194}"/>
                </a:ext>
              </a:extLst>
            </p:cNvPr>
            <p:cNvSpPr/>
            <p:nvPr/>
          </p:nvSpPr>
          <p:spPr>
            <a:xfrm>
              <a:off x="5756275" y="4650871"/>
              <a:ext cx="315912" cy="717550"/>
            </a:xfrm>
            <a:custGeom>
              <a:avLst/>
              <a:gdLst/>
              <a:ahLst/>
              <a:cxnLst/>
              <a:rect l="l" t="t" r="r" b="b"/>
              <a:pathLst>
                <a:path w="317119" h="717803">
                  <a:moveTo>
                    <a:pt x="210354" y="673013"/>
                  </a:moveTo>
                  <a:lnTo>
                    <a:pt x="186436" y="717803"/>
                  </a:lnTo>
                  <a:lnTo>
                    <a:pt x="283590" y="697610"/>
                  </a:lnTo>
                  <a:lnTo>
                    <a:pt x="276051" y="679068"/>
                  </a:lnTo>
                  <a:lnTo>
                    <a:pt x="221742" y="679068"/>
                  </a:lnTo>
                  <a:lnTo>
                    <a:pt x="210565" y="673099"/>
                  </a:lnTo>
                  <a:lnTo>
                    <a:pt x="210354" y="673013"/>
                  </a:lnTo>
                  <a:close/>
                </a:path>
                <a:path w="317119" h="717803">
                  <a:moveTo>
                    <a:pt x="222282" y="650677"/>
                  </a:moveTo>
                  <a:lnTo>
                    <a:pt x="210354" y="673013"/>
                  </a:lnTo>
                  <a:lnTo>
                    <a:pt x="210565" y="673099"/>
                  </a:lnTo>
                  <a:lnTo>
                    <a:pt x="221742" y="679068"/>
                  </a:lnTo>
                  <a:lnTo>
                    <a:pt x="233425" y="656462"/>
                  </a:lnTo>
                  <a:lnTo>
                    <a:pt x="222282" y="650677"/>
                  </a:lnTo>
                  <a:close/>
                </a:path>
                <a:path w="317119" h="717803">
                  <a:moveTo>
                    <a:pt x="246252" y="605789"/>
                  </a:moveTo>
                  <a:lnTo>
                    <a:pt x="222282" y="650677"/>
                  </a:lnTo>
                  <a:lnTo>
                    <a:pt x="233425" y="656462"/>
                  </a:lnTo>
                  <a:lnTo>
                    <a:pt x="221742" y="679068"/>
                  </a:lnTo>
                  <a:lnTo>
                    <a:pt x="276051" y="679068"/>
                  </a:lnTo>
                  <a:lnTo>
                    <a:pt x="246252" y="605789"/>
                  </a:lnTo>
                  <a:close/>
                </a:path>
                <a:path w="317119" h="717803">
                  <a:moveTo>
                    <a:pt x="291415" y="242915"/>
                  </a:moveTo>
                  <a:lnTo>
                    <a:pt x="270256" y="281558"/>
                  </a:lnTo>
                  <a:lnTo>
                    <a:pt x="233299" y="318007"/>
                  </a:lnTo>
                  <a:lnTo>
                    <a:pt x="185420" y="356615"/>
                  </a:lnTo>
                  <a:lnTo>
                    <a:pt x="133476" y="395731"/>
                  </a:lnTo>
                  <a:lnTo>
                    <a:pt x="108076" y="415162"/>
                  </a:lnTo>
                  <a:lnTo>
                    <a:pt x="72771" y="443864"/>
                  </a:lnTo>
                  <a:lnTo>
                    <a:pt x="43561" y="471677"/>
                  </a:lnTo>
                  <a:lnTo>
                    <a:pt x="18287" y="507872"/>
                  </a:lnTo>
                  <a:lnTo>
                    <a:pt x="18034" y="508507"/>
                  </a:lnTo>
                  <a:lnTo>
                    <a:pt x="17780" y="509015"/>
                  </a:lnTo>
                  <a:lnTo>
                    <a:pt x="17525" y="509650"/>
                  </a:lnTo>
                  <a:lnTo>
                    <a:pt x="14859" y="518032"/>
                  </a:lnTo>
                  <a:lnTo>
                    <a:pt x="14605" y="518921"/>
                  </a:lnTo>
                  <a:lnTo>
                    <a:pt x="14605" y="519683"/>
                  </a:lnTo>
                  <a:lnTo>
                    <a:pt x="13715" y="527049"/>
                  </a:lnTo>
                  <a:lnTo>
                    <a:pt x="13751" y="529970"/>
                  </a:lnTo>
                  <a:lnTo>
                    <a:pt x="14224" y="536701"/>
                  </a:lnTo>
                  <a:lnTo>
                    <a:pt x="14350" y="538098"/>
                  </a:lnTo>
                  <a:lnTo>
                    <a:pt x="14605" y="538733"/>
                  </a:lnTo>
                  <a:lnTo>
                    <a:pt x="16383" y="545972"/>
                  </a:lnTo>
                  <a:lnTo>
                    <a:pt x="37846" y="578865"/>
                  </a:lnTo>
                  <a:lnTo>
                    <a:pt x="72898" y="606551"/>
                  </a:lnTo>
                  <a:lnTo>
                    <a:pt x="116332" y="631316"/>
                  </a:lnTo>
                  <a:lnTo>
                    <a:pt x="163830" y="653541"/>
                  </a:lnTo>
                  <a:lnTo>
                    <a:pt x="210354" y="673013"/>
                  </a:lnTo>
                  <a:lnTo>
                    <a:pt x="222282" y="650677"/>
                  </a:lnTo>
                  <a:lnTo>
                    <a:pt x="220218" y="649604"/>
                  </a:lnTo>
                  <a:lnTo>
                    <a:pt x="174244" y="630427"/>
                  </a:lnTo>
                  <a:lnTo>
                    <a:pt x="151002" y="619886"/>
                  </a:lnTo>
                  <a:lnTo>
                    <a:pt x="106807" y="597407"/>
                  </a:lnTo>
                  <a:lnTo>
                    <a:pt x="70358" y="573658"/>
                  </a:lnTo>
                  <a:lnTo>
                    <a:pt x="43434" y="544702"/>
                  </a:lnTo>
                  <a:lnTo>
                    <a:pt x="41217" y="539622"/>
                  </a:lnTo>
                  <a:lnTo>
                    <a:pt x="41021" y="539622"/>
                  </a:lnTo>
                  <a:lnTo>
                    <a:pt x="40386" y="537717"/>
                  </a:lnTo>
                  <a:lnTo>
                    <a:pt x="40544" y="537717"/>
                  </a:lnTo>
                  <a:lnTo>
                    <a:pt x="39782" y="534669"/>
                  </a:lnTo>
                  <a:lnTo>
                    <a:pt x="39497" y="534669"/>
                  </a:lnTo>
                  <a:lnTo>
                    <a:pt x="39308" y="533069"/>
                  </a:lnTo>
                  <a:lnTo>
                    <a:pt x="39342" y="532510"/>
                  </a:lnTo>
                  <a:lnTo>
                    <a:pt x="39161" y="529970"/>
                  </a:lnTo>
                  <a:lnTo>
                    <a:pt x="38988" y="529970"/>
                  </a:lnTo>
                  <a:lnTo>
                    <a:pt x="38988" y="527557"/>
                  </a:lnTo>
                  <a:lnTo>
                    <a:pt x="39238" y="527557"/>
                  </a:lnTo>
                  <a:lnTo>
                    <a:pt x="39488" y="525144"/>
                  </a:lnTo>
                  <a:lnTo>
                    <a:pt x="39243" y="525144"/>
                  </a:lnTo>
                  <a:lnTo>
                    <a:pt x="39750" y="522604"/>
                  </a:lnTo>
                  <a:lnTo>
                    <a:pt x="40089" y="522604"/>
                  </a:lnTo>
                  <a:lnTo>
                    <a:pt x="41232" y="519175"/>
                  </a:lnTo>
                  <a:lnTo>
                    <a:pt x="41021" y="519175"/>
                  </a:lnTo>
                  <a:lnTo>
                    <a:pt x="41783" y="517524"/>
                  </a:lnTo>
                  <a:lnTo>
                    <a:pt x="44323" y="512444"/>
                  </a:lnTo>
                  <a:lnTo>
                    <a:pt x="69976" y="480821"/>
                  </a:lnTo>
                  <a:lnTo>
                    <a:pt x="100075" y="454024"/>
                  </a:lnTo>
                  <a:lnTo>
                    <a:pt x="148717" y="416051"/>
                  </a:lnTo>
                  <a:lnTo>
                    <a:pt x="201040" y="376554"/>
                  </a:lnTo>
                  <a:lnTo>
                    <a:pt x="226440" y="356742"/>
                  </a:lnTo>
                  <a:lnTo>
                    <a:pt x="261238" y="326897"/>
                  </a:lnTo>
                  <a:lnTo>
                    <a:pt x="290068" y="297306"/>
                  </a:lnTo>
                  <a:lnTo>
                    <a:pt x="314198" y="256793"/>
                  </a:lnTo>
                  <a:lnTo>
                    <a:pt x="316704" y="244601"/>
                  </a:lnTo>
                  <a:lnTo>
                    <a:pt x="291338" y="244601"/>
                  </a:lnTo>
                  <a:lnTo>
                    <a:pt x="291415" y="242915"/>
                  </a:lnTo>
                  <a:close/>
                </a:path>
                <a:path w="317119" h="717803">
                  <a:moveTo>
                    <a:pt x="40386" y="537717"/>
                  </a:moveTo>
                  <a:lnTo>
                    <a:pt x="41021" y="539622"/>
                  </a:lnTo>
                  <a:lnTo>
                    <a:pt x="40757" y="538569"/>
                  </a:lnTo>
                  <a:lnTo>
                    <a:pt x="40386" y="537717"/>
                  </a:lnTo>
                  <a:close/>
                </a:path>
                <a:path w="317119" h="717803">
                  <a:moveTo>
                    <a:pt x="40757" y="538569"/>
                  </a:moveTo>
                  <a:lnTo>
                    <a:pt x="41021" y="539622"/>
                  </a:lnTo>
                  <a:lnTo>
                    <a:pt x="41217" y="539622"/>
                  </a:lnTo>
                  <a:lnTo>
                    <a:pt x="40757" y="538569"/>
                  </a:lnTo>
                  <a:close/>
                </a:path>
                <a:path w="317119" h="717803">
                  <a:moveTo>
                    <a:pt x="40544" y="537717"/>
                  </a:moveTo>
                  <a:lnTo>
                    <a:pt x="40386" y="537717"/>
                  </a:lnTo>
                  <a:lnTo>
                    <a:pt x="40757" y="538569"/>
                  </a:lnTo>
                  <a:lnTo>
                    <a:pt x="40544" y="537717"/>
                  </a:lnTo>
                  <a:close/>
                </a:path>
                <a:path w="317119" h="717803">
                  <a:moveTo>
                    <a:pt x="39243" y="532510"/>
                  </a:moveTo>
                  <a:lnTo>
                    <a:pt x="39497" y="534669"/>
                  </a:lnTo>
                  <a:lnTo>
                    <a:pt x="39382" y="533069"/>
                  </a:lnTo>
                  <a:lnTo>
                    <a:pt x="39243" y="532510"/>
                  </a:lnTo>
                  <a:close/>
                </a:path>
                <a:path w="317119" h="717803">
                  <a:moveTo>
                    <a:pt x="39382" y="533069"/>
                  </a:moveTo>
                  <a:lnTo>
                    <a:pt x="39497" y="534669"/>
                  </a:lnTo>
                  <a:lnTo>
                    <a:pt x="39782" y="534669"/>
                  </a:lnTo>
                  <a:lnTo>
                    <a:pt x="39382" y="533069"/>
                  </a:lnTo>
                  <a:close/>
                </a:path>
                <a:path w="317119" h="717803">
                  <a:moveTo>
                    <a:pt x="39342" y="532510"/>
                  </a:moveTo>
                  <a:lnTo>
                    <a:pt x="39382" y="533069"/>
                  </a:lnTo>
                  <a:lnTo>
                    <a:pt x="39342" y="532510"/>
                  </a:lnTo>
                  <a:close/>
                </a:path>
                <a:path w="317119" h="717803">
                  <a:moveTo>
                    <a:pt x="39090" y="528985"/>
                  </a:moveTo>
                  <a:lnTo>
                    <a:pt x="38988" y="529970"/>
                  </a:lnTo>
                  <a:lnTo>
                    <a:pt x="39161" y="529970"/>
                  </a:lnTo>
                  <a:lnTo>
                    <a:pt x="39090" y="528985"/>
                  </a:lnTo>
                  <a:close/>
                </a:path>
                <a:path w="317119" h="717803">
                  <a:moveTo>
                    <a:pt x="39238" y="527557"/>
                  </a:moveTo>
                  <a:lnTo>
                    <a:pt x="38988" y="527557"/>
                  </a:lnTo>
                  <a:lnTo>
                    <a:pt x="39090" y="528985"/>
                  </a:lnTo>
                  <a:lnTo>
                    <a:pt x="39238" y="527557"/>
                  </a:lnTo>
                  <a:close/>
                </a:path>
                <a:path w="317119" h="717803">
                  <a:moveTo>
                    <a:pt x="39750" y="522604"/>
                  </a:moveTo>
                  <a:lnTo>
                    <a:pt x="39243" y="525144"/>
                  </a:lnTo>
                  <a:lnTo>
                    <a:pt x="39598" y="524078"/>
                  </a:lnTo>
                  <a:lnTo>
                    <a:pt x="39750" y="522604"/>
                  </a:lnTo>
                  <a:close/>
                </a:path>
                <a:path w="317119" h="717803">
                  <a:moveTo>
                    <a:pt x="39598" y="524078"/>
                  </a:moveTo>
                  <a:lnTo>
                    <a:pt x="39243" y="525144"/>
                  </a:lnTo>
                  <a:lnTo>
                    <a:pt x="39488" y="525144"/>
                  </a:lnTo>
                  <a:lnTo>
                    <a:pt x="39598" y="524078"/>
                  </a:lnTo>
                  <a:close/>
                </a:path>
                <a:path w="317119" h="717803">
                  <a:moveTo>
                    <a:pt x="40089" y="522604"/>
                  </a:moveTo>
                  <a:lnTo>
                    <a:pt x="39750" y="522604"/>
                  </a:lnTo>
                  <a:lnTo>
                    <a:pt x="39598" y="524078"/>
                  </a:lnTo>
                  <a:lnTo>
                    <a:pt x="40089" y="522604"/>
                  </a:lnTo>
                  <a:close/>
                </a:path>
                <a:path w="317119" h="717803">
                  <a:moveTo>
                    <a:pt x="41783" y="517524"/>
                  </a:moveTo>
                  <a:lnTo>
                    <a:pt x="41021" y="519175"/>
                  </a:lnTo>
                  <a:lnTo>
                    <a:pt x="41681" y="517829"/>
                  </a:lnTo>
                  <a:lnTo>
                    <a:pt x="41783" y="517524"/>
                  </a:lnTo>
                  <a:close/>
                </a:path>
                <a:path w="317119" h="717803">
                  <a:moveTo>
                    <a:pt x="41681" y="517829"/>
                  </a:moveTo>
                  <a:lnTo>
                    <a:pt x="41021" y="519175"/>
                  </a:lnTo>
                  <a:lnTo>
                    <a:pt x="41232" y="519175"/>
                  </a:lnTo>
                  <a:lnTo>
                    <a:pt x="41681" y="517829"/>
                  </a:lnTo>
                  <a:close/>
                </a:path>
                <a:path w="317119" h="717803">
                  <a:moveTo>
                    <a:pt x="41830" y="517524"/>
                  </a:moveTo>
                  <a:lnTo>
                    <a:pt x="41681" y="517829"/>
                  </a:lnTo>
                  <a:lnTo>
                    <a:pt x="41830" y="517524"/>
                  </a:lnTo>
                  <a:close/>
                </a:path>
                <a:path w="317119" h="717803">
                  <a:moveTo>
                    <a:pt x="291592" y="242188"/>
                  </a:moveTo>
                  <a:lnTo>
                    <a:pt x="291415" y="242915"/>
                  </a:lnTo>
                  <a:lnTo>
                    <a:pt x="291338" y="244601"/>
                  </a:lnTo>
                  <a:lnTo>
                    <a:pt x="291592" y="242188"/>
                  </a:lnTo>
                  <a:close/>
                </a:path>
                <a:path w="317119" h="717803">
                  <a:moveTo>
                    <a:pt x="316853" y="242188"/>
                  </a:moveTo>
                  <a:lnTo>
                    <a:pt x="291592" y="242188"/>
                  </a:lnTo>
                  <a:lnTo>
                    <a:pt x="291338" y="244601"/>
                  </a:lnTo>
                  <a:lnTo>
                    <a:pt x="316704" y="244601"/>
                  </a:lnTo>
                  <a:lnTo>
                    <a:pt x="316853" y="242188"/>
                  </a:lnTo>
                  <a:close/>
                </a:path>
                <a:path w="317119" h="717803">
                  <a:moveTo>
                    <a:pt x="291698" y="236787"/>
                  </a:moveTo>
                  <a:lnTo>
                    <a:pt x="291415" y="242915"/>
                  </a:lnTo>
                  <a:lnTo>
                    <a:pt x="291592" y="242188"/>
                  </a:lnTo>
                  <a:lnTo>
                    <a:pt x="316853" y="242188"/>
                  </a:lnTo>
                  <a:lnTo>
                    <a:pt x="317087" y="238378"/>
                  </a:lnTo>
                  <a:lnTo>
                    <a:pt x="291846" y="238378"/>
                  </a:lnTo>
                  <a:lnTo>
                    <a:pt x="291698" y="236787"/>
                  </a:lnTo>
                  <a:close/>
                </a:path>
                <a:path w="317119" h="717803">
                  <a:moveTo>
                    <a:pt x="291719" y="236346"/>
                  </a:moveTo>
                  <a:lnTo>
                    <a:pt x="291798" y="237870"/>
                  </a:lnTo>
                  <a:lnTo>
                    <a:pt x="291846" y="238378"/>
                  </a:lnTo>
                  <a:lnTo>
                    <a:pt x="291719" y="236346"/>
                  </a:lnTo>
                  <a:close/>
                </a:path>
                <a:path w="317119" h="717803">
                  <a:moveTo>
                    <a:pt x="317119" y="236346"/>
                  </a:moveTo>
                  <a:lnTo>
                    <a:pt x="291719" y="236346"/>
                  </a:lnTo>
                  <a:lnTo>
                    <a:pt x="291846" y="238378"/>
                  </a:lnTo>
                  <a:lnTo>
                    <a:pt x="317087" y="238378"/>
                  </a:lnTo>
                  <a:lnTo>
                    <a:pt x="317119" y="236346"/>
                  </a:lnTo>
                  <a:close/>
                </a:path>
                <a:path w="317119" h="717803">
                  <a:moveTo>
                    <a:pt x="10922" y="0"/>
                  </a:moveTo>
                  <a:lnTo>
                    <a:pt x="0" y="22986"/>
                  </a:lnTo>
                  <a:lnTo>
                    <a:pt x="82169" y="62229"/>
                  </a:lnTo>
                  <a:lnTo>
                    <a:pt x="108331" y="75437"/>
                  </a:lnTo>
                  <a:lnTo>
                    <a:pt x="157987" y="101980"/>
                  </a:lnTo>
                  <a:lnTo>
                    <a:pt x="202311" y="128904"/>
                  </a:lnTo>
                  <a:lnTo>
                    <a:pt x="239522" y="156336"/>
                  </a:lnTo>
                  <a:lnTo>
                    <a:pt x="267462" y="183768"/>
                  </a:lnTo>
                  <a:lnTo>
                    <a:pt x="288036" y="218058"/>
                  </a:lnTo>
                  <a:lnTo>
                    <a:pt x="291698" y="236787"/>
                  </a:lnTo>
                  <a:lnTo>
                    <a:pt x="291719" y="236346"/>
                  </a:lnTo>
                  <a:lnTo>
                    <a:pt x="317119" y="236346"/>
                  </a:lnTo>
                  <a:lnTo>
                    <a:pt x="317119" y="235965"/>
                  </a:lnTo>
                  <a:lnTo>
                    <a:pt x="303657" y="191388"/>
                  </a:lnTo>
                  <a:lnTo>
                    <a:pt x="279526" y="159003"/>
                  </a:lnTo>
                  <a:lnTo>
                    <a:pt x="236347" y="121665"/>
                  </a:lnTo>
                  <a:lnTo>
                    <a:pt x="193675" y="93344"/>
                  </a:lnTo>
                  <a:lnTo>
                    <a:pt x="145414" y="66166"/>
                  </a:lnTo>
                  <a:lnTo>
                    <a:pt x="93218" y="39369"/>
                  </a:lnTo>
                  <a:lnTo>
                    <a:pt x="66039" y="26161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lIns="0" tIns="0" rIns="0" bIns="0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>
                <a:solidFill>
                  <a:srgbClr val="FF9900"/>
                </a:solidFill>
                <a:latin typeface="Calibri"/>
                <a:ea typeface="+mn-ea"/>
              </a:endParaRPr>
            </a:p>
          </p:txBody>
        </p:sp>
        <p:sp>
          <p:nvSpPr>
            <p:cNvPr id="22" name="Rectangle 2">
              <a:extLst>
                <a:ext uri="{FF2B5EF4-FFF2-40B4-BE49-F238E27FC236}">
                  <a16:creationId xmlns:a16="http://schemas.microsoft.com/office/drawing/2014/main" id="{53FF026F-5141-E840-A7E5-42C4041632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54537" y="4735009"/>
              <a:ext cx="10699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r>
                <a:rPr lang="en-US" altLang="en-US" dirty="0">
                  <a:solidFill>
                    <a:srgbClr val="FFC000"/>
                  </a:solidFill>
                </a:rPr>
                <a:t>Leakage</a:t>
              </a:r>
            </a:p>
          </p:txBody>
        </p: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337D8EA5-1F45-6943-8870-0C198AAB0ABA}"/>
              </a:ext>
            </a:extLst>
          </p:cNvPr>
          <p:cNvSpPr txBox="1"/>
          <p:nvPr/>
        </p:nvSpPr>
        <p:spPr>
          <a:xfrm>
            <a:off x="838200" y="1779990"/>
            <a:ext cx="465281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Leakage information collection</a:t>
            </a:r>
            <a:endParaRPr lang="zh-CN" altLang="en-US" sz="2800" dirty="0"/>
          </a:p>
        </p:txBody>
      </p:sp>
      <p:pic>
        <p:nvPicPr>
          <p:cNvPr id="1025" name="Picture 1" descr="page5image31333488">
            <a:extLst>
              <a:ext uri="{FF2B5EF4-FFF2-40B4-BE49-F238E27FC236}">
                <a16:creationId xmlns:a16="http://schemas.microsoft.com/office/drawing/2014/main" id="{4CC662BC-8EC4-2548-942E-703604FB5D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24" y="2389187"/>
            <a:ext cx="3784600" cy="2349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2F0784C-B1AA-1643-8DB4-23C639A704E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549" y="3049013"/>
            <a:ext cx="1507014" cy="98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521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527"/>
    </mc:Choice>
    <mc:Fallback xmlns="">
      <p:transition spd="slow" advTm="4152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4217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Side-Channel Analysis (SCA)</a:t>
            </a:r>
            <a:endParaRPr lang="zh-CN" altLang="en-US" sz="2800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37D8EA5-1F45-6943-8870-0C198AAB0ABA}"/>
              </a:ext>
            </a:extLst>
          </p:cNvPr>
          <p:cNvSpPr txBox="1"/>
          <p:nvPr/>
        </p:nvSpPr>
        <p:spPr>
          <a:xfrm>
            <a:off x="838200" y="1779990"/>
            <a:ext cx="12400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Attacks</a:t>
            </a:r>
            <a:endParaRPr lang="zh-CN" altLang="en-US" sz="2800" dirty="0"/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0304FCE4-88C8-904B-BAC7-ED781E37C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19400"/>
            <a:ext cx="10515600" cy="3733800"/>
          </a:xfrm>
        </p:spPr>
        <p:txBody>
          <a:bodyPr>
            <a:normAutofit lnSpcReduction="10000"/>
          </a:bodyPr>
          <a:lstStyle/>
          <a:p>
            <a:r>
              <a:rPr lang="en-US" altLang="zh-CN" dirty="0">
                <a:solidFill>
                  <a:prstClr val="black"/>
                </a:solidFill>
                <a:cs typeface="Calibri"/>
              </a:rPr>
              <a:t>Simple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Power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Analysis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(SPA)</a:t>
            </a:r>
          </a:p>
          <a:p>
            <a:r>
              <a:rPr lang="en-US" altLang="zh-CN" dirty="0">
                <a:solidFill>
                  <a:prstClr val="black"/>
                </a:solidFill>
                <a:cs typeface="Calibri"/>
              </a:rPr>
              <a:t>Non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Profiling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based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SCA: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pPr lvl="1"/>
            <a:r>
              <a:rPr lang="en-US" altLang="zh-CN" dirty="0"/>
              <a:t>Differential Power Analysis</a:t>
            </a:r>
            <a:r>
              <a:rPr lang="zh-CN" altLang="en-US" dirty="0"/>
              <a:t> </a:t>
            </a:r>
            <a:r>
              <a:rPr lang="en-US" altLang="zh-CN" dirty="0"/>
              <a:t>(DPA)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  <a:cs typeface="Calibri"/>
              </a:rPr>
              <a:t>Correlation Power Analysis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(CPA)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  <a:cs typeface="Calibri"/>
              </a:rPr>
              <a:t>…</a:t>
            </a:r>
          </a:p>
          <a:p>
            <a:r>
              <a:rPr lang="en-US" altLang="zh-CN" b="1" i="1" u="sng" dirty="0">
                <a:solidFill>
                  <a:prstClr val="black"/>
                </a:solidFill>
                <a:cs typeface="Calibri"/>
              </a:rPr>
              <a:t>Profiling</a:t>
            </a:r>
            <a:r>
              <a:rPr lang="zh-CN" altLang="en-US" b="1" i="1" u="sng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b="1" i="1" u="sng" dirty="0">
                <a:solidFill>
                  <a:prstClr val="black"/>
                </a:solidFill>
                <a:cs typeface="Calibri"/>
              </a:rPr>
              <a:t>based</a:t>
            </a:r>
            <a:r>
              <a:rPr lang="zh-CN" altLang="en-US" b="1" i="1" u="sng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b="1" i="1" u="sng" dirty="0">
                <a:solidFill>
                  <a:prstClr val="black"/>
                </a:solidFill>
                <a:cs typeface="Calibri"/>
              </a:rPr>
              <a:t>SCA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: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pPr lvl="1"/>
            <a:r>
              <a:rPr lang="en-US" altLang="zh-CN" dirty="0"/>
              <a:t>Template</a:t>
            </a:r>
            <a:r>
              <a:rPr lang="zh-CN" altLang="en-US" dirty="0"/>
              <a:t> </a:t>
            </a:r>
            <a:r>
              <a:rPr lang="en-US" altLang="zh-CN" dirty="0"/>
              <a:t>Attacks</a:t>
            </a:r>
            <a:r>
              <a:rPr lang="zh-CN" altLang="en-US" dirty="0"/>
              <a:t> </a:t>
            </a:r>
            <a:r>
              <a:rPr lang="en-US" altLang="zh-CN" dirty="0"/>
              <a:t>(TA)</a:t>
            </a:r>
          </a:p>
          <a:p>
            <a:pPr lvl="1"/>
            <a:r>
              <a:rPr lang="en-US" altLang="zh-CN" dirty="0">
                <a:solidFill>
                  <a:prstClr val="black"/>
                </a:solidFill>
                <a:cs typeface="Calibri"/>
              </a:rPr>
              <a:t>Machine-Learning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based</a:t>
            </a:r>
            <a:r>
              <a:rPr lang="zh-CN" altLang="en-US" dirty="0">
                <a:solidFill>
                  <a:prstClr val="black"/>
                </a:solidFill>
                <a:cs typeface="Calibri"/>
              </a:rPr>
              <a:t> </a:t>
            </a:r>
            <a:r>
              <a:rPr lang="en-US" altLang="zh-CN" dirty="0">
                <a:solidFill>
                  <a:prstClr val="black"/>
                </a:solidFill>
                <a:cs typeface="Calibri"/>
              </a:rPr>
              <a:t>Attacks</a:t>
            </a:r>
          </a:p>
          <a:p>
            <a:pPr lvl="2"/>
            <a:r>
              <a:rPr lang="en-US" altLang="zh-CN" dirty="0">
                <a:solidFill>
                  <a:prstClr val="black"/>
                </a:solidFill>
                <a:cs typeface="Calibri"/>
              </a:rPr>
              <a:t>Deep-Learning based Power Analysis (DL-PA)</a:t>
            </a:r>
          </a:p>
          <a:p>
            <a:pPr lvl="2"/>
            <a:endParaRPr lang="en-US" altLang="zh-CN" dirty="0"/>
          </a:p>
          <a:p>
            <a:pPr lvl="1"/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5B979A-330A-DE46-8AF1-ABF26D5B96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746336" y="960764"/>
            <a:ext cx="2795328" cy="3962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3A98AF5A-3716-3844-929B-A369D755E891}"/>
              </a:ext>
            </a:extLst>
          </p:cNvPr>
          <p:cNvSpPr txBox="1"/>
          <p:nvPr/>
        </p:nvSpPr>
        <p:spPr>
          <a:xfrm>
            <a:off x="8092440" y="4594208"/>
            <a:ext cx="18211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solidFill>
                  <a:prstClr val="black"/>
                </a:solidFill>
                <a:cs typeface="Calibri"/>
              </a:rPr>
              <a:t>SPA on RSA</a:t>
            </a:r>
            <a:endParaRPr lang="zh-CN" altLang="en-US" sz="2800" dirty="0">
              <a:solidFill>
                <a:prstClr val="black"/>
              </a:solidFill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27556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2987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based</a:t>
            </a:r>
            <a:r>
              <a:rPr lang="zh-CN" altLang="en-US" sz="2800" dirty="0"/>
              <a:t> </a:t>
            </a:r>
            <a:r>
              <a:rPr lang="en-US" altLang="zh-CN" sz="2800" dirty="0"/>
              <a:t>SCA</a:t>
            </a:r>
            <a:endParaRPr lang="zh-CN" altLang="en-US" sz="2800" dirty="0"/>
          </a:p>
        </p:txBody>
      </p:sp>
      <p:pic>
        <p:nvPicPr>
          <p:cNvPr id="32" name="图片 31">
            <a:extLst>
              <a:ext uri="{FF2B5EF4-FFF2-40B4-BE49-F238E27FC236}">
                <a16:creationId xmlns:a16="http://schemas.microsoft.com/office/drawing/2014/main" id="{66AF656C-417D-B64D-B910-F941E809BC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3352800"/>
            <a:ext cx="965200" cy="723900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F92E06C8-DB71-4D46-A3F3-9BB083036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9398" y="3352800"/>
            <a:ext cx="965200" cy="723900"/>
          </a:xfrm>
          <a:prstGeom prst="rect">
            <a:avLst/>
          </a:prstGeom>
        </p:spPr>
      </p:pic>
      <p:cxnSp>
        <p:nvCxnSpPr>
          <p:cNvPr id="39" name="直线箭头连接符 38">
            <a:extLst>
              <a:ext uri="{FF2B5EF4-FFF2-40B4-BE49-F238E27FC236}">
                <a16:creationId xmlns:a16="http://schemas.microsoft.com/office/drawing/2014/main" id="{2CCB5937-F539-A045-A184-171EF2FF6714}"/>
              </a:ext>
            </a:extLst>
          </p:cNvPr>
          <p:cNvCxnSpPr>
            <a:cxnSpLocks/>
            <a:stCxn id="32" idx="2"/>
          </p:cNvCxnSpPr>
          <p:nvPr/>
        </p:nvCxnSpPr>
        <p:spPr>
          <a:xfrm>
            <a:off x="2540000" y="4076700"/>
            <a:ext cx="0" cy="130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>
            <a:extLst>
              <a:ext uri="{FF2B5EF4-FFF2-40B4-BE49-F238E27FC236}">
                <a16:creationId xmlns:a16="http://schemas.microsoft.com/office/drawing/2014/main" id="{C93E997C-DC0C-F547-9FBD-788242ACA8C7}"/>
              </a:ext>
            </a:extLst>
          </p:cNvPr>
          <p:cNvSpPr txBox="1"/>
          <p:nvPr/>
        </p:nvSpPr>
        <p:spPr>
          <a:xfrm>
            <a:off x="1768854" y="1577854"/>
            <a:ext cx="1457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Plaintext</a:t>
            </a:r>
            <a:endParaRPr lang="zh-CN" altLang="en-US" sz="2800" dirty="0"/>
          </a:p>
        </p:txBody>
      </p:sp>
      <p:cxnSp>
        <p:nvCxnSpPr>
          <p:cNvPr id="42" name="直线箭头连接符 41">
            <a:extLst>
              <a:ext uri="{FF2B5EF4-FFF2-40B4-BE49-F238E27FC236}">
                <a16:creationId xmlns:a16="http://schemas.microsoft.com/office/drawing/2014/main" id="{9E6A1676-A65E-004D-8E12-DB57CE1131AD}"/>
              </a:ext>
            </a:extLst>
          </p:cNvPr>
          <p:cNvCxnSpPr>
            <a:cxnSpLocks/>
          </p:cNvCxnSpPr>
          <p:nvPr/>
        </p:nvCxnSpPr>
        <p:spPr>
          <a:xfrm>
            <a:off x="2539076" y="2049087"/>
            <a:ext cx="0" cy="130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FA76E28B-8F9F-B545-B1BA-C94F5B520068}"/>
              </a:ext>
            </a:extLst>
          </p:cNvPr>
          <p:cNvSpPr/>
          <p:nvPr/>
        </p:nvSpPr>
        <p:spPr>
          <a:xfrm>
            <a:off x="376401" y="3367697"/>
            <a:ext cx="178625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Known</a:t>
            </a:r>
            <a:r>
              <a:rPr lang="zh-CN" altLang="en-US" sz="2800" dirty="0"/>
              <a:t> </a:t>
            </a:r>
            <a:r>
              <a:rPr lang="en-US" altLang="zh-CN" sz="2800" dirty="0"/>
              <a:t>Key</a:t>
            </a:r>
            <a:endParaRPr lang="zh-CN" altLang="en-US" sz="2800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2610ED2-DC5D-334D-9E83-8599603387E4}"/>
              </a:ext>
            </a:extLst>
          </p:cNvPr>
          <p:cNvSpPr txBox="1"/>
          <p:nvPr/>
        </p:nvSpPr>
        <p:spPr>
          <a:xfrm>
            <a:off x="10269892" y="3453140"/>
            <a:ext cx="8683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Key</a:t>
            </a:r>
            <a:r>
              <a:rPr kumimoji="1" lang="en-US" altLang="zh-CN" sz="2800" dirty="0"/>
              <a:t>?</a:t>
            </a:r>
            <a:endParaRPr kumimoji="1" lang="zh-CN" altLang="en-US" dirty="0"/>
          </a:p>
        </p:txBody>
      </p:sp>
      <p:cxnSp>
        <p:nvCxnSpPr>
          <p:cNvPr id="48" name="直线箭头连接符 47">
            <a:extLst>
              <a:ext uri="{FF2B5EF4-FFF2-40B4-BE49-F238E27FC236}">
                <a16:creationId xmlns:a16="http://schemas.microsoft.com/office/drawing/2014/main" id="{814765B5-A725-DA4D-BCD6-5C63C84F7C90}"/>
              </a:ext>
            </a:extLst>
          </p:cNvPr>
          <p:cNvCxnSpPr>
            <a:cxnSpLocks/>
          </p:cNvCxnSpPr>
          <p:nvPr/>
        </p:nvCxnSpPr>
        <p:spPr>
          <a:xfrm>
            <a:off x="9631330" y="2049087"/>
            <a:ext cx="0" cy="130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线箭头连接符 48">
            <a:extLst>
              <a:ext uri="{FF2B5EF4-FFF2-40B4-BE49-F238E27FC236}">
                <a16:creationId xmlns:a16="http://schemas.microsoft.com/office/drawing/2014/main" id="{333E2A62-57B8-7046-9EED-BF7C8DB4334F}"/>
              </a:ext>
            </a:extLst>
          </p:cNvPr>
          <p:cNvCxnSpPr>
            <a:cxnSpLocks/>
          </p:cNvCxnSpPr>
          <p:nvPr/>
        </p:nvCxnSpPr>
        <p:spPr>
          <a:xfrm>
            <a:off x="9613781" y="4076700"/>
            <a:ext cx="0" cy="13037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047C3584-ED40-AD43-89AC-0F264A62C79C}"/>
              </a:ext>
            </a:extLst>
          </p:cNvPr>
          <p:cNvSpPr txBox="1"/>
          <p:nvPr/>
        </p:nvSpPr>
        <p:spPr>
          <a:xfrm>
            <a:off x="2144684" y="5519651"/>
            <a:ext cx="1704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Ciphertext</a:t>
            </a:r>
            <a:endParaRPr lang="zh-CN" altLang="en-US" sz="2800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85EA88B2-5392-6145-BED0-515B4E196580}"/>
              </a:ext>
            </a:extLst>
          </p:cNvPr>
          <p:cNvSpPr txBox="1"/>
          <p:nvPr/>
        </p:nvSpPr>
        <p:spPr>
          <a:xfrm>
            <a:off x="8572763" y="5519651"/>
            <a:ext cx="17040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Ciphertext</a:t>
            </a:r>
            <a:endParaRPr lang="zh-CN" altLang="en-US" sz="2800" dirty="0"/>
          </a:p>
        </p:txBody>
      </p:sp>
      <p:cxnSp>
        <p:nvCxnSpPr>
          <p:cNvPr id="54" name="曲线连接符 53">
            <a:extLst>
              <a:ext uri="{FF2B5EF4-FFF2-40B4-BE49-F238E27FC236}">
                <a16:creationId xmlns:a16="http://schemas.microsoft.com/office/drawing/2014/main" id="{D6B1ABDB-DEEC-F145-BF33-639C3DE79CD8}"/>
              </a:ext>
            </a:extLst>
          </p:cNvPr>
          <p:cNvCxnSpPr>
            <a:cxnSpLocks/>
          </p:cNvCxnSpPr>
          <p:nvPr/>
        </p:nvCxnSpPr>
        <p:spPr>
          <a:xfrm flipV="1">
            <a:off x="3022600" y="3215041"/>
            <a:ext cx="645423" cy="499712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59DAAEF8-6ADC-B84B-AA41-A412801123AA}"/>
              </a:ext>
            </a:extLst>
          </p:cNvPr>
          <p:cNvCxnSpPr>
            <a:cxnSpLocks/>
          </p:cNvCxnSpPr>
          <p:nvPr/>
        </p:nvCxnSpPr>
        <p:spPr>
          <a:xfrm>
            <a:off x="5795027" y="1252210"/>
            <a:ext cx="12415" cy="4790661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9" name="曲线连接符 58">
            <a:extLst>
              <a:ext uri="{FF2B5EF4-FFF2-40B4-BE49-F238E27FC236}">
                <a16:creationId xmlns:a16="http://schemas.microsoft.com/office/drawing/2014/main" id="{76CB325C-058F-D843-AD4E-58BF38C62C8D}"/>
              </a:ext>
            </a:extLst>
          </p:cNvPr>
          <p:cNvCxnSpPr>
            <a:cxnSpLocks/>
          </p:cNvCxnSpPr>
          <p:nvPr/>
        </p:nvCxnSpPr>
        <p:spPr>
          <a:xfrm rot="10800000">
            <a:off x="7934447" y="3213730"/>
            <a:ext cx="966097" cy="528964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>
            <a:extLst>
              <a:ext uri="{FF2B5EF4-FFF2-40B4-BE49-F238E27FC236}">
                <a16:creationId xmlns:a16="http://schemas.microsoft.com/office/drawing/2014/main" id="{A2BD1025-0904-8D40-92BD-EBB6B3E35CA8}"/>
              </a:ext>
            </a:extLst>
          </p:cNvPr>
          <p:cNvSpPr txBox="1"/>
          <p:nvPr/>
        </p:nvSpPr>
        <p:spPr>
          <a:xfrm>
            <a:off x="4466772" y="5237895"/>
            <a:ext cx="2610971" cy="523220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Template/Model</a:t>
            </a:r>
            <a:endParaRPr lang="zh-CN" altLang="en-US" sz="2800" dirty="0"/>
          </a:p>
        </p:txBody>
      </p:sp>
      <p:cxnSp>
        <p:nvCxnSpPr>
          <p:cNvPr id="74" name="直线箭头连接符 73">
            <a:extLst>
              <a:ext uri="{FF2B5EF4-FFF2-40B4-BE49-F238E27FC236}">
                <a16:creationId xmlns:a16="http://schemas.microsoft.com/office/drawing/2014/main" id="{618C15AF-6FCC-3843-A21B-98277BAEA4A2}"/>
              </a:ext>
            </a:extLst>
          </p:cNvPr>
          <p:cNvCxnSpPr>
            <a:cxnSpLocks/>
          </p:cNvCxnSpPr>
          <p:nvPr/>
        </p:nvCxnSpPr>
        <p:spPr>
          <a:xfrm>
            <a:off x="4625956" y="4749584"/>
            <a:ext cx="0" cy="48831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线箭头连接符 74">
            <a:extLst>
              <a:ext uri="{FF2B5EF4-FFF2-40B4-BE49-F238E27FC236}">
                <a16:creationId xmlns:a16="http://schemas.microsoft.com/office/drawing/2014/main" id="{FFC7D617-0101-DC48-93A1-CE9841AF2915}"/>
              </a:ext>
            </a:extLst>
          </p:cNvPr>
          <p:cNvCxnSpPr>
            <a:cxnSpLocks/>
          </p:cNvCxnSpPr>
          <p:nvPr/>
        </p:nvCxnSpPr>
        <p:spPr>
          <a:xfrm>
            <a:off x="7522126" y="4419600"/>
            <a:ext cx="21674" cy="13525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id="{82CC390D-B0C1-BF45-BF0C-892500B3ECFE}"/>
              </a:ext>
            </a:extLst>
          </p:cNvPr>
          <p:cNvSpPr txBox="1"/>
          <p:nvPr/>
        </p:nvSpPr>
        <p:spPr>
          <a:xfrm>
            <a:off x="3456886" y="1700015"/>
            <a:ext cx="233814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u="sng" dirty="0"/>
              <a:t>Profiling</a:t>
            </a:r>
            <a:r>
              <a:rPr lang="zh-CN" altLang="en-US" sz="2800" u="sng" dirty="0"/>
              <a:t> </a:t>
            </a:r>
            <a:r>
              <a:rPr lang="en-US" altLang="zh-CN" sz="2800" u="sng" dirty="0"/>
              <a:t>Phase</a:t>
            </a:r>
            <a:endParaRPr lang="zh-CN" altLang="en-US" sz="2800" u="sng" dirty="0"/>
          </a:p>
        </p:txBody>
      </p:sp>
      <p:sp>
        <p:nvSpPr>
          <p:cNvPr id="86" name="文本框 85">
            <a:extLst>
              <a:ext uri="{FF2B5EF4-FFF2-40B4-BE49-F238E27FC236}">
                <a16:creationId xmlns:a16="http://schemas.microsoft.com/office/drawing/2014/main" id="{A6948B51-BC21-7846-B93C-6AFE1054113C}"/>
              </a:ext>
            </a:extLst>
          </p:cNvPr>
          <p:cNvSpPr txBox="1"/>
          <p:nvPr/>
        </p:nvSpPr>
        <p:spPr>
          <a:xfrm>
            <a:off x="5942736" y="1695689"/>
            <a:ext cx="204966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u="sng" dirty="0"/>
              <a:t>Attack</a:t>
            </a:r>
            <a:r>
              <a:rPr lang="zh-CN" altLang="en-US" sz="2800" u="sng" dirty="0"/>
              <a:t> </a:t>
            </a:r>
            <a:r>
              <a:rPr lang="en-US" altLang="zh-CN" sz="2800" u="sng" dirty="0"/>
              <a:t>Phase</a:t>
            </a:r>
            <a:endParaRPr lang="zh-CN" altLang="en-US" sz="2800" u="sng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3D61165B-F2BB-6D4F-A503-0240063B4E6D}"/>
              </a:ext>
            </a:extLst>
          </p:cNvPr>
          <p:cNvSpPr txBox="1"/>
          <p:nvPr/>
        </p:nvSpPr>
        <p:spPr>
          <a:xfrm>
            <a:off x="8885248" y="1556014"/>
            <a:ext cx="145706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Plaintext</a:t>
            </a:r>
            <a:endParaRPr lang="zh-CN" altLang="en-US" sz="2800" dirty="0"/>
          </a:p>
        </p:txBody>
      </p:sp>
      <p:cxnSp>
        <p:nvCxnSpPr>
          <p:cNvPr id="91" name="直线连接符 90">
            <a:extLst>
              <a:ext uri="{FF2B5EF4-FFF2-40B4-BE49-F238E27FC236}">
                <a16:creationId xmlns:a16="http://schemas.microsoft.com/office/drawing/2014/main" id="{06DFE8CB-36DC-E644-BEFE-8B2B63641C6C}"/>
              </a:ext>
            </a:extLst>
          </p:cNvPr>
          <p:cNvCxnSpPr>
            <a:cxnSpLocks/>
            <a:stCxn id="63" idx="3"/>
          </p:cNvCxnSpPr>
          <p:nvPr/>
        </p:nvCxnSpPr>
        <p:spPr>
          <a:xfrm>
            <a:off x="7077743" y="5499505"/>
            <a:ext cx="44438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文本框 94">
            <a:extLst>
              <a:ext uri="{FF2B5EF4-FFF2-40B4-BE49-F238E27FC236}">
                <a16:creationId xmlns:a16="http://schemas.microsoft.com/office/drawing/2014/main" id="{CA1379E5-D39B-C749-8408-8822EA28D79B}"/>
              </a:ext>
            </a:extLst>
          </p:cNvPr>
          <p:cNvSpPr txBox="1"/>
          <p:nvPr/>
        </p:nvSpPr>
        <p:spPr>
          <a:xfrm>
            <a:off x="6555821" y="5902576"/>
            <a:ext cx="21125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Key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Recovery</a:t>
            </a:r>
            <a:endParaRPr kumimoji="1" lang="zh-CN" altLang="en-US" dirty="0"/>
          </a:p>
        </p:txBody>
      </p:sp>
      <p:pic>
        <p:nvPicPr>
          <p:cNvPr id="28" name="Picture 66" descr="timedomain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9" t="57458" r="10071" b="10840"/>
          <a:stretch>
            <a:fillRect/>
          </a:stretch>
        </p:blipFill>
        <p:spPr bwMode="auto">
          <a:xfrm>
            <a:off x="3820816" y="2367187"/>
            <a:ext cx="1517227" cy="444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68" descr="timedoma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2" t="55594" r="21480" b="12704"/>
          <a:stretch>
            <a:fillRect/>
          </a:stretch>
        </p:blipFill>
        <p:spPr bwMode="auto">
          <a:xfrm>
            <a:off x="3820816" y="2909055"/>
            <a:ext cx="1517227" cy="40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82" descr="rc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349" t="13359" r="10071" b="37787"/>
          <a:stretch>
            <a:fillRect/>
          </a:stretch>
        </p:blipFill>
        <p:spPr bwMode="auto">
          <a:xfrm>
            <a:off x="3820816" y="3450921"/>
            <a:ext cx="1517227" cy="50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88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3674" y="4388037"/>
            <a:ext cx="1517227" cy="458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4" name="Text Box 26"/>
          <p:cNvSpPr txBox="1">
            <a:spLocks noChangeArrowheads="1"/>
          </p:cNvSpPr>
          <p:nvPr/>
        </p:nvSpPr>
        <p:spPr bwMode="auto">
          <a:xfrm>
            <a:off x="4336201" y="3901244"/>
            <a:ext cx="785852" cy="6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lIns="130046" tIns="65023" rIns="130046" bIns="65023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3400" b="1" dirty="0">
                <a:solidFill>
                  <a:schemeClr val="folHlink"/>
                </a:solidFill>
                <a:latin typeface="Arial"/>
              </a:rPr>
              <a:t>…</a:t>
            </a:r>
            <a:endParaRPr lang="en-US" altLang="zh-CN" sz="3400" b="1" dirty="0">
              <a:solidFill>
                <a:schemeClr val="folHlink"/>
              </a:solidFill>
            </a:endParaRPr>
          </a:p>
        </p:txBody>
      </p:sp>
      <p:pic>
        <p:nvPicPr>
          <p:cNvPr id="38" name="Picture 71" descr="timedomai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62" t="55594" r="21480" b="12704"/>
          <a:stretch>
            <a:fillRect/>
          </a:stretch>
        </p:blipFill>
        <p:spPr bwMode="auto">
          <a:xfrm>
            <a:off x="6208954" y="2914922"/>
            <a:ext cx="1517227" cy="404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8907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307"/>
    </mc:Choice>
    <mc:Fallback xmlns="">
      <p:transition spd="slow" advTm="373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29873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based</a:t>
            </a:r>
            <a:r>
              <a:rPr lang="zh-CN" altLang="en-US" sz="2800" dirty="0"/>
              <a:t> </a:t>
            </a:r>
            <a:r>
              <a:rPr lang="en-US" altLang="zh-CN" sz="2800" dirty="0"/>
              <a:t>SCA</a:t>
            </a:r>
            <a:endParaRPr lang="zh-CN" altLang="en-US" sz="28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64458F-09D5-F945-9CAC-E57B814928B5}"/>
              </a:ext>
            </a:extLst>
          </p:cNvPr>
          <p:cNvSpPr/>
          <p:nvPr/>
        </p:nvSpPr>
        <p:spPr>
          <a:xfrm>
            <a:off x="3733800" y="3253784"/>
            <a:ext cx="2141361" cy="1452704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45242FB-AFF0-B840-801A-A7A435FE6301}"/>
              </a:ext>
            </a:extLst>
          </p:cNvPr>
          <p:cNvGrpSpPr/>
          <p:nvPr/>
        </p:nvGrpSpPr>
        <p:grpSpPr>
          <a:xfrm>
            <a:off x="3791565" y="454967"/>
            <a:ext cx="8095635" cy="5492855"/>
            <a:chOff x="4090503" y="454967"/>
            <a:chExt cx="8095635" cy="5492855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76878FB-BC49-0347-8862-F6A60DBA0423}"/>
                </a:ext>
              </a:extLst>
            </p:cNvPr>
            <p:cNvSpPr/>
            <p:nvPr/>
          </p:nvSpPr>
          <p:spPr>
            <a:xfrm>
              <a:off x="6865202" y="5471331"/>
              <a:ext cx="1910320" cy="47649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Prediction</a:t>
              </a:r>
              <a:endParaRPr kumimoji="1"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C764AFED-631C-BB4F-BCC6-889F8EBBB91C}"/>
                </a:ext>
              </a:extLst>
            </p:cNvPr>
            <p:cNvSpPr/>
            <p:nvPr/>
          </p:nvSpPr>
          <p:spPr>
            <a:xfrm>
              <a:off x="4090503" y="3293925"/>
              <a:ext cx="2020614" cy="85455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Classification</a:t>
              </a:r>
              <a:r>
                <a:rPr kumimoji="1" lang="zh-CN" altLang="en-US" sz="24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400" dirty="0">
                  <a:solidFill>
                    <a:schemeClr val="tx1"/>
                  </a:solidFill>
                </a:rPr>
                <a:t>Model</a:t>
              </a:r>
              <a:endParaRPr kumimoji="1"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FFDFA9E0-EADD-9342-953F-44A0821F6753}"/>
                </a:ext>
              </a:extLst>
            </p:cNvPr>
            <p:cNvSpPr/>
            <p:nvPr/>
          </p:nvSpPr>
          <p:spPr>
            <a:xfrm>
              <a:off x="6806610" y="2424029"/>
              <a:ext cx="2025226" cy="47649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Power</a:t>
              </a:r>
              <a:r>
                <a:rPr kumimoji="1" lang="zh-CN" altLang="en-US" sz="24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400" dirty="0">
                  <a:solidFill>
                    <a:schemeClr val="tx1"/>
                  </a:solidFill>
                </a:rPr>
                <a:t>Traces</a:t>
              </a:r>
              <a:endParaRPr kumimoji="1"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E69F0FB-5938-294F-B412-06BD8AD7B7C6}"/>
                </a:ext>
              </a:extLst>
            </p:cNvPr>
            <p:cNvSpPr/>
            <p:nvPr/>
          </p:nvSpPr>
          <p:spPr>
            <a:xfrm>
              <a:off x="6806609" y="1061776"/>
              <a:ext cx="2025226" cy="103899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Profiling</a:t>
              </a:r>
              <a:r>
                <a:rPr kumimoji="1" lang="zh-CN" altLang="en-US" sz="24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400" dirty="0">
                  <a:solidFill>
                    <a:schemeClr val="tx1"/>
                  </a:solidFill>
                </a:rPr>
                <a:t>Device</a:t>
              </a:r>
              <a:endParaRPr kumimoji="1"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7CC2C1E-EB93-2649-A7B9-8D7763A58CA1}"/>
                </a:ext>
              </a:extLst>
            </p:cNvPr>
            <p:cNvSpPr/>
            <p:nvPr/>
          </p:nvSpPr>
          <p:spPr>
            <a:xfrm>
              <a:off x="6806609" y="3313708"/>
              <a:ext cx="2025226" cy="834767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Template</a:t>
              </a:r>
            </a:p>
            <a:p>
              <a:pPr algn="ctr"/>
              <a:r>
                <a:rPr kumimoji="1" lang="en-US" altLang="zh-CN" sz="2400" dirty="0">
                  <a:solidFill>
                    <a:schemeClr val="tx1"/>
                  </a:solidFill>
                </a:rPr>
                <a:t>{m,</a:t>
              </a:r>
              <a:r>
                <a:rPr kumimoji="1" lang="zh-CN" altLang="en-US" sz="2400" dirty="0">
                  <a:solidFill>
                    <a:schemeClr val="tx1"/>
                  </a:solidFill>
                </a:rPr>
                <a:t> </a:t>
              </a:r>
              <a:r>
                <a:rPr kumimoji="1" lang="en-US" altLang="zh-CN" sz="2400" dirty="0">
                  <a:solidFill>
                    <a:schemeClr val="tx1"/>
                  </a:solidFill>
                </a:rPr>
                <a:t>C}</a:t>
              </a:r>
              <a:endParaRPr kumimoji="1" lang="zh-CN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35BFB630-190A-0244-9B52-79B257256879}"/>
                </a:ext>
              </a:extLst>
            </p:cNvPr>
            <p:cNvSpPr/>
            <p:nvPr/>
          </p:nvSpPr>
          <p:spPr>
            <a:xfrm>
              <a:off x="10155738" y="1066800"/>
              <a:ext cx="2030400" cy="1044000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Target</a:t>
              </a:r>
            </a:p>
            <a:p>
              <a:pPr algn="ctr"/>
              <a:r>
                <a:rPr kumimoji="1"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Device</a:t>
              </a:r>
              <a:endParaRPr kumimoji="1"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EDD0204-E2CC-F24B-A86D-BAE0218431F2}"/>
                </a:ext>
              </a:extLst>
            </p:cNvPr>
            <p:cNvSpPr/>
            <p:nvPr/>
          </p:nvSpPr>
          <p:spPr>
            <a:xfrm>
              <a:off x="10155738" y="2491800"/>
              <a:ext cx="2030400" cy="476491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Power</a:t>
              </a:r>
              <a:r>
                <a:rPr kumimoji="1" lang="zh-CN" altLang="en-US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 </a:t>
              </a:r>
              <a:r>
                <a:rPr kumimoji="1" lang="en-US" altLang="zh-CN" sz="24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Traces</a:t>
              </a:r>
              <a:endParaRPr kumimoji="1" lang="zh-CN" altLang="en-US" sz="2400" dirty="0">
                <a:solidFill>
                  <a:schemeClr val="tx1">
                    <a:lumMod val="50000"/>
                    <a:lumOff val="50000"/>
                  </a:schemeClr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70FDE9D5-429E-0E49-A11E-F142B2EE651C}"/>
                </a:ext>
              </a:extLst>
            </p:cNvPr>
            <p:cNvSpPr txBox="1"/>
            <p:nvPr/>
          </p:nvSpPr>
          <p:spPr>
            <a:xfrm>
              <a:off x="4393928" y="4206091"/>
              <a:ext cx="91217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/>
                <a:t>DL-PA</a:t>
              </a:r>
              <a:endParaRPr kumimoji="1" lang="zh-CN" altLang="en-US" sz="2400" dirty="0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D886A21A-48D9-4E42-A28A-645B31107F23}"/>
                </a:ext>
              </a:extLst>
            </p:cNvPr>
            <p:cNvSpPr txBox="1"/>
            <p:nvPr/>
          </p:nvSpPr>
          <p:spPr>
            <a:xfrm>
              <a:off x="7544922" y="4207767"/>
              <a:ext cx="53893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/>
                <a:t>TA</a:t>
              </a:r>
              <a:endParaRPr kumimoji="1" lang="zh-CN" altLang="en-US" sz="2400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C73D09DD-3F65-A543-AC59-98100A80EB3A}"/>
                </a:ext>
              </a:extLst>
            </p:cNvPr>
            <p:cNvSpPr/>
            <p:nvPr/>
          </p:nvSpPr>
          <p:spPr>
            <a:xfrm>
              <a:off x="4450033" y="454967"/>
              <a:ext cx="1306768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2400" dirty="0"/>
                <a:t>Plaintext</a:t>
              </a:r>
              <a:endParaRPr kumimoji="1" lang="zh-CN" altLang="en-US" sz="2400" dirty="0"/>
            </a:p>
          </p:txBody>
        </p:sp>
        <p:cxnSp>
          <p:nvCxnSpPr>
            <p:cNvPr id="19" name="肘形连接符 18">
              <a:extLst>
                <a:ext uri="{FF2B5EF4-FFF2-40B4-BE49-F238E27FC236}">
                  <a16:creationId xmlns:a16="http://schemas.microsoft.com/office/drawing/2014/main" id="{6B2EA703-0259-7C41-A5E0-57619FEB235A}"/>
                </a:ext>
              </a:extLst>
            </p:cNvPr>
            <p:cNvCxnSpPr/>
            <p:nvPr/>
          </p:nvCxnSpPr>
          <p:spPr>
            <a:xfrm rot="5400000">
              <a:off x="7652283" y="2271394"/>
              <a:ext cx="341250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6F8F097B-757B-C140-8F24-1327739419DB}"/>
                </a:ext>
              </a:extLst>
            </p:cNvPr>
            <p:cNvSpPr txBox="1"/>
            <p:nvPr/>
          </p:nvSpPr>
          <p:spPr>
            <a:xfrm>
              <a:off x="4784858" y="1345192"/>
              <a:ext cx="65755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400" dirty="0"/>
                <a:t>Key</a:t>
              </a:r>
              <a:endParaRPr kumimoji="1" lang="zh-CN" altLang="en-US" sz="2400" dirty="0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38208E06-F334-C944-86B9-5F76F227DECE}"/>
                </a:ext>
              </a:extLst>
            </p:cNvPr>
            <p:cNvSpPr/>
            <p:nvPr/>
          </p:nvSpPr>
          <p:spPr>
            <a:xfrm>
              <a:off x="6749682" y="3273568"/>
              <a:ext cx="2141361" cy="1452704"/>
            </a:xfrm>
            <a:prstGeom prst="rect">
              <a:avLst/>
            </a:prstGeom>
            <a:noFill/>
            <a:ln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400"/>
            </a:p>
          </p:txBody>
        </p:sp>
        <p:cxnSp>
          <p:nvCxnSpPr>
            <p:cNvPr id="22" name="肘形连接符 21">
              <a:extLst>
                <a:ext uri="{FF2B5EF4-FFF2-40B4-BE49-F238E27FC236}">
                  <a16:creationId xmlns:a16="http://schemas.microsoft.com/office/drawing/2014/main" id="{6F3F41A3-6F0C-994D-95FA-DDD6949E21EA}"/>
                </a:ext>
              </a:extLst>
            </p:cNvPr>
            <p:cNvCxnSpPr>
              <a:cxnSpLocks/>
              <a:stCxn id="15" idx="2"/>
              <a:endCxn id="9" idx="0"/>
            </p:cNvCxnSpPr>
            <p:nvPr/>
          </p:nvCxnSpPr>
          <p:spPr>
            <a:xfrm rot="5400000">
              <a:off x="8244130" y="2544523"/>
              <a:ext cx="2503040" cy="3350576"/>
            </a:xfrm>
            <a:prstGeom prst="bentConnector3">
              <a:avLst>
                <a:gd name="adj1" fmla="val 84705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肘形连接符 23">
              <a:extLst>
                <a:ext uri="{FF2B5EF4-FFF2-40B4-BE49-F238E27FC236}">
                  <a16:creationId xmlns:a16="http://schemas.microsoft.com/office/drawing/2014/main" id="{BEC14C9B-1ABB-C44B-B82C-5E39C3873D81}"/>
                </a:ext>
              </a:extLst>
            </p:cNvPr>
            <p:cNvCxnSpPr>
              <a:cxnSpLocks/>
              <a:stCxn id="18" idx="3"/>
              <a:endCxn id="12" idx="0"/>
            </p:cNvCxnSpPr>
            <p:nvPr/>
          </p:nvCxnSpPr>
          <p:spPr>
            <a:xfrm>
              <a:off x="5756801" y="685800"/>
              <a:ext cx="2062421" cy="375976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肘形连接符 24">
              <a:extLst>
                <a:ext uri="{FF2B5EF4-FFF2-40B4-BE49-F238E27FC236}">
                  <a16:creationId xmlns:a16="http://schemas.microsoft.com/office/drawing/2014/main" id="{0FFB26E8-DA1C-354B-AE99-0F87AB9EA313}"/>
                </a:ext>
              </a:extLst>
            </p:cNvPr>
            <p:cNvCxnSpPr>
              <a:cxnSpLocks/>
              <a:stCxn id="18" idx="3"/>
              <a:endCxn id="14" idx="0"/>
            </p:cNvCxnSpPr>
            <p:nvPr/>
          </p:nvCxnSpPr>
          <p:spPr>
            <a:xfrm>
              <a:off x="5756801" y="685800"/>
              <a:ext cx="5414137" cy="381000"/>
            </a:xfrm>
            <a:prstGeom prst="bentConnector2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线箭头连接符 25">
              <a:extLst>
                <a:ext uri="{FF2B5EF4-FFF2-40B4-BE49-F238E27FC236}">
                  <a16:creationId xmlns:a16="http://schemas.microsoft.com/office/drawing/2014/main" id="{0393F4CF-CC10-1A45-9A36-1CB1D931DBF8}"/>
                </a:ext>
              </a:extLst>
            </p:cNvPr>
            <p:cNvCxnSpPr>
              <a:cxnSpLocks/>
              <a:stCxn id="20" idx="3"/>
              <a:endCxn id="12" idx="1"/>
            </p:cNvCxnSpPr>
            <p:nvPr/>
          </p:nvCxnSpPr>
          <p:spPr>
            <a:xfrm>
              <a:off x="5442410" y="1576025"/>
              <a:ext cx="1364199" cy="5247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>
              <a:extLst>
                <a:ext uri="{FF2B5EF4-FFF2-40B4-BE49-F238E27FC236}">
                  <a16:creationId xmlns:a16="http://schemas.microsoft.com/office/drawing/2014/main" id="{5B9323D3-867F-E64C-99FE-29A3BEC7455C}"/>
                </a:ext>
              </a:extLst>
            </p:cNvPr>
            <p:cNvCxnSpPr>
              <a:cxnSpLocks/>
              <a:stCxn id="11" idx="2"/>
              <a:endCxn id="21" idx="0"/>
            </p:cNvCxnSpPr>
            <p:nvPr/>
          </p:nvCxnSpPr>
          <p:spPr>
            <a:xfrm rot="16200000" flipH="1">
              <a:off x="7633269" y="3086474"/>
              <a:ext cx="373048" cy="1140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27">
              <a:extLst>
                <a:ext uri="{FF2B5EF4-FFF2-40B4-BE49-F238E27FC236}">
                  <a16:creationId xmlns:a16="http://schemas.microsoft.com/office/drawing/2014/main" id="{5FAF095A-7ADA-4142-8DDB-C28CDB4EFE04}"/>
                </a:ext>
              </a:extLst>
            </p:cNvPr>
            <p:cNvCxnSpPr>
              <a:cxnSpLocks/>
              <a:stCxn id="11" idx="2"/>
              <a:endCxn id="8" idx="0"/>
            </p:cNvCxnSpPr>
            <p:nvPr/>
          </p:nvCxnSpPr>
          <p:spPr>
            <a:xfrm rot="5400000">
              <a:off x="6246589" y="1681150"/>
              <a:ext cx="353264" cy="2792004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肘形连接符 28">
              <a:extLst>
                <a:ext uri="{FF2B5EF4-FFF2-40B4-BE49-F238E27FC236}">
                  <a16:creationId xmlns:a16="http://schemas.microsoft.com/office/drawing/2014/main" id="{2C3B9DAD-955E-B242-B5DF-69ADE46987E3}"/>
                </a:ext>
              </a:extLst>
            </p:cNvPr>
            <p:cNvCxnSpPr>
              <a:stCxn id="8" idx="2"/>
              <a:endCxn id="9" idx="0"/>
            </p:cNvCxnSpPr>
            <p:nvPr/>
          </p:nvCxnSpPr>
          <p:spPr>
            <a:xfrm rot="16200000" flipH="1">
              <a:off x="6041369" y="3692337"/>
              <a:ext cx="764843" cy="2793143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肘形连接符 29">
              <a:extLst>
                <a:ext uri="{FF2B5EF4-FFF2-40B4-BE49-F238E27FC236}">
                  <a16:creationId xmlns:a16="http://schemas.microsoft.com/office/drawing/2014/main" id="{588E9F61-AD8A-FA49-AE3C-A5E68EE909D9}"/>
                </a:ext>
              </a:extLst>
            </p:cNvPr>
            <p:cNvCxnSpPr>
              <a:cxnSpLocks/>
              <a:stCxn id="21" idx="2"/>
              <a:endCxn id="9" idx="0"/>
            </p:cNvCxnSpPr>
            <p:nvPr/>
          </p:nvCxnSpPr>
          <p:spPr>
            <a:xfrm rot="5400000">
              <a:off x="7447834" y="5098801"/>
              <a:ext cx="745059" cy="1"/>
            </a:xfrm>
            <a:prstGeom prst="bentConnector3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肘形连接符 30">
              <a:extLst>
                <a:ext uri="{FF2B5EF4-FFF2-40B4-BE49-F238E27FC236}">
                  <a16:creationId xmlns:a16="http://schemas.microsoft.com/office/drawing/2014/main" id="{69892173-FB14-C545-96DE-0A00010E23E3}"/>
                </a:ext>
              </a:extLst>
            </p:cNvPr>
            <p:cNvCxnSpPr>
              <a:cxnSpLocks/>
              <a:stCxn id="14" idx="2"/>
              <a:endCxn id="15" idx="0"/>
            </p:cNvCxnSpPr>
            <p:nvPr/>
          </p:nvCxnSpPr>
          <p:spPr>
            <a:xfrm rot="5400000">
              <a:off x="10980438" y="2301300"/>
              <a:ext cx="381000" cy="12700"/>
            </a:xfrm>
            <a:prstGeom prst="bentConnector3">
              <a:avLst>
                <a:gd name="adj1" fmla="val -2121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B9EFCA27-3774-F147-B040-372C6E4D5148}"/>
              </a:ext>
            </a:extLst>
          </p:cNvPr>
          <p:cNvCxnSpPr>
            <a:cxnSpLocks/>
            <a:stCxn id="12" idx="3"/>
            <a:endCxn id="14" idx="1"/>
          </p:cNvCxnSpPr>
          <p:nvPr/>
        </p:nvCxnSpPr>
        <p:spPr>
          <a:xfrm>
            <a:off x="8532897" y="1581272"/>
            <a:ext cx="1323903" cy="752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F9C57C2D-FCEE-E44A-8B8A-F16AFEA5D5AA}"/>
              </a:ext>
            </a:extLst>
          </p:cNvPr>
          <p:cNvSpPr txBox="1"/>
          <p:nvPr/>
        </p:nvSpPr>
        <p:spPr>
          <a:xfrm>
            <a:off x="8418587" y="1116983"/>
            <a:ext cx="15423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CN" sz="2400" b="1" dirty="0">
                <a:solidFill>
                  <a:srgbClr val="FF0000"/>
                </a:solidFill>
              </a:rPr>
              <a:t>Boundary</a:t>
            </a:r>
            <a:endParaRPr kumimoji="1"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87D8177C-F3FF-0848-B9F1-028D7D26E7A0}"/>
              </a:ext>
            </a:extLst>
          </p:cNvPr>
          <p:cNvSpPr txBox="1"/>
          <p:nvPr/>
        </p:nvSpPr>
        <p:spPr>
          <a:xfrm>
            <a:off x="571267" y="2248689"/>
            <a:ext cx="322029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Framework</a:t>
            </a:r>
            <a:r>
              <a:rPr lang="zh-CN" altLang="en-US" sz="2800" dirty="0"/>
              <a:t> </a:t>
            </a:r>
            <a:r>
              <a:rPr lang="en-US" altLang="zh-CN" sz="2800" dirty="0"/>
              <a:t>for</a:t>
            </a:r>
            <a:r>
              <a:rPr lang="zh-CN" altLang="en-US" sz="2800" dirty="0"/>
              <a:t> </a:t>
            </a:r>
            <a:r>
              <a:rPr lang="en-US" altLang="zh-CN" sz="2800" dirty="0"/>
              <a:t>Secret</a:t>
            </a:r>
            <a:r>
              <a:rPr lang="zh-CN" altLang="en-US" sz="2800" dirty="0"/>
              <a:t> </a:t>
            </a:r>
            <a:r>
              <a:rPr lang="en-US" altLang="zh-CN" sz="2800" dirty="0"/>
              <a:t>Key</a:t>
            </a:r>
            <a:r>
              <a:rPr lang="zh-CN" altLang="en-US" sz="2800" dirty="0"/>
              <a:t> </a:t>
            </a:r>
            <a:r>
              <a:rPr lang="en-US" altLang="zh-CN" sz="2800" dirty="0"/>
              <a:t>Recovery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879269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07"/>
    </mc:Choice>
    <mc:Fallback xmlns="">
      <p:transition spd="slow" advTm="180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7FF8F79-204E-864A-BFB5-9160A6DD26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6400" y="2514600"/>
            <a:ext cx="8976360" cy="229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548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E80BB3-05E8-F247-BEC9-B41DA2F66AA6}"/>
              </a:ext>
            </a:extLst>
          </p:cNvPr>
          <p:cNvGrpSpPr/>
          <p:nvPr/>
        </p:nvGrpSpPr>
        <p:grpSpPr>
          <a:xfrm>
            <a:off x="838200" y="1828800"/>
            <a:ext cx="7086600" cy="4495800"/>
            <a:chOff x="2362200" y="1828800"/>
            <a:chExt cx="7086600" cy="4495800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FCC00409-52E7-104D-8889-276F9B384D01}"/>
                </a:ext>
              </a:extLst>
            </p:cNvPr>
            <p:cNvSpPr/>
            <p:nvPr/>
          </p:nvSpPr>
          <p:spPr>
            <a:xfrm>
              <a:off x="2362200" y="1828800"/>
              <a:ext cx="7086600" cy="4495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69C35EB-5524-F142-BB38-50410F588CFF}"/>
                </a:ext>
              </a:extLst>
            </p:cNvPr>
            <p:cNvSpPr/>
            <p:nvPr/>
          </p:nvSpPr>
          <p:spPr>
            <a:xfrm>
              <a:off x="2971800" y="2286000"/>
              <a:ext cx="2743200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Homogeneous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9811B31-5373-4543-A7AC-867193D5EA13}"/>
                </a:ext>
              </a:extLst>
            </p:cNvPr>
            <p:cNvSpPr/>
            <p:nvPr/>
          </p:nvSpPr>
          <p:spPr>
            <a:xfrm>
              <a:off x="3276600" y="4572000"/>
              <a:ext cx="1981200" cy="1066800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i="1" dirty="0">
                  <a:solidFill>
                    <a:schemeClr val="tx1"/>
                  </a:solidFill>
                </a:rPr>
                <a:t>I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dentical</a:t>
              </a:r>
              <a:r>
                <a:rPr lang="en" altLang="zh-CN" sz="2800" b="1" i="1" dirty="0">
                  <a:solidFill>
                    <a:schemeClr val="tx1"/>
                  </a:solidFill>
                </a:rPr>
                <a:t>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92A09F3-D292-2847-BFBE-BC37BDA9807A}"/>
                </a:ext>
              </a:extLst>
            </p:cNvPr>
            <p:cNvSpPr/>
            <p:nvPr/>
          </p:nvSpPr>
          <p:spPr>
            <a:xfrm>
              <a:off x="6145306" y="2286000"/>
              <a:ext cx="2693894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Heterogeneous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A1359D-CFBF-E14F-A20D-1F187231C3C3}"/>
                </a:ext>
              </a:extLst>
            </p:cNvPr>
            <p:cNvSpPr txBox="1"/>
            <p:nvPr/>
          </p:nvSpPr>
          <p:spPr>
            <a:xfrm>
              <a:off x="3574542" y="2597106"/>
              <a:ext cx="1385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A</a:t>
              </a:r>
              <a:endParaRPr kumimoji="1" lang="zh-CN" altLang="en-US" sz="2800" i="1" u="sng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B60258-CBEC-3743-AE40-B38E2434C5D7}"/>
                </a:ext>
              </a:extLst>
            </p:cNvPr>
            <p:cNvSpPr txBox="1"/>
            <p:nvPr/>
          </p:nvSpPr>
          <p:spPr>
            <a:xfrm>
              <a:off x="6748048" y="2597106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B</a:t>
              </a:r>
              <a:endParaRPr kumimoji="1" lang="zh-CN" altLang="en-US" sz="2800" i="1" u="sng" dirty="0"/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id="{BB0932D1-01B1-EF48-B54B-07FA3CCC2152}"/>
              </a:ext>
            </a:extLst>
          </p:cNvPr>
          <p:cNvSpPr txBox="1"/>
          <p:nvPr/>
        </p:nvSpPr>
        <p:spPr>
          <a:xfrm>
            <a:off x="8534400" y="1567190"/>
            <a:ext cx="3346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Family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A: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AVR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devices</a:t>
            </a:r>
            <a:endParaRPr kumimoji="1" lang="zh-CN" altLang="en-US" sz="2800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8940667-8CA3-3240-B441-5493013A683E}"/>
              </a:ext>
            </a:extLst>
          </p:cNvPr>
          <p:cNvSpPr txBox="1"/>
          <p:nvPr/>
        </p:nvSpPr>
        <p:spPr>
          <a:xfrm>
            <a:off x="8534400" y="2335496"/>
            <a:ext cx="32078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/>
              <a:t>Family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B: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PIC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devices</a:t>
            </a:r>
            <a:endParaRPr kumimoji="1" lang="zh-CN" altLang="en-US" sz="28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5F01AD1-B945-5D48-9CAD-C53ED01DD55E}"/>
              </a:ext>
            </a:extLst>
          </p:cNvPr>
          <p:cNvSpPr txBox="1"/>
          <p:nvPr/>
        </p:nvSpPr>
        <p:spPr>
          <a:xfrm>
            <a:off x="8534400" y="3189385"/>
            <a:ext cx="33461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/>
              <a:t>ASSUME:</a:t>
            </a:r>
          </a:p>
          <a:p>
            <a:r>
              <a:rPr kumimoji="1" lang="en-US" altLang="zh-CN" sz="2800" dirty="0"/>
              <a:t>Profiling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device</a:t>
            </a:r>
            <a:r>
              <a:rPr kumimoji="1" lang="zh-CN" altLang="en-US" sz="2800" dirty="0"/>
              <a:t> </a:t>
            </a:r>
            <a:endParaRPr kumimoji="1" lang="en-US" altLang="zh-CN" sz="2800" dirty="0"/>
          </a:p>
          <a:p>
            <a:r>
              <a:rPr kumimoji="1" lang="en-US" altLang="zh-CN" sz="2800" dirty="0"/>
              <a:t>is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in</a:t>
            </a:r>
            <a:r>
              <a:rPr kumimoji="1" lang="zh-CN" altLang="en-US" sz="2800" dirty="0"/>
              <a:t> </a:t>
            </a:r>
            <a:r>
              <a:rPr kumimoji="1" lang="en-US" altLang="zh-CN" sz="2800" dirty="0">
                <a:solidFill>
                  <a:srgbClr val="00B050"/>
                </a:solidFill>
              </a:rPr>
              <a:t>green</a:t>
            </a:r>
            <a:r>
              <a:rPr kumimoji="1" lang="zh-CN" altLang="en-US" sz="2800" dirty="0"/>
              <a:t> </a:t>
            </a:r>
            <a:r>
              <a:rPr kumimoji="1" lang="en-US" altLang="zh-CN" sz="2800" dirty="0"/>
              <a:t>area</a:t>
            </a:r>
            <a:endParaRPr kumimoji="1"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546449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E80BB3-05E8-F247-BEC9-B41DA2F66AA6}"/>
              </a:ext>
            </a:extLst>
          </p:cNvPr>
          <p:cNvGrpSpPr/>
          <p:nvPr/>
        </p:nvGrpSpPr>
        <p:grpSpPr>
          <a:xfrm>
            <a:off x="838200" y="1828800"/>
            <a:ext cx="7086600" cy="4495800"/>
            <a:chOff x="2362200" y="1828800"/>
            <a:chExt cx="7086600" cy="4495800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FCC00409-52E7-104D-8889-276F9B384D01}"/>
                </a:ext>
              </a:extLst>
            </p:cNvPr>
            <p:cNvSpPr/>
            <p:nvPr/>
          </p:nvSpPr>
          <p:spPr>
            <a:xfrm>
              <a:off x="2362200" y="1828800"/>
              <a:ext cx="7086600" cy="4495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69C35EB-5524-F142-BB38-50410F588CFF}"/>
                </a:ext>
              </a:extLst>
            </p:cNvPr>
            <p:cNvSpPr/>
            <p:nvPr/>
          </p:nvSpPr>
          <p:spPr>
            <a:xfrm>
              <a:off x="2971800" y="2286000"/>
              <a:ext cx="2743200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Homogeneous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9811B31-5373-4543-A7AC-867193D5EA13}"/>
                </a:ext>
              </a:extLst>
            </p:cNvPr>
            <p:cNvSpPr/>
            <p:nvPr/>
          </p:nvSpPr>
          <p:spPr>
            <a:xfrm>
              <a:off x="3276600" y="4572000"/>
              <a:ext cx="1981200" cy="1066800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i="1" dirty="0">
                  <a:solidFill>
                    <a:schemeClr val="tx1"/>
                  </a:solidFill>
                </a:rPr>
                <a:t>I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dentical</a:t>
              </a:r>
              <a:r>
                <a:rPr lang="en" altLang="zh-CN" sz="2800" b="1" i="1" dirty="0">
                  <a:solidFill>
                    <a:schemeClr val="tx1"/>
                  </a:solidFill>
                </a:rPr>
                <a:t>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92A09F3-D292-2847-BFBE-BC37BDA9807A}"/>
                </a:ext>
              </a:extLst>
            </p:cNvPr>
            <p:cNvSpPr/>
            <p:nvPr/>
          </p:nvSpPr>
          <p:spPr>
            <a:xfrm>
              <a:off x="6145306" y="2286000"/>
              <a:ext cx="2693894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Heterogeneous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A1359D-CFBF-E14F-A20D-1F187231C3C3}"/>
                </a:ext>
              </a:extLst>
            </p:cNvPr>
            <p:cNvSpPr txBox="1"/>
            <p:nvPr/>
          </p:nvSpPr>
          <p:spPr>
            <a:xfrm>
              <a:off x="3574542" y="2597106"/>
              <a:ext cx="1385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A</a:t>
              </a:r>
              <a:endParaRPr kumimoji="1" lang="zh-CN" altLang="en-US" sz="2800" i="1" u="sng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B60258-CBEC-3743-AE40-B38E2434C5D7}"/>
                </a:ext>
              </a:extLst>
            </p:cNvPr>
            <p:cNvSpPr txBox="1"/>
            <p:nvPr/>
          </p:nvSpPr>
          <p:spPr>
            <a:xfrm>
              <a:off x="6748048" y="2597106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B</a:t>
              </a:r>
              <a:endParaRPr kumimoji="1" lang="zh-CN" altLang="en-US" sz="2800" i="1" u="sng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587C5B0-E206-714F-B9B8-CAE2830DFC79}"/>
              </a:ext>
            </a:extLst>
          </p:cNvPr>
          <p:cNvSpPr/>
          <p:nvPr/>
        </p:nvSpPr>
        <p:spPr>
          <a:xfrm>
            <a:off x="8332694" y="2286000"/>
            <a:ext cx="385930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u="sng" dirty="0"/>
              <a:t>Same</a:t>
            </a:r>
            <a:r>
              <a:rPr lang="zh-CN" altLang="en-US" sz="2800" b="1" i="1" u="sng" dirty="0"/>
              <a:t> </a:t>
            </a:r>
            <a:r>
              <a:rPr lang="en-US" altLang="zh-CN" sz="2800" b="1" i="1" u="sng" dirty="0"/>
              <a:t>Devices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r>
              <a:rPr lang="en-US" altLang="zh-CN" sz="2800" dirty="0"/>
              <a:t>e.g.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</a:t>
            </a:r>
            <a:r>
              <a:rPr lang="zh-CN" altLang="en-US" sz="2800" dirty="0"/>
              <a:t> </a:t>
            </a:r>
            <a:r>
              <a:rPr lang="en-US" altLang="zh-CN" sz="2800" dirty="0"/>
              <a:t>sampled</a:t>
            </a:r>
            <a:r>
              <a:rPr lang="zh-CN" altLang="en-US" sz="2800" dirty="0"/>
              <a:t> </a:t>
            </a:r>
            <a:r>
              <a:rPr lang="en-US" altLang="zh-CN" sz="2800" dirty="0"/>
              <a:t>twice.</a:t>
            </a:r>
          </a:p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is</a:t>
            </a:r>
            <a:r>
              <a:rPr lang="zh-CN" altLang="en-US" sz="2800" dirty="0"/>
              <a:t> </a:t>
            </a:r>
            <a:r>
              <a:rPr lang="en-US" altLang="zh-CN" sz="2800" dirty="0"/>
              <a:t>also</a:t>
            </a:r>
            <a:r>
              <a:rPr lang="zh-CN" altLang="en-US" sz="2800" dirty="0"/>
              <a:t> </a:t>
            </a:r>
            <a:r>
              <a:rPr lang="en-US" altLang="zh-CN" sz="2800" dirty="0"/>
              <a:t>a</a:t>
            </a:r>
            <a:r>
              <a:rPr lang="zh-CN" altLang="en-US" sz="2800" dirty="0"/>
              <a:t> </a:t>
            </a:r>
            <a:r>
              <a:rPr lang="en-US" altLang="zh-CN" sz="2800" dirty="0"/>
              <a:t>target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</a:p>
        </p:txBody>
      </p:sp>
    </p:spTree>
    <p:extLst>
      <p:ext uri="{BB962C8B-B14F-4D97-AF65-F5344CB8AC3E}">
        <p14:creationId xmlns:p14="http://schemas.microsoft.com/office/powerpoint/2010/main" val="288591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E80BB3-05E8-F247-BEC9-B41DA2F66AA6}"/>
              </a:ext>
            </a:extLst>
          </p:cNvPr>
          <p:cNvGrpSpPr/>
          <p:nvPr/>
        </p:nvGrpSpPr>
        <p:grpSpPr>
          <a:xfrm>
            <a:off x="838200" y="1828800"/>
            <a:ext cx="7086600" cy="4495800"/>
            <a:chOff x="2362200" y="1828800"/>
            <a:chExt cx="7086600" cy="4495800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FCC00409-52E7-104D-8889-276F9B384D01}"/>
                </a:ext>
              </a:extLst>
            </p:cNvPr>
            <p:cNvSpPr/>
            <p:nvPr/>
          </p:nvSpPr>
          <p:spPr>
            <a:xfrm>
              <a:off x="2362200" y="1828800"/>
              <a:ext cx="7086600" cy="4495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69C35EB-5524-F142-BB38-50410F588CFF}"/>
                </a:ext>
              </a:extLst>
            </p:cNvPr>
            <p:cNvSpPr/>
            <p:nvPr/>
          </p:nvSpPr>
          <p:spPr>
            <a:xfrm>
              <a:off x="2971800" y="2286000"/>
              <a:ext cx="2743200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Homogeneous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9811B31-5373-4543-A7AC-867193D5EA13}"/>
                </a:ext>
              </a:extLst>
            </p:cNvPr>
            <p:cNvSpPr/>
            <p:nvPr/>
          </p:nvSpPr>
          <p:spPr>
            <a:xfrm>
              <a:off x="3276600" y="4572000"/>
              <a:ext cx="1981200" cy="1066800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i="1" dirty="0">
                  <a:solidFill>
                    <a:schemeClr val="tx1"/>
                  </a:solidFill>
                </a:rPr>
                <a:t>I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dentical</a:t>
              </a:r>
              <a:r>
                <a:rPr lang="en" altLang="zh-CN" sz="2800" b="1" i="1" dirty="0">
                  <a:solidFill>
                    <a:schemeClr val="tx1"/>
                  </a:solidFill>
                </a:rPr>
                <a:t>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92A09F3-D292-2847-BFBE-BC37BDA9807A}"/>
                </a:ext>
              </a:extLst>
            </p:cNvPr>
            <p:cNvSpPr/>
            <p:nvPr/>
          </p:nvSpPr>
          <p:spPr>
            <a:xfrm>
              <a:off x="6145306" y="2286000"/>
              <a:ext cx="2693894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Heterogeneous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A1359D-CFBF-E14F-A20D-1F187231C3C3}"/>
                </a:ext>
              </a:extLst>
            </p:cNvPr>
            <p:cNvSpPr txBox="1"/>
            <p:nvPr/>
          </p:nvSpPr>
          <p:spPr>
            <a:xfrm>
              <a:off x="3574542" y="2597106"/>
              <a:ext cx="1385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A</a:t>
              </a:r>
              <a:endParaRPr kumimoji="1" lang="zh-CN" altLang="en-US" sz="2800" i="1" u="sng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B60258-CBEC-3743-AE40-B38E2434C5D7}"/>
                </a:ext>
              </a:extLst>
            </p:cNvPr>
            <p:cNvSpPr txBox="1"/>
            <p:nvPr/>
          </p:nvSpPr>
          <p:spPr>
            <a:xfrm>
              <a:off x="6748048" y="2597106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B</a:t>
              </a:r>
              <a:endParaRPr kumimoji="1" lang="zh-CN" altLang="en-US" sz="2800" i="1" u="sng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587C5B0-E206-714F-B9B8-CAE2830DFC79}"/>
              </a:ext>
            </a:extLst>
          </p:cNvPr>
          <p:cNvSpPr/>
          <p:nvPr/>
        </p:nvSpPr>
        <p:spPr>
          <a:xfrm>
            <a:off x="8332694" y="2286000"/>
            <a:ext cx="385930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i="1" u="sng" dirty="0"/>
              <a:t>I</a:t>
            </a:r>
            <a:r>
              <a:rPr lang="en" altLang="zh-CN" sz="2800" b="1" i="1" u="sng" dirty="0" err="1"/>
              <a:t>dentical</a:t>
            </a:r>
            <a:r>
              <a:rPr lang="en" altLang="zh-CN" sz="2800" b="1" i="1" u="sng" dirty="0"/>
              <a:t> </a:t>
            </a:r>
            <a:r>
              <a:rPr lang="en-US" altLang="zh-CN" sz="2800" b="1" i="1" u="sng" dirty="0"/>
              <a:t>D</a:t>
            </a:r>
            <a:r>
              <a:rPr lang="en" altLang="zh-CN" sz="2800" b="1" i="1" u="sng" dirty="0" err="1"/>
              <a:t>evices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/>
              <a:t>e.g.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Atmega163-1</a:t>
            </a:r>
            <a:r>
              <a:rPr lang="zh-CN" altLang="en-US" sz="2800" dirty="0"/>
              <a:t> </a:t>
            </a:r>
            <a:r>
              <a:rPr lang="en-US" altLang="zh-CN" sz="2800" dirty="0" err="1"/>
              <a:t>v.s</a:t>
            </a:r>
            <a:r>
              <a:rPr lang="en-US" altLang="zh-CN" sz="2800" dirty="0"/>
              <a:t>.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Atmega163-2.</a:t>
            </a:r>
          </a:p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/>
              <a:t>target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two</a:t>
            </a:r>
            <a:r>
              <a:rPr lang="zh-CN" altLang="en-US" sz="2800" dirty="0"/>
              <a:t> </a:t>
            </a:r>
            <a:r>
              <a:rPr lang="en-US" altLang="zh-CN" sz="2800" dirty="0"/>
              <a:t>copies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same</a:t>
            </a:r>
            <a:r>
              <a:rPr lang="zh-CN" altLang="en-US" sz="2800" dirty="0"/>
              <a:t> </a:t>
            </a:r>
            <a:r>
              <a:rPr lang="en-US" altLang="zh-CN" sz="2800" dirty="0"/>
              <a:t>chip</a:t>
            </a:r>
            <a:r>
              <a:rPr lang="zh-CN" altLang="en-US" sz="2800" dirty="0"/>
              <a:t> </a:t>
            </a:r>
            <a:r>
              <a:rPr lang="en-US" altLang="zh-CN" sz="2800" dirty="0"/>
              <a:t>model</a:t>
            </a:r>
            <a:endParaRPr lang="en" altLang="zh-CN" sz="2800" dirty="0"/>
          </a:p>
        </p:txBody>
      </p:sp>
    </p:spTree>
    <p:extLst>
      <p:ext uri="{BB962C8B-B14F-4D97-AF65-F5344CB8AC3E}">
        <p14:creationId xmlns:p14="http://schemas.microsoft.com/office/powerpoint/2010/main" val="229337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E80BB3-05E8-F247-BEC9-B41DA2F66AA6}"/>
              </a:ext>
            </a:extLst>
          </p:cNvPr>
          <p:cNvGrpSpPr/>
          <p:nvPr/>
        </p:nvGrpSpPr>
        <p:grpSpPr>
          <a:xfrm>
            <a:off x="838200" y="1828800"/>
            <a:ext cx="7086600" cy="4495800"/>
            <a:chOff x="2362200" y="1828800"/>
            <a:chExt cx="7086600" cy="4495800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FCC00409-52E7-104D-8889-276F9B384D01}"/>
                </a:ext>
              </a:extLst>
            </p:cNvPr>
            <p:cNvSpPr/>
            <p:nvPr/>
          </p:nvSpPr>
          <p:spPr>
            <a:xfrm>
              <a:off x="2362200" y="1828800"/>
              <a:ext cx="7086600" cy="4495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69C35EB-5524-F142-BB38-50410F588CFF}"/>
                </a:ext>
              </a:extLst>
            </p:cNvPr>
            <p:cNvSpPr/>
            <p:nvPr/>
          </p:nvSpPr>
          <p:spPr>
            <a:xfrm>
              <a:off x="2971800" y="2286000"/>
              <a:ext cx="2743200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Homogeneous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9811B31-5373-4543-A7AC-867193D5EA13}"/>
                </a:ext>
              </a:extLst>
            </p:cNvPr>
            <p:cNvSpPr/>
            <p:nvPr/>
          </p:nvSpPr>
          <p:spPr>
            <a:xfrm>
              <a:off x="3276600" y="4572000"/>
              <a:ext cx="1981200" cy="1066800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i="1" dirty="0">
                  <a:solidFill>
                    <a:schemeClr val="tx1"/>
                  </a:solidFill>
                </a:rPr>
                <a:t>I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dentical</a:t>
              </a:r>
              <a:r>
                <a:rPr lang="en" altLang="zh-CN" sz="2800" b="1" i="1" dirty="0">
                  <a:solidFill>
                    <a:schemeClr val="tx1"/>
                  </a:solidFill>
                </a:rPr>
                <a:t>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92A09F3-D292-2847-BFBE-BC37BDA9807A}"/>
                </a:ext>
              </a:extLst>
            </p:cNvPr>
            <p:cNvSpPr/>
            <p:nvPr/>
          </p:nvSpPr>
          <p:spPr>
            <a:xfrm>
              <a:off x="6145306" y="2286000"/>
              <a:ext cx="2693894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Heterogeneous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A1359D-CFBF-E14F-A20D-1F187231C3C3}"/>
                </a:ext>
              </a:extLst>
            </p:cNvPr>
            <p:cNvSpPr txBox="1"/>
            <p:nvPr/>
          </p:nvSpPr>
          <p:spPr>
            <a:xfrm>
              <a:off x="3574542" y="2597106"/>
              <a:ext cx="1385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A</a:t>
              </a:r>
              <a:endParaRPr kumimoji="1" lang="zh-CN" altLang="en-US" sz="2800" i="1" u="sng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B60258-CBEC-3743-AE40-B38E2434C5D7}"/>
                </a:ext>
              </a:extLst>
            </p:cNvPr>
            <p:cNvSpPr txBox="1"/>
            <p:nvPr/>
          </p:nvSpPr>
          <p:spPr>
            <a:xfrm>
              <a:off x="6748048" y="2597106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B</a:t>
              </a:r>
              <a:endParaRPr kumimoji="1" lang="zh-CN" altLang="en-US" sz="2800" i="1" u="sng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587C5B0-E206-714F-B9B8-CAE2830DFC79}"/>
              </a:ext>
            </a:extLst>
          </p:cNvPr>
          <p:cNvSpPr/>
          <p:nvPr/>
        </p:nvSpPr>
        <p:spPr>
          <a:xfrm>
            <a:off x="8332694" y="2286000"/>
            <a:ext cx="3859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b="1" i="1" u="sng" dirty="0"/>
              <a:t>Homogeneous </a:t>
            </a:r>
            <a:r>
              <a:rPr lang="en-US" altLang="zh-CN" sz="2800" b="1" i="1" u="sng" dirty="0"/>
              <a:t>D</a:t>
            </a:r>
            <a:r>
              <a:rPr lang="en" altLang="zh-CN" sz="2800" b="1" i="1" u="sng" dirty="0" err="1"/>
              <a:t>evices</a:t>
            </a:r>
            <a:r>
              <a:rPr lang="en-US" altLang="zh-CN" sz="2800" dirty="0"/>
              <a:t>:</a:t>
            </a:r>
            <a:r>
              <a:rPr lang="zh-CN" altLang="en-US" sz="2800" dirty="0"/>
              <a:t> </a:t>
            </a:r>
            <a:r>
              <a:rPr lang="en-US" altLang="zh-CN" sz="2800" dirty="0"/>
              <a:t>e.g.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</a:t>
            </a:r>
            <a:r>
              <a:rPr lang="zh-CN" altLang="en-US" sz="2800" dirty="0"/>
              <a:t> </a:t>
            </a:r>
            <a:r>
              <a:rPr lang="en-US" altLang="zh-CN" sz="2800" dirty="0" err="1"/>
              <a:t>v.s</a:t>
            </a:r>
            <a:r>
              <a:rPr lang="en-US" altLang="zh-CN" sz="2800" dirty="0"/>
              <a:t>.</a:t>
            </a:r>
            <a:r>
              <a:rPr lang="zh-CN" altLang="en-US" sz="2800" dirty="0"/>
              <a:t> </a:t>
            </a:r>
            <a:r>
              <a:rPr lang="en-US" altLang="zh-CN" sz="2800" dirty="0"/>
              <a:t>Atmega8515.</a:t>
            </a:r>
          </a:p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/>
              <a:t>target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are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same</a:t>
            </a:r>
            <a:r>
              <a:rPr lang="zh-CN" altLang="en-US" sz="2800" dirty="0"/>
              <a:t> </a:t>
            </a:r>
            <a:r>
              <a:rPr lang="en-US" altLang="zh-CN" sz="2800" dirty="0"/>
              <a:t>family</a:t>
            </a:r>
            <a:endParaRPr lang="en" altLang="zh-CN" sz="2800" dirty="0"/>
          </a:p>
        </p:txBody>
      </p:sp>
    </p:spTree>
    <p:extLst>
      <p:ext uri="{BB962C8B-B14F-4D97-AF65-F5344CB8AC3E}">
        <p14:creationId xmlns:p14="http://schemas.microsoft.com/office/powerpoint/2010/main" val="3268735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31710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" altLang="zh-CN" sz="2800" dirty="0"/>
              <a:t>Boundary of </a:t>
            </a:r>
            <a:r>
              <a:rPr kumimoji="1" lang="en-US" altLang="zh-CN" sz="2800" dirty="0"/>
              <a:t>D</a:t>
            </a:r>
            <a:r>
              <a:rPr kumimoji="1" lang="en" altLang="zh-CN" sz="2800" dirty="0" err="1"/>
              <a:t>evice</a:t>
            </a:r>
            <a:r>
              <a:rPr kumimoji="1" lang="en-US" altLang="zh-CN" sz="2800" dirty="0"/>
              <a:t>s</a:t>
            </a:r>
            <a:endParaRPr lang="zh-CN" altLang="en-US" sz="280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F1E80BB3-05E8-F247-BEC9-B41DA2F66AA6}"/>
              </a:ext>
            </a:extLst>
          </p:cNvPr>
          <p:cNvGrpSpPr/>
          <p:nvPr/>
        </p:nvGrpSpPr>
        <p:grpSpPr>
          <a:xfrm>
            <a:off x="838200" y="1828800"/>
            <a:ext cx="7086600" cy="4495800"/>
            <a:chOff x="2362200" y="1828800"/>
            <a:chExt cx="7086600" cy="4495800"/>
          </a:xfrm>
        </p:grpSpPr>
        <p:sp>
          <p:nvSpPr>
            <p:cNvPr id="8" name="圆角矩形 7">
              <a:extLst>
                <a:ext uri="{FF2B5EF4-FFF2-40B4-BE49-F238E27FC236}">
                  <a16:creationId xmlns:a16="http://schemas.microsoft.com/office/drawing/2014/main" id="{FCC00409-52E7-104D-8889-276F9B384D01}"/>
                </a:ext>
              </a:extLst>
            </p:cNvPr>
            <p:cNvSpPr/>
            <p:nvPr/>
          </p:nvSpPr>
          <p:spPr>
            <a:xfrm>
              <a:off x="2362200" y="1828800"/>
              <a:ext cx="7086600" cy="449580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" name="圆角矩形 8">
              <a:extLst>
                <a:ext uri="{FF2B5EF4-FFF2-40B4-BE49-F238E27FC236}">
                  <a16:creationId xmlns:a16="http://schemas.microsoft.com/office/drawing/2014/main" id="{C69C35EB-5524-F142-BB38-50410F588CFF}"/>
                </a:ext>
              </a:extLst>
            </p:cNvPr>
            <p:cNvSpPr/>
            <p:nvPr/>
          </p:nvSpPr>
          <p:spPr>
            <a:xfrm>
              <a:off x="2971800" y="2286000"/>
              <a:ext cx="2743200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Homogeneous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2" name="圆角矩形 11">
              <a:extLst>
                <a:ext uri="{FF2B5EF4-FFF2-40B4-BE49-F238E27FC236}">
                  <a16:creationId xmlns:a16="http://schemas.microsoft.com/office/drawing/2014/main" id="{19811B31-5373-4543-A7AC-867193D5EA13}"/>
                </a:ext>
              </a:extLst>
            </p:cNvPr>
            <p:cNvSpPr/>
            <p:nvPr/>
          </p:nvSpPr>
          <p:spPr>
            <a:xfrm>
              <a:off x="3276600" y="4572000"/>
              <a:ext cx="1981200" cy="1066800"/>
            </a:xfrm>
            <a:prstGeom prst="roundRect">
              <a:avLst/>
            </a:prstGeom>
            <a:solidFill>
              <a:srgbClr val="92D050"/>
            </a:solidFill>
            <a:ln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3">
              <a:schemeClr val="dk1"/>
            </a:fillRef>
            <a:effectRef idx="2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b="1" i="1" dirty="0">
                  <a:solidFill>
                    <a:schemeClr val="tx1"/>
                  </a:solidFill>
                </a:rPr>
                <a:t>I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dentical</a:t>
              </a:r>
              <a:r>
                <a:rPr lang="en" altLang="zh-CN" sz="2800" b="1" i="1" dirty="0">
                  <a:solidFill>
                    <a:schemeClr val="tx1"/>
                  </a:solidFill>
                </a:rPr>
                <a:t>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13" name="圆角矩形 12">
              <a:extLst>
                <a:ext uri="{FF2B5EF4-FFF2-40B4-BE49-F238E27FC236}">
                  <a16:creationId xmlns:a16="http://schemas.microsoft.com/office/drawing/2014/main" id="{F92A09F3-D292-2847-BFBE-BC37BDA9807A}"/>
                </a:ext>
              </a:extLst>
            </p:cNvPr>
            <p:cNvSpPr/>
            <p:nvPr/>
          </p:nvSpPr>
          <p:spPr>
            <a:xfrm>
              <a:off x="6145306" y="2286000"/>
              <a:ext cx="2693894" cy="3581400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" altLang="zh-CN" sz="2800" b="1" i="1" dirty="0">
                  <a:solidFill>
                    <a:schemeClr val="tx1"/>
                  </a:solidFill>
                </a:rPr>
                <a:t>Heterogeneous </a:t>
              </a:r>
              <a:r>
                <a:rPr lang="en-US" altLang="zh-CN" sz="2800" b="1" i="1" dirty="0">
                  <a:solidFill>
                    <a:schemeClr val="tx1"/>
                  </a:solidFill>
                </a:rPr>
                <a:t>D</a:t>
              </a:r>
              <a:r>
                <a:rPr lang="en" altLang="zh-CN" sz="2800" b="1" i="1" dirty="0" err="1">
                  <a:solidFill>
                    <a:schemeClr val="tx1"/>
                  </a:solidFill>
                </a:rPr>
                <a:t>evices</a:t>
              </a:r>
              <a:endParaRPr kumimoji="1" lang="zh-CN" altLang="en-US" sz="2800" b="1" i="1" dirty="0">
                <a:solidFill>
                  <a:schemeClr val="tx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7BA1359D-CFBF-E14F-A20D-1F187231C3C3}"/>
                </a:ext>
              </a:extLst>
            </p:cNvPr>
            <p:cNvSpPr txBox="1"/>
            <p:nvPr/>
          </p:nvSpPr>
          <p:spPr>
            <a:xfrm>
              <a:off x="3574542" y="2597106"/>
              <a:ext cx="138531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A</a:t>
              </a:r>
              <a:endParaRPr kumimoji="1" lang="zh-CN" altLang="en-US" sz="2800" i="1" u="sng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CB60258-CBEC-3743-AE40-B38E2434C5D7}"/>
                </a:ext>
              </a:extLst>
            </p:cNvPr>
            <p:cNvSpPr txBox="1"/>
            <p:nvPr/>
          </p:nvSpPr>
          <p:spPr>
            <a:xfrm>
              <a:off x="6748048" y="2597106"/>
              <a:ext cx="137249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2800" i="1" u="sng" dirty="0"/>
                <a:t>Family</a:t>
              </a:r>
              <a:r>
                <a:rPr kumimoji="1" lang="zh-CN" altLang="en-US" i="1" u="sng" dirty="0"/>
                <a:t> </a:t>
              </a:r>
              <a:r>
                <a:rPr kumimoji="1" lang="en-US" altLang="zh-CN" sz="2800" i="1" u="sng" dirty="0"/>
                <a:t>B</a:t>
              </a:r>
              <a:endParaRPr kumimoji="1" lang="zh-CN" altLang="en-US" sz="2800" i="1" u="sng" dirty="0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7587C5B0-E206-714F-B9B8-CAE2830DFC79}"/>
              </a:ext>
            </a:extLst>
          </p:cNvPr>
          <p:cNvSpPr/>
          <p:nvPr/>
        </p:nvSpPr>
        <p:spPr>
          <a:xfrm>
            <a:off x="8332694" y="2286000"/>
            <a:ext cx="3859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sz="2800" b="1" i="1" u="sng" dirty="0"/>
              <a:t>Heterogeneous </a:t>
            </a:r>
            <a:r>
              <a:rPr lang="en-US" altLang="zh-CN" sz="2800" b="1" i="1" u="sng" dirty="0"/>
              <a:t>D</a:t>
            </a:r>
            <a:r>
              <a:rPr lang="en" altLang="zh-CN" sz="2800" b="1" i="1" u="sng" dirty="0" err="1"/>
              <a:t>evices</a:t>
            </a:r>
            <a:r>
              <a:rPr lang="en-US" altLang="zh-CN" sz="2800" dirty="0"/>
              <a:t>: e.g.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</a:t>
            </a:r>
            <a:r>
              <a:rPr lang="zh-CN" altLang="en-US" sz="2800" dirty="0"/>
              <a:t> </a:t>
            </a:r>
            <a:r>
              <a:rPr lang="en-US" altLang="zh-CN" sz="2800" dirty="0" err="1"/>
              <a:t>v.s</a:t>
            </a:r>
            <a:r>
              <a:rPr lang="en-US" altLang="zh-CN" sz="2800" dirty="0"/>
              <a:t>.</a:t>
            </a:r>
            <a:r>
              <a:rPr lang="zh-CN" altLang="en-US" sz="2800" dirty="0"/>
              <a:t> </a:t>
            </a:r>
            <a:r>
              <a:rPr lang="en-US" altLang="zh-CN" sz="2800" dirty="0"/>
              <a:t>PIC16F887.</a:t>
            </a:r>
          </a:p>
          <a:p>
            <a:r>
              <a:rPr lang="en-US" altLang="zh-CN" sz="2800" dirty="0"/>
              <a:t>Profiling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and</a:t>
            </a:r>
            <a:r>
              <a:rPr lang="zh-CN" altLang="en-US" sz="2800" dirty="0"/>
              <a:t> </a:t>
            </a:r>
            <a:r>
              <a:rPr lang="en-US" altLang="zh-CN" sz="2800" dirty="0"/>
              <a:t>target</a:t>
            </a:r>
            <a:r>
              <a:rPr lang="zh-CN" altLang="en-US" sz="2800" dirty="0"/>
              <a:t> </a:t>
            </a:r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-US" altLang="zh-CN" sz="2800" dirty="0"/>
              <a:t>differ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all</a:t>
            </a:r>
            <a:r>
              <a:rPr lang="zh-CN" altLang="en-US" sz="2800" dirty="0"/>
              <a:t> </a:t>
            </a:r>
            <a:r>
              <a:rPr lang="en-US" altLang="zh-CN" sz="2800" dirty="0"/>
              <a:t>aspects</a:t>
            </a:r>
            <a:endParaRPr lang="en" altLang="zh-CN" sz="2800" dirty="0"/>
          </a:p>
        </p:txBody>
      </p:sp>
    </p:spTree>
    <p:extLst>
      <p:ext uri="{BB962C8B-B14F-4D97-AF65-F5344CB8AC3E}">
        <p14:creationId xmlns:p14="http://schemas.microsoft.com/office/powerpoint/2010/main" val="15115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2629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" altLang="zh-CN" sz="2800" dirty="0"/>
              <a:t>Variation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59F1DB5-6E45-054F-A305-46B6501E9C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752600"/>
            <a:ext cx="4079274" cy="36000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F963794-A2FF-D045-B745-91D34429EC9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508" y="1752600"/>
            <a:ext cx="4061538" cy="360000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4401129-7291-E042-B7C3-A1387FF9C7D2}"/>
              </a:ext>
            </a:extLst>
          </p:cNvPr>
          <p:cNvSpPr txBox="1"/>
          <p:nvPr/>
        </p:nvSpPr>
        <p:spPr>
          <a:xfrm>
            <a:off x="1513308" y="5560900"/>
            <a:ext cx="32724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W</a:t>
            </a:r>
            <a:r>
              <a:rPr lang="en" altLang="zh-CN" sz="2800" dirty="0" err="1"/>
              <a:t>asserstein</a:t>
            </a:r>
            <a:r>
              <a:rPr lang="en" altLang="zh-CN" sz="2800" dirty="0"/>
              <a:t> </a:t>
            </a:r>
            <a:r>
              <a:rPr lang="en-US" altLang="zh-CN" sz="2800" dirty="0"/>
              <a:t>D</a:t>
            </a:r>
            <a:r>
              <a:rPr lang="en" altLang="zh-CN" sz="2800" dirty="0" err="1"/>
              <a:t>istance</a:t>
            </a:r>
            <a:endParaRPr lang="zh-CN" altLang="en-US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554DCC3-671E-5345-90CB-3E2C8A824F06}"/>
              </a:ext>
            </a:extLst>
          </p:cNvPr>
          <p:cNvSpPr txBox="1"/>
          <p:nvPr/>
        </p:nvSpPr>
        <p:spPr>
          <a:xfrm>
            <a:off x="5943600" y="5522846"/>
            <a:ext cx="442935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M</a:t>
            </a:r>
            <a:r>
              <a:rPr lang="en" altLang="zh-CN" sz="2800" dirty="0" err="1"/>
              <a:t>aximum</a:t>
            </a:r>
            <a:r>
              <a:rPr lang="en" altLang="zh-CN" sz="2800" dirty="0"/>
              <a:t> </a:t>
            </a:r>
            <a:r>
              <a:rPr lang="en-US" altLang="zh-CN" sz="2800" dirty="0"/>
              <a:t>M</a:t>
            </a:r>
            <a:r>
              <a:rPr lang="en" altLang="zh-CN" sz="2800" dirty="0" err="1"/>
              <a:t>ean</a:t>
            </a:r>
            <a:r>
              <a:rPr lang="en" altLang="zh-CN" sz="2800" dirty="0"/>
              <a:t> </a:t>
            </a:r>
            <a:r>
              <a:rPr lang="en-US" altLang="zh-CN" sz="2800" dirty="0"/>
              <a:t>D</a:t>
            </a:r>
            <a:r>
              <a:rPr lang="en" altLang="zh-CN" sz="2800" dirty="0" err="1"/>
              <a:t>iscrepancy</a:t>
            </a:r>
            <a:endParaRPr lang="zh-CN" altLang="en-US" sz="28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F907AC2-2DD5-CA4F-AFA9-F740993FB852}"/>
              </a:ext>
            </a:extLst>
          </p:cNvPr>
          <p:cNvSpPr/>
          <p:nvPr/>
        </p:nvSpPr>
        <p:spPr>
          <a:xfrm>
            <a:off x="1828800" y="1828800"/>
            <a:ext cx="457200" cy="4572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344116C-0A57-A849-AB2A-AB2EDD53C08C}"/>
              </a:ext>
            </a:extLst>
          </p:cNvPr>
          <p:cNvSpPr/>
          <p:nvPr/>
        </p:nvSpPr>
        <p:spPr>
          <a:xfrm>
            <a:off x="3429000" y="3429000"/>
            <a:ext cx="457200" cy="4572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58FE3C7-A063-4B49-92FA-6043D019CA05}"/>
              </a:ext>
            </a:extLst>
          </p:cNvPr>
          <p:cNvSpPr/>
          <p:nvPr/>
        </p:nvSpPr>
        <p:spPr>
          <a:xfrm>
            <a:off x="6858000" y="1828800"/>
            <a:ext cx="457200" cy="4572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A4DDD80-8F85-D543-803F-7E6BF154A09E}"/>
              </a:ext>
            </a:extLst>
          </p:cNvPr>
          <p:cNvSpPr/>
          <p:nvPr/>
        </p:nvSpPr>
        <p:spPr>
          <a:xfrm>
            <a:off x="8458200" y="3429000"/>
            <a:ext cx="457200" cy="457200"/>
          </a:xfrm>
          <a:prstGeom prst="rect">
            <a:avLst/>
          </a:prstGeom>
          <a:noFill/>
          <a:ln w="254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48CA031-D34C-F141-AC4B-F46625E0B87D}"/>
              </a:ext>
            </a:extLst>
          </p:cNvPr>
          <p:cNvSpPr/>
          <p:nvPr/>
        </p:nvSpPr>
        <p:spPr>
          <a:xfrm>
            <a:off x="1828800" y="1828800"/>
            <a:ext cx="1600200" cy="1600200"/>
          </a:xfrm>
          <a:prstGeom prst="rect">
            <a:avLst/>
          </a:prstGeom>
          <a:noFill/>
          <a:ln w="254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08622D-4F02-F147-9C3C-1A60012DAE7A}"/>
              </a:ext>
            </a:extLst>
          </p:cNvPr>
          <p:cNvSpPr/>
          <p:nvPr/>
        </p:nvSpPr>
        <p:spPr>
          <a:xfrm>
            <a:off x="6858000" y="1828800"/>
            <a:ext cx="1600200" cy="1600200"/>
          </a:xfrm>
          <a:prstGeom prst="rect">
            <a:avLst/>
          </a:prstGeom>
          <a:noFill/>
          <a:ln w="254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32E5D17-95CC-D748-970A-EC35B8E3AB2E}"/>
              </a:ext>
            </a:extLst>
          </p:cNvPr>
          <p:cNvSpPr/>
          <p:nvPr/>
        </p:nvSpPr>
        <p:spPr>
          <a:xfrm>
            <a:off x="3429000" y="3429000"/>
            <a:ext cx="1066800" cy="1143000"/>
          </a:xfrm>
          <a:prstGeom prst="rect">
            <a:avLst/>
          </a:prstGeom>
          <a:noFill/>
          <a:ln w="254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3FB6B78-D74E-AE45-88E6-5537B0CC8C28}"/>
              </a:ext>
            </a:extLst>
          </p:cNvPr>
          <p:cNvSpPr/>
          <p:nvPr/>
        </p:nvSpPr>
        <p:spPr>
          <a:xfrm>
            <a:off x="8458200" y="3429000"/>
            <a:ext cx="1066800" cy="1143000"/>
          </a:xfrm>
          <a:prstGeom prst="rect">
            <a:avLst/>
          </a:prstGeom>
          <a:noFill/>
          <a:ln w="25400">
            <a:solidFill>
              <a:srgbClr val="99FF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7ADB242-27CC-2941-BB7E-DBF6003FA051}"/>
              </a:ext>
            </a:extLst>
          </p:cNvPr>
          <p:cNvSpPr/>
          <p:nvPr/>
        </p:nvSpPr>
        <p:spPr>
          <a:xfrm>
            <a:off x="1828800" y="3456709"/>
            <a:ext cx="1600200" cy="1115291"/>
          </a:xfrm>
          <a:prstGeom prst="rect">
            <a:avLst/>
          </a:prstGeom>
          <a:noFill/>
          <a:ln w="254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9A009EA-6312-6340-8B79-6E1FE8A2980F}"/>
              </a:ext>
            </a:extLst>
          </p:cNvPr>
          <p:cNvSpPr/>
          <p:nvPr/>
        </p:nvSpPr>
        <p:spPr>
          <a:xfrm>
            <a:off x="6844145" y="3456709"/>
            <a:ext cx="1600200" cy="1115291"/>
          </a:xfrm>
          <a:prstGeom prst="rect">
            <a:avLst/>
          </a:prstGeom>
          <a:noFill/>
          <a:ln w="254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80D83AB-62AD-2242-B986-F0FE788C3038}"/>
              </a:ext>
            </a:extLst>
          </p:cNvPr>
          <p:cNvSpPr/>
          <p:nvPr/>
        </p:nvSpPr>
        <p:spPr>
          <a:xfrm>
            <a:off x="3429000" y="1828800"/>
            <a:ext cx="1066800" cy="1572491"/>
          </a:xfrm>
          <a:prstGeom prst="rect">
            <a:avLst/>
          </a:prstGeom>
          <a:noFill/>
          <a:ln w="254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A77E22-21E6-8D4A-B8AE-94EDF62545DB}"/>
              </a:ext>
            </a:extLst>
          </p:cNvPr>
          <p:cNvSpPr/>
          <p:nvPr/>
        </p:nvSpPr>
        <p:spPr>
          <a:xfrm>
            <a:off x="8458200" y="1828800"/>
            <a:ext cx="1066800" cy="1572491"/>
          </a:xfrm>
          <a:prstGeom prst="rect">
            <a:avLst/>
          </a:prstGeom>
          <a:noFill/>
          <a:ln w="25400">
            <a:solidFill>
              <a:srgbClr val="CC99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3860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2629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" altLang="zh-CN" sz="2800" dirty="0"/>
              <a:t>Variation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07C4DF7-B306-394E-AE6E-635DB34B66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1709118"/>
            <a:ext cx="7677328" cy="4501228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75590E5-A25D-B747-85C6-F43E5E7A4892}"/>
              </a:ext>
            </a:extLst>
          </p:cNvPr>
          <p:cNvSpPr/>
          <p:nvPr/>
        </p:nvSpPr>
        <p:spPr>
          <a:xfrm>
            <a:off x="4530656" y="990600"/>
            <a:ext cx="34928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</a:t>
            </a:r>
            <a:r>
              <a:rPr lang="zh-CN" altLang="en-US" sz="2800" dirty="0"/>
              <a:t>orrelation</a:t>
            </a:r>
            <a:r>
              <a:rPr lang="zh-CN" altLang="en-US" dirty="0"/>
              <a:t>  </a:t>
            </a:r>
            <a:r>
              <a:rPr lang="en-US" altLang="zh-CN" sz="2800" dirty="0"/>
              <a:t>C</a:t>
            </a:r>
            <a:r>
              <a:rPr lang="zh-CN" altLang="en-US" sz="2800" dirty="0"/>
              <a:t>oefficient</a:t>
            </a:r>
          </a:p>
        </p:txBody>
      </p:sp>
    </p:spTree>
    <p:extLst>
      <p:ext uri="{BB962C8B-B14F-4D97-AF65-F5344CB8AC3E}">
        <p14:creationId xmlns:p14="http://schemas.microsoft.com/office/powerpoint/2010/main" val="635353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CEED61F6-2FE6-E14A-90BF-306681B99F2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2600" y="1828800"/>
            <a:ext cx="4464834" cy="36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9E227D0-3D26-0640-B283-E85A6A11335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1841500"/>
            <a:ext cx="3589565" cy="36000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09F8F933-F224-F648-870C-3882D6F59018}"/>
              </a:ext>
            </a:extLst>
          </p:cNvPr>
          <p:cNvSpPr txBox="1"/>
          <p:nvPr/>
        </p:nvSpPr>
        <p:spPr>
          <a:xfrm>
            <a:off x="3166382" y="5568566"/>
            <a:ext cx="5397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TA</a:t>
            </a:r>
            <a:endParaRPr lang="zh-CN" altLang="en-US" sz="28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9B3A48-F9B8-234F-A348-C51A05835EC6}"/>
              </a:ext>
            </a:extLst>
          </p:cNvPr>
          <p:cNvSpPr/>
          <p:nvPr/>
        </p:nvSpPr>
        <p:spPr>
          <a:xfrm>
            <a:off x="6884699" y="5568566"/>
            <a:ext cx="18206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/>
              <a:t>DL-PA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4EC9264-19EB-0044-9E2E-AC8436955026}"/>
              </a:ext>
            </a:extLst>
          </p:cNvPr>
          <p:cNvSpPr/>
          <p:nvPr/>
        </p:nvSpPr>
        <p:spPr>
          <a:xfrm>
            <a:off x="838200" y="990600"/>
            <a:ext cx="262982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Device</a:t>
            </a:r>
            <a:r>
              <a:rPr lang="zh-CN" altLang="en-US" sz="2800" dirty="0"/>
              <a:t> </a:t>
            </a:r>
            <a:r>
              <a:rPr lang="en" altLang="zh-CN" sz="2800" dirty="0"/>
              <a:t>Variation</a:t>
            </a:r>
          </a:p>
        </p:txBody>
      </p:sp>
    </p:spTree>
    <p:extLst>
      <p:ext uri="{BB962C8B-B14F-4D97-AF65-F5344CB8AC3E}">
        <p14:creationId xmlns:p14="http://schemas.microsoft.com/office/powerpoint/2010/main" val="10119596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22245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Attack</a:t>
            </a:r>
            <a:r>
              <a:rPr lang="zh-CN" altLang="en-US" sz="2800" dirty="0"/>
              <a:t> </a:t>
            </a:r>
            <a:r>
              <a:rPr lang="en-US" altLang="zh-CN" sz="2800" dirty="0"/>
              <a:t>Results</a:t>
            </a:r>
            <a:endParaRPr lang="en" altLang="zh-CN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8BF184-3AB1-F54D-A1B0-F3EDDA1B10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300" y="1714500"/>
            <a:ext cx="5346700" cy="39243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393AB8B-1EEA-DC43-B078-960A69051144}"/>
              </a:ext>
            </a:extLst>
          </p:cNvPr>
          <p:cNvSpPr/>
          <p:nvPr/>
        </p:nvSpPr>
        <p:spPr>
          <a:xfrm>
            <a:off x="2743200" y="5702366"/>
            <a:ext cx="18206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altLang="zh-CN" sz="2800" dirty="0"/>
              <a:t>DL-PA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D456A1-322A-FB4B-9C40-2476EC98C9AC}"/>
              </a:ext>
            </a:extLst>
          </p:cNvPr>
          <p:cNvSpPr txBox="1"/>
          <p:nvPr/>
        </p:nvSpPr>
        <p:spPr>
          <a:xfrm>
            <a:off x="7767918" y="3886200"/>
            <a:ext cx="296664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Distribution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</a:t>
            </a:r>
            <a:r>
              <a:rPr lang="en-US" altLang="zh-CN" sz="2800" dirty="0"/>
              <a:t>POI</a:t>
            </a:r>
            <a:r>
              <a:rPr lang="zh-CN" altLang="en-US" sz="2800" dirty="0"/>
              <a:t> </a:t>
            </a:r>
            <a:endParaRPr lang="en-US" altLang="zh-CN" sz="2800" dirty="0"/>
          </a:p>
          <a:p>
            <a:pPr algn="ctr"/>
            <a:r>
              <a:rPr lang="en-US" altLang="zh-CN" sz="2800" dirty="0"/>
              <a:t>MATTERS</a:t>
            </a:r>
            <a:r>
              <a:rPr lang="zh-CN" altLang="en-US" sz="2800" dirty="0"/>
              <a:t> </a:t>
            </a:r>
            <a:r>
              <a:rPr lang="en-US" altLang="zh-CN" sz="2800" dirty="0"/>
              <a:t>!!!</a:t>
            </a:r>
            <a:endParaRPr lang="zh-CN" altLang="en-US" sz="28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3E9F9CE5-DB81-0B49-ACE1-94BF4E9EC536}"/>
              </a:ext>
            </a:extLst>
          </p:cNvPr>
          <p:cNvSpPr txBox="1"/>
          <p:nvPr/>
        </p:nvSpPr>
        <p:spPr>
          <a:xfrm>
            <a:off x="7772400" y="2362200"/>
            <a:ext cx="28792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“OVER</a:t>
            </a:r>
            <a:r>
              <a:rPr lang="zh-CN" altLang="en-US" sz="2800" dirty="0"/>
              <a:t> </a:t>
            </a:r>
            <a:r>
              <a:rPr lang="en-US" altLang="zh-CN" sz="2800" dirty="0"/>
              <a:t>FITTING”!!!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514262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180EDAB-4CA2-2C4B-85E1-923EE135D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61883"/>
            <a:ext cx="10515600" cy="3200400"/>
          </a:xfrm>
        </p:spPr>
        <p:txBody>
          <a:bodyPr>
            <a:normAutofit/>
          </a:bodyPr>
          <a:lstStyle/>
          <a:p>
            <a:r>
              <a:rPr lang="en-US" altLang="zh-CN" dirty="0"/>
              <a:t>Ambient Temperatures</a:t>
            </a:r>
          </a:p>
          <a:p>
            <a:r>
              <a:rPr lang="en" altLang="zh-CN" dirty="0"/>
              <a:t>Environmental Noises </a:t>
            </a:r>
          </a:p>
          <a:p>
            <a:r>
              <a:rPr lang="en-US" altLang="zh-CN" dirty="0"/>
              <a:t>Measurement Variations</a:t>
            </a:r>
          </a:p>
          <a:p>
            <a:r>
              <a:rPr lang="en" altLang="zh-CN" dirty="0"/>
              <a:t>Different Custom PCB</a:t>
            </a:r>
          </a:p>
          <a:p>
            <a:r>
              <a:rPr lang="en" altLang="zh-CN" dirty="0"/>
              <a:t>RAM Size </a:t>
            </a:r>
          </a:p>
          <a:p>
            <a:r>
              <a:rPr lang="en" altLang="zh-CN" dirty="0"/>
              <a:t>Models, Process, ISA, …</a:t>
            </a:r>
          </a:p>
          <a:p>
            <a:endParaRPr lang="en" altLang="zh-CN" dirty="0"/>
          </a:p>
          <a:p>
            <a:endParaRPr lang="en" altLang="zh-CN" dirty="0"/>
          </a:p>
          <a:p>
            <a:endParaRPr lang="en-US" altLang="zh-CN" dirty="0"/>
          </a:p>
          <a:p>
            <a:pPr lvl="1"/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  <a:p>
            <a:endParaRPr lang="en-US" altLang="zh-CN" dirty="0">
              <a:solidFill>
                <a:prstClr val="black"/>
              </a:solidFill>
              <a:cs typeface="Calibri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0272858-4F24-4B4B-97A6-3B89ADC89739}"/>
              </a:ext>
            </a:extLst>
          </p:cNvPr>
          <p:cNvSpPr txBox="1"/>
          <p:nvPr/>
        </p:nvSpPr>
        <p:spPr>
          <a:xfrm>
            <a:off x="6934200" y="2514600"/>
            <a:ext cx="27742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Uncontrollable !!!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520139E-8178-3846-8552-2D8E80B5AF7A}"/>
              </a:ext>
            </a:extLst>
          </p:cNvPr>
          <p:cNvSpPr/>
          <p:nvPr/>
        </p:nvSpPr>
        <p:spPr>
          <a:xfrm>
            <a:off x="838200" y="990600"/>
            <a:ext cx="56178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Factors </a:t>
            </a:r>
            <a:r>
              <a:rPr lang="en-US" altLang="zh-CN" sz="2800" dirty="0"/>
              <a:t>A</a:t>
            </a:r>
            <a:r>
              <a:rPr lang="zh-CN" altLang="en-US" sz="2800" dirty="0"/>
              <a:t>ffecting </a:t>
            </a:r>
            <a:r>
              <a:rPr lang="en-US" altLang="zh-CN" sz="2800" dirty="0"/>
              <a:t>Feature</a:t>
            </a:r>
            <a:r>
              <a:rPr lang="zh-CN" altLang="en-US" sz="2800" dirty="0"/>
              <a:t> </a:t>
            </a:r>
            <a:r>
              <a:rPr lang="en-US" altLang="zh-CN" sz="2800" dirty="0"/>
              <a:t>D</a:t>
            </a:r>
            <a:r>
              <a:rPr lang="zh-CN" altLang="en-US" sz="2800" dirty="0"/>
              <a:t>istribution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04C033B-8248-8B4D-B287-1767794D5729}"/>
              </a:ext>
            </a:extLst>
          </p:cNvPr>
          <p:cNvSpPr/>
          <p:nvPr/>
        </p:nvSpPr>
        <p:spPr>
          <a:xfrm>
            <a:off x="6934201" y="3880719"/>
            <a:ext cx="4191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Find</a:t>
            </a:r>
            <a:r>
              <a:rPr lang="zh-CN" altLang="en-US" dirty="0"/>
              <a:t> </a:t>
            </a:r>
            <a:r>
              <a:rPr lang="zh-CN" altLang="en-US" sz="2800" dirty="0"/>
              <a:t>robust features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/>
              <a:t>even</a:t>
            </a:r>
            <a:r>
              <a:rPr lang="zh-CN" altLang="en-US" sz="2800" dirty="0"/>
              <a:t> </a:t>
            </a:r>
            <a:r>
              <a:rPr lang="en-US" altLang="zh-CN" sz="2800" dirty="0"/>
              <a:t>different</a:t>
            </a:r>
            <a:r>
              <a:rPr lang="zh-CN" altLang="en-US" sz="2800" dirty="0"/>
              <a:t> </a:t>
            </a:r>
            <a:r>
              <a:rPr lang="en-US" altLang="zh-CN" sz="2800" dirty="0"/>
              <a:t>devices</a:t>
            </a:r>
          </a:p>
        </p:txBody>
      </p:sp>
    </p:spTree>
    <p:extLst>
      <p:ext uri="{BB962C8B-B14F-4D97-AF65-F5344CB8AC3E}">
        <p14:creationId xmlns:p14="http://schemas.microsoft.com/office/powerpoint/2010/main" val="15969787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641040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Advantages</a:t>
            </a:r>
            <a:r>
              <a:rPr lang="zh-CN" altLang="en-US" sz="2800" dirty="0"/>
              <a:t> </a:t>
            </a:r>
            <a:r>
              <a:rPr lang="en-US" altLang="zh-CN" sz="2800" dirty="0"/>
              <a:t>of</a:t>
            </a:r>
            <a:r>
              <a:rPr lang="zh-CN" altLang="en-US" sz="2800" dirty="0"/>
              <a:t> Frequency </a:t>
            </a:r>
            <a:r>
              <a:rPr lang="en-US" altLang="zh-CN" sz="2800" dirty="0"/>
              <a:t>D</a:t>
            </a:r>
            <a:r>
              <a:rPr lang="zh-CN" altLang="en-US" sz="2800" dirty="0"/>
              <a:t>omain </a:t>
            </a:r>
            <a:r>
              <a:rPr lang="en-US" altLang="zh-CN" sz="2800" dirty="0"/>
              <a:t>F</a:t>
            </a:r>
            <a:r>
              <a:rPr lang="zh-CN" altLang="en-US" sz="2800" dirty="0"/>
              <a:t>eatures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48B2787-DF26-7C4E-A092-D0E254AFB9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6000"/>
            <a:ext cx="9677400" cy="2351941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A</a:t>
            </a:r>
            <a:r>
              <a:rPr kumimoji="1" lang="en" altLang="zh-CN" dirty="0" err="1"/>
              <a:t>dditionally</a:t>
            </a:r>
            <a:r>
              <a:rPr kumimoji="1" lang="en" altLang="zh-CN" dirty="0"/>
              <a:t> tolerant to trace misalignments</a:t>
            </a:r>
          </a:p>
          <a:p>
            <a:r>
              <a:rPr kumimoji="1" lang="en" altLang="zh-CN" dirty="0"/>
              <a:t>Independent of the system clock </a:t>
            </a:r>
          </a:p>
          <a:p>
            <a:r>
              <a:rPr kumimoji="1" lang="en-US" altLang="zh-CN" dirty="0"/>
              <a:t>R</a:t>
            </a:r>
            <a:r>
              <a:rPr kumimoji="1" lang="en" altLang="zh-CN" dirty="0" err="1"/>
              <a:t>eliably</a:t>
            </a:r>
            <a:r>
              <a:rPr kumimoji="1" lang="en" altLang="zh-CN" dirty="0"/>
              <a:t> on</a:t>
            </a:r>
            <a:r>
              <a:rPr kumimoji="1" lang="zh-CN" altLang="en-US" dirty="0"/>
              <a:t> </a:t>
            </a:r>
            <a:r>
              <a:rPr kumimoji="1" lang="en" altLang="zh-CN" dirty="0"/>
              <a:t>both hardware and software </a:t>
            </a:r>
            <a:r>
              <a:rPr kumimoji="1" lang="en-US" altLang="zh-CN" dirty="0"/>
              <a:t>implementations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of</a:t>
            </a:r>
            <a:r>
              <a:rPr kumimoji="1" lang="zh-CN" altLang="en-US" dirty="0"/>
              <a:t> </a:t>
            </a:r>
            <a:r>
              <a:rPr kumimoji="1" lang="en-US" altLang="zh-CN" dirty="0"/>
              <a:t>c</a:t>
            </a:r>
            <a:r>
              <a:rPr kumimoji="1" lang="en" altLang="zh-CN" dirty="0" err="1"/>
              <a:t>ryptographic</a:t>
            </a:r>
            <a:r>
              <a:rPr kumimoji="1" lang="en" altLang="zh-CN" dirty="0"/>
              <a:t> algorithm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0839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989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Our</a:t>
            </a:r>
            <a:r>
              <a:rPr lang="zh-CN" altLang="en-US" sz="2800" dirty="0"/>
              <a:t> </a:t>
            </a:r>
            <a:r>
              <a:rPr lang="en-US" altLang="zh-CN" sz="2800" dirty="0"/>
              <a:t>Method</a:t>
            </a:r>
            <a:endParaRPr lang="en" altLang="zh-CN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C47CAC4-6958-AD49-9425-43D6D96C5C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" y="1676400"/>
            <a:ext cx="4826000" cy="37211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01178D2F-75E7-E749-8994-B69804FA6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600" y="1664750"/>
            <a:ext cx="4775200" cy="375563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1E54A30-917C-0E4B-9D14-BDCBF24013D9}"/>
              </a:ext>
            </a:extLst>
          </p:cNvPr>
          <p:cNvSpPr txBox="1"/>
          <p:nvPr/>
        </p:nvSpPr>
        <p:spPr>
          <a:xfrm>
            <a:off x="2098796" y="5558899"/>
            <a:ext cx="2660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Atmega163(AVR)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3727AA-847F-DF44-84A6-5D300C7BAEF3}"/>
              </a:ext>
            </a:extLst>
          </p:cNvPr>
          <p:cNvSpPr/>
          <p:nvPr/>
        </p:nvSpPr>
        <p:spPr>
          <a:xfrm>
            <a:off x="7848600" y="5558899"/>
            <a:ext cx="24144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PIC16F887(PIC)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663642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989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Our</a:t>
            </a:r>
            <a:r>
              <a:rPr lang="zh-CN" altLang="en-US" sz="2800" dirty="0"/>
              <a:t> </a:t>
            </a:r>
            <a:r>
              <a:rPr lang="en-US" altLang="zh-CN" sz="2800" dirty="0"/>
              <a:t>Method</a:t>
            </a:r>
            <a:endParaRPr lang="en" altLang="zh-CN" sz="28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6444328-852C-8C49-8AF1-C47F5B66A7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720" y="2362200"/>
            <a:ext cx="5994400" cy="22606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9DFCD0F-B844-524C-98E6-F897BB7DC174}"/>
              </a:ext>
            </a:extLst>
          </p:cNvPr>
          <p:cNvSpPr/>
          <p:nvPr/>
        </p:nvSpPr>
        <p:spPr>
          <a:xfrm>
            <a:off x="7696200" y="3124200"/>
            <a:ext cx="3429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Filtering to get </a:t>
            </a:r>
            <a:endParaRPr lang="en-US" altLang="zh-CN" sz="2800" dirty="0"/>
          </a:p>
          <a:p>
            <a:r>
              <a:rPr lang="en-US" altLang="zh-CN" sz="2800" dirty="0"/>
              <a:t>frequency</a:t>
            </a:r>
            <a:r>
              <a:rPr lang="zh-CN" altLang="en-US" sz="2800" dirty="0"/>
              <a:t> features</a:t>
            </a:r>
          </a:p>
        </p:txBody>
      </p:sp>
    </p:spTree>
    <p:extLst>
      <p:ext uri="{BB962C8B-B14F-4D97-AF65-F5344CB8AC3E}">
        <p14:creationId xmlns:p14="http://schemas.microsoft.com/office/powerpoint/2010/main" val="1604098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989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Our</a:t>
            </a:r>
            <a:r>
              <a:rPr lang="zh-CN" altLang="en-US" sz="2800" dirty="0"/>
              <a:t> </a:t>
            </a:r>
            <a:r>
              <a:rPr lang="en-US" altLang="zh-CN" sz="2800" dirty="0"/>
              <a:t>Method</a:t>
            </a:r>
            <a:endParaRPr lang="en" altLang="zh-CN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E6EA74B-71D2-6849-AB7D-A05E2B7A9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407" y="1651000"/>
            <a:ext cx="5384800" cy="39878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BC6D297-8CE0-D347-BB52-5D8F57B013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00" y="1295400"/>
            <a:ext cx="5173330" cy="416286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A13D9D9-676F-014F-9515-46B23DCC54D1}"/>
              </a:ext>
            </a:extLst>
          </p:cNvPr>
          <p:cNvSpPr txBox="1"/>
          <p:nvPr/>
        </p:nvSpPr>
        <p:spPr>
          <a:xfrm>
            <a:off x="1635760" y="5648980"/>
            <a:ext cx="3850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Training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Atmega163</a:t>
            </a:r>
          </a:p>
        </p:txBody>
      </p:sp>
    </p:spTree>
    <p:extLst>
      <p:ext uri="{BB962C8B-B14F-4D97-AF65-F5344CB8AC3E}">
        <p14:creationId xmlns:p14="http://schemas.microsoft.com/office/powerpoint/2010/main" val="11244714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989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Our</a:t>
            </a:r>
            <a:r>
              <a:rPr lang="zh-CN" altLang="en-US" sz="2800" dirty="0"/>
              <a:t> </a:t>
            </a:r>
            <a:r>
              <a:rPr lang="en-US" altLang="zh-CN" sz="2800" dirty="0"/>
              <a:t>Method</a:t>
            </a:r>
            <a:endParaRPr lang="en" altLang="zh-CN" sz="28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2D40866-9EBC-5A46-A221-70125E376AD3}"/>
              </a:ext>
            </a:extLst>
          </p:cNvPr>
          <p:cNvSpPr txBox="1"/>
          <p:nvPr/>
        </p:nvSpPr>
        <p:spPr>
          <a:xfrm>
            <a:off x="7086600" y="2743200"/>
            <a:ext cx="457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Training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model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data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DPA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Contest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v4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Attack</a:t>
            </a:r>
            <a:r>
              <a:rPr lang="zh-CN" altLang="en-US" sz="2800" dirty="0"/>
              <a:t> </a:t>
            </a:r>
            <a:r>
              <a:rPr lang="en-US" altLang="zh-CN" sz="2800" dirty="0"/>
              <a:t>PIC</a:t>
            </a:r>
            <a:r>
              <a:rPr lang="zh-CN" altLang="en-US" sz="2800" dirty="0"/>
              <a:t> </a:t>
            </a:r>
            <a:r>
              <a:rPr lang="en-US" altLang="zh-CN" sz="2800" dirty="0"/>
              <a:t>devices.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FF41BF2-0992-ED46-AA7E-F0125691DA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743200"/>
            <a:ext cx="6502400" cy="2537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673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98932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Our</a:t>
            </a:r>
            <a:r>
              <a:rPr lang="zh-CN" altLang="en-US" sz="2800" dirty="0"/>
              <a:t> </a:t>
            </a:r>
            <a:r>
              <a:rPr lang="en-US" altLang="zh-CN" sz="2800" dirty="0"/>
              <a:t>Method</a:t>
            </a:r>
            <a:endParaRPr lang="en" altLang="zh-CN" sz="28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20894F-B52B-2C41-96B2-9782B90F31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60" y="1828800"/>
            <a:ext cx="5270500" cy="398780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2D40866-9EBC-5A46-A221-70125E376AD3}"/>
              </a:ext>
            </a:extLst>
          </p:cNvPr>
          <p:cNvSpPr txBox="1"/>
          <p:nvPr/>
        </p:nvSpPr>
        <p:spPr>
          <a:xfrm>
            <a:off x="7086600" y="2743200"/>
            <a:ext cx="45720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Training</a:t>
            </a:r>
            <a:r>
              <a:rPr lang="zh-CN" altLang="en-US" sz="2800" dirty="0"/>
              <a:t> </a:t>
            </a:r>
            <a:r>
              <a:rPr lang="en-US" altLang="zh-CN" sz="2800" dirty="0"/>
              <a:t>the</a:t>
            </a:r>
            <a:r>
              <a:rPr lang="zh-CN" altLang="en-US" sz="2800" dirty="0"/>
              <a:t> </a:t>
            </a:r>
            <a:r>
              <a:rPr lang="en-US" altLang="zh-CN" sz="2800" dirty="0"/>
              <a:t>model</a:t>
            </a:r>
            <a:r>
              <a:rPr lang="zh-CN" altLang="en-US" sz="2800" dirty="0"/>
              <a:t> </a:t>
            </a:r>
            <a:r>
              <a:rPr lang="en-US" altLang="zh-CN" sz="2800" dirty="0"/>
              <a:t>with</a:t>
            </a:r>
            <a:r>
              <a:rPr lang="zh-CN" altLang="en-US" sz="2800" dirty="0"/>
              <a:t> </a:t>
            </a:r>
            <a:r>
              <a:rPr lang="en-US" altLang="zh-CN" sz="2800" dirty="0"/>
              <a:t>data</a:t>
            </a:r>
            <a:r>
              <a:rPr lang="zh-CN" altLang="en-US" sz="2800" dirty="0"/>
              <a:t> </a:t>
            </a:r>
            <a:r>
              <a:rPr lang="en-US" altLang="zh-CN" sz="2800" dirty="0"/>
              <a:t>in</a:t>
            </a:r>
            <a:r>
              <a:rPr lang="zh-CN" altLang="en-US" sz="2800" dirty="0"/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DPA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Contest</a:t>
            </a:r>
            <a:r>
              <a:rPr lang="zh-CN" altLang="en-US" sz="2800" dirty="0">
                <a:solidFill>
                  <a:srgbClr val="0000FF"/>
                </a:solidFill>
              </a:rPr>
              <a:t> </a:t>
            </a:r>
            <a:r>
              <a:rPr lang="en-US" altLang="zh-CN" sz="2800" dirty="0">
                <a:solidFill>
                  <a:srgbClr val="0000FF"/>
                </a:solidFill>
              </a:rPr>
              <a:t>v4</a:t>
            </a:r>
            <a:r>
              <a:rPr lang="en-US" altLang="zh-CN" sz="2800" dirty="0"/>
              <a:t>;</a:t>
            </a:r>
          </a:p>
          <a:p>
            <a:r>
              <a:rPr lang="en-US" altLang="zh-CN" sz="2800" dirty="0"/>
              <a:t>Attack</a:t>
            </a:r>
            <a:r>
              <a:rPr lang="zh-CN" altLang="en-US" sz="2800" dirty="0"/>
              <a:t> </a:t>
            </a:r>
            <a:r>
              <a:rPr lang="en-US" altLang="zh-CN" sz="2800" dirty="0"/>
              <a:t>PIC</a:t>
            </a:r>
            <a:r>
              <a:rPr lang="zh-CN" altLang="en-US" sz="2800" dirty="0"/>
              <a:t> </a:t>
            </a:r>
            <a:r>
              <a:rPr lang="en-US" altLang="zh-CN" sz="2800" dirty="0"/>
              <a:t>devices.</a:t>
            </a:r>
          </a:p>
        </p:txBody>
      </p:sp>
    </p:spTree>
    <p:extLst>
      <p:ext uri="{BB962C8B-B14F-4D97-AF65-F5344CB8AC3E}">
        <p14:creationId xmlns:p14="http://schemas.microsoft.com/office/powerpoint/2010/main" val="13158493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D15018C-37D9-9748-92AC-B2712BA915BE}"/>
              </a:ext>
            </a:extLst>
          </p:cNvPr>
          <p:cNvSpPr/>
          <p:nvPr/>
        </p:nvSpPr>
        <p:spPr>
          <a:xfrm>
            <a:off x="838200" y="990600"/>
            <a:ext cx="17780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/>
              <a:t>Conclusion</a:t>
            </a:r>
            <a:endParaRPr lang="en" altLang="zh-CN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4F4F397-2B6C-104A-AD3E-E9B7616B5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2561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zh-CN" dirty="0"/>
              <a:t>Contribution</a:t>
            </a:r>
          </a:p>
          <a:p>
            <a:pPr lvl="1"/>
            <a:r>
              <a:rPr kumimoji="1" lang="en-US" altLang="zh-CN"/>
              <a:t>C</a:t>
            </a:r>
            <a:r>
              <a:rPr kumimoji="1" lang="en" altLang="zh-CN" dirty="0" err="1"/>
              <a:t>ategoriz</a:t>
            </a:r>
            <a:r>
              <a:rPr kumimoji="1" lang="en-US" altLang="zh-CN" dirty="0" err="1"/>
              <a:t>ing</a:t>
            </a:r>
            <a:r>
              <a:rPr kumimoji="1" lang="en" altLang="zh-CN" dirty="0"/>
              <a:t> the boundary of crossed devices into four types</a:t>
            </a:r>
          </a:p>
          <a:p>
            <a:pPr lvl="1"/>
            <a:r>
              <a:rPr kumimoji="1" lang="en-US" altLang="zh-CN" dirty="0"/>
              <a:t>L</a:t>
            </a:r>
            <a:r>
              <a:rPr kumimoji="1" lang="en" altLang="zh-CN" dirty="0" err="1"/>
              <a:t>everag</a:t>
            </a:r>
            <a:r>
              <a:rPr kumimoji="1" lang="en-US" altLang="zh-CN" dirty="0" err="1"/>
              <a:t>ing</a:t>
            </a:r>
            <a:r>
              <a:rPr kumimoji="1" lang="en" altLang="zh-CN" dirty="0"/>
              <a:t> the new attacking power of the frequency and deep learning based power analysis</a:t>
            </a:r>
            <a:endParaRPr kumimoji="1" lang="en-US" altLang="zh-CN" dirty="0"/>
          </a:p>
          <a:p>
            <a:r>
              <a:rPr kumimoji="1" lang="en" altLang="zh-CN" dirty="0"/>
              <a:t>F</a:t>
            </a:r>
            <a:r>
              <a:rPr kumimoji="1" lang="en-US" altLang="zh-CN" dirty="0" err="1"/>
              <a:t>uture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Direction:</a:t>
            </a:r>
          </a:p>
          <a:p>
            <a:pPr lvl="1"/>
            <a:r>
              <a:rPr kumimoji="1" lang="en-US" altLang="zh-CN" dirty="0"/>
              <a:t>Combining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multiple</a:t>
            </a:r>
            <a:r>
              <a:rPr kumimoji="1" lang="zh-CN" altLang="en-US" dirty="0"/>
              <a:t> </a:t>
            </a:r>
            <a:r>
              <a:rPr kumimoji="1" lang="en-US" altLang="zh-CN" dirty="0"/>
              <a:t>devices</a:t>
            </a:r>
            <a:r>
              <a:rPr kumimoji="1" lang="zh-CN" altLang="en-US" dirty="0"/>
              <a:t> </a:t>
            </a:r>
            <a:r>
              <a:rPr kumimoji="1" lang="en-US" altLang="zh-CN" dirty="0"/>
              <a:t>for</a:t>
            </a:r>
            <a:r>
              <a:rPr kumimoji="1" lang="zh-CN" altLang="en-US" dirty="0"/>
              <a:t> </a:t>
            </a:r>
            <a:r>
              <a:rPr kumimoji="1" lang="en-US" altLang="zh-CN" dirty="0"/>
              <a:t>model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training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in</a:t>
            </a:r>
            <a:r>
              <a:rPr kumimoji="1" lang="zh-CN" altLang="en-US" dirty="0"/>
              <a:t> </a:t>
            </a:r>
            <a:r>
              <a:rPr kumimoji="1" lang="en-US" altLang="zh-CN" dirty="0"/>
              <a:t>profiling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phase</a:t>
            </a:r>
          </a:p>
          <a:p>
            <a:pPr lvl="1"/>
            <a:r>
              <a:rPr kumimoji="1" lang="en-US" altLang="zh-CN" dirty="0"/>
              <a:t>Using</a:t>
            </a:r>
            <a:r>
              <a:rPr kumimoji="1" lang="zh-CN" altLang="en-US" dirty="0"/>
              <a:t> </a:t>
            </a:r>
            <a:r>
              <a:rPr kumimoji="1" lang="en-US" altLang="zh-CN" dirty="0"/>
              <a:t>more</a:t>
            </a:r>
            <a:r>
              <a:rPr kumimoji="1" lang="zh-CN" altLang="en-US" dirty="0"/>
              <a:t> </a:t>
            </a:r>
            <a:r>
              <a:rPr kumimoji="1" lang="en-US" altLang="zh-CN" dirty="0"/>
              <a:t>robust</a:t>
            </a:r>
            <a:r>
              <a:rPr kumimoji="1" lang="zh-CN" altLang="en-US" dirty="0"/>
              <a:t> </a:t>
            </a:r>
            <a:r>
              <a:rPr kumimoji="1" lang="en-US" altLang="zh-CN" dirty="0"/>
              <a:t>feature</a:t>
            </a:r>
            <a:r>
              <a:rPr kumimoji="1" lang="zh-CN" altLang="en-US" dirty="0"/>
              <a:t> </a:t>
            </a:r>
            <a:r>
              <a:rPr kumimoji="1" lang="en-US" altLang="zh-CN" dirty="0"/>
              <a:t>expressions</a:t>
            </a:r>
            <a:r>
              <a:rPr kumimoji="1" lang="zh-CN" altLang="en-US" dirty="0"/>
              <a:t> </a:t>
            </a:r>
            <a:r>
              <a:rPr kumimoji="1" lang="en-US" altLang="zh-CN" dirty="0"/>
              <a:t>such</a:t>
            </a:r>
            <a:r>
              <a:rPr kumimoji="1" lang="zh-CN" altLang="en-US" dirty="0"/>
              <a:t> </a:t>
            </a:r>
            <a:r>
              <a:rPr kumimoji="1" lang="en-US" altLang="zh-CN" dirty="0"/>
              <a:t>as</a:t>
            </a:r>
            <a:r>
              <a:rPr kumimoji="1" lang="zh-CN" altLang="en-US" dirty="0"/>
              <a:t> </a:t>
            </a:r>
            <a:r>
              <a:rPr kumimoji="1" lang="en" altLang="zh-CN" dirty="0"/>
              <a:t>Wavelet coefficient</a:t>
            </a:r>
          </a:p>
          <a:p>
            <a:pPr lvl="1"/>
            <a:r>
              <a:rPr kumimoji="1" lang="en" altLang="zh-CN" dirty="0"/>
              <a:t>App</a:t>
            </a:r>
            <a:r>
              <a:rPr kumimoji="1" lang="en-US" altLang="zh-CN" dirty="0" err="1"/>
              <a:t>lication</a:t>
            </a:r>
            <a:r>
              <a:rPr kumimoji="1" lang="zh-CN" altLang="en-US" dirty="0"/>
              <a:t> </a:t>
            </a:r>
            <a:r>
              <a:rPr kumimoji="1" lang="en-US" altLang="zh-CN" dirty="0"/>
              <a:t>to</a:t>
            </a:r>
            <a:r>
              <a:rPr kumimoji="1" lang="zh-CN" altLang="en-US" dirty="0"/>
              <a:t> </a:t>
            </a:r>
            <a:r>
              <a:rPr kumimoji="1" lang="en" altLang="zh-CN" dirty="0"/>
              <a:t>algorithm</a:t>
            </a:r>
            <a:r>
              <a:rPr kumimoji="1" lang="zh-CN" altLang="en-US" dirty="0"/>
              <a:t> </a:t>
            </a:r>
            <a:r>
              <a:rPr kumimoji="1" lang="en-US" altLang="zh-CN" dirty="0"/>
              <a:t>with</a:t>
            </a:r>
            <a:r>
              <a:rPr kumimoji="1" lang="zh-CN" altLang="en-US" dirty="0"/>
              <a:t> </a:t>
            </a:r>
            <a:r>
              <a:rPr kumimoji="1" lang="en-US" altLang="zh-CN" dirty="0"/>
              <a:t>defense</a:t>
            </a:r>
            <a:endParaRPr kumimoji="1" lang="zh-CN" alt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49715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DAC2020">
  <a:themeElements>
    <a:clrScheme name="Orange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C529A4D857314092F8987294A43FD3" ma:contentTypeVersion="0" ma:contentTypeDescription="Create a new document." ma:contentTypeScope="" ma:versionID="b3a40a446e339e50bd650e277a113f3f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91CAD78-C6F6-407D-A9D5-329355F07703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171F2A1-2ACF-4A95-B48F-47B38B7131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1A855BF4-2A99-441B-9566-850307E4F0A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1543</Words>
  <Application>Microsoft Macintosh PowerPoint</Application>
  <PresentationFormat>宽屏</PresentationFormat>
  <Paragraphs>294</Paragraphs>
  <Slides>26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等线</vt:lpstr>
      <vt:lpstr>等线 Light</vt:lpstr>
      <vt:lpstr>宋体</vt:lpstr>
      <vt:lpstr>ＭＳ Ｐゴシック</vt:lpstr>
      <vt:lpstr>Arial</vt:lpstr>
      <vt:lpstr>Calibri</vt:lpstr>
      <vt:lpstr>Calibri Light</vt:lpstr>
      <vt:lpstr>DAC2020</vt:lpstr>
      <vt:lpstr>From Homogeneous to Heterogeneous:  Leveraging Deep Learning based Power Analysis across Devices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Questions</vt:lpstr>
    </vt:vector>
  </TitlesOfParts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2011-11-23T07:37:04Z</dcterms:created>
  <dcterms:modified xsi:type="dcterms:W3CDTF">2020-06-26T12:11:05Z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0x0101004AC529A4D857314092F8987294A43FD3</vt:lpwstr>
  </property>
</Properties>
</file>